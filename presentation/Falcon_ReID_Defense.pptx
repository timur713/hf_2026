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2" r:id="rId10"/>
    <p:sldId id="263" r:id="rId11"/>
    <p:sldId id="264" r:id="rId12"/>
    <p:sldId id="265" r:id="rId13"/>
    <p:sldId id="266" r:id="rId14"/>
    <p:sldId id="267" r:id="rId9"/>
    <p:sldId id="268" r:id="rId8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00837621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Измерения</a:t>
            </a:r>
          </a:p>
          <a:p/>
          <a:p>
            <a:r>
              <a:t>Качество — 0.852541 mAP@10, CandidateScore — 0.960470. Это matched C4 replay двух OOF-фолдов, независимо повторённый треком B, не результат закрытого теста и не полный full-frame Docker quality. Скорость измерена непосредственно на RTX A5000 с R535 и 8 vCPU: задержка batch1 24.884 мс, пропускная способность 102.674 FPS. Время включает чтение JPEG, decode, crop, preprocessing, forward и L2; поиск и verifier вне C5-таймера. Throughput получен при batch32, задержка — p50 batch1, поэтому он не равен обратной задержке batch1. Все веса занимают 788 647 632 байта. Четыре полных запуска дали byte-identical outputs. На слайде mAP и CandidateScore округлены до трёх знаков. Гигабайт — 10^9 байт, общий размер округлён до 0.789 ГБ.</a:t>
            </a:r>
          </a:p>
          <a:p/>
          <a:p>
            <a:r>
              <a:t>Источники: README.md §§Обучение/Скорость; docs/benchmarks/fusion_pair_exact_20260927/README.md; docs/benchmarks/fusion_a5000_20260927/README.md; docs/benchmarks/final_pair_acceptance_20260927/README.md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отличия</a:t>
            </a:r>
          </a:p>
          <a:p/>
          <a:p>
            <a:r>
              <a:t>Первый механизм — комплементарные эмбеддинги. Второй — отдельная парная проверка только короткого списка, без полного дорогого сравнения пар. Третий — калиброванный отказ. Средний выигрыш verifier на двух фолдах — 0.003212 mAP@10, при этом на fold1 прирост небольшой. Это отдельные механизмы с разными задачами, а не три названия одной модели.</a:t>
            </a:r>
          </a:p>
          <a:p/>
          <a:p>
            <a:r>
              <a:t>Источники: DECK_BRIEF.md; docs/benchmarks/fusion_pair_exact_20260927/README.md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</a:t>
            </a:r>
          </a:p>
          <a:p/>
          <a:p>
            <a:r>
              <a:t>Полный кадр декодируется один раз. Кроп проходит через DINOv2-B с входом 392 и CLIP-B с входом 288. Объединённый L2-признак имеет размерность 3072. Косинусный поиск и штраф за хабность используют статическую галерею. Verifier меняет только порядок исходной десятки. Confidence считается относительно gallery, и порог 6.6 разрешает ответ. Вес verifier — 0.15. Query не обогащается другими query и не расширяется gallery-признаками.</a:t>
            </a:r>
          </a:p>
          <a:p/>
          <a:p>
            <a:r>
              <a:t>Источники: README.md; assets/architecture_pipeline.svg; reid/infer/; reid/post/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Методология обучения</a:t>
            </a:r>
          </a:p>
          <a:p/>
          <a:p>
            <a:r>
              <a:t>Финальная пара DINOv2-B/14 392 и CLIP-B/16 288 выбрана по локальному качеству и бюджету A5000. Для отбора используются модели, обученные без проверочного фолда; финальные поставляемые веса дообучены на всех train-данных. Обучение: CE со сглаживанием меток и triplet loss, PK16×4 с разными камерами, BBox/color jitter и random erasing. Камера участвует в формировании обучающих групп, но не подаётся в модель на инференсе. Аугментации помогают учить признаки при изменениях условий; отдельного процента устойчивости по освещению или ракурсу здесь не заявляем.</a:t>
            </a:r>
          </a:p>
          <a:p/>
          <a:p>
            <a:r>
              <a:t>Источники: README.md, раздел Обучение; docs/benchmarks/fusion_pair_exact_20260927/README.md; docs/contracts.md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Проблема</a:t>
            </a:r>
          </a:p>
          <a:p/>
          <a:p>
            <a:r>
              <a:t>В локальном протоколе примерно каждый пятый запрос не имеет пары в галерее. На строке — машины автопарка с одинаковой оклейкой: синий кандидат — та же машина с той же камеры, красные — чужие экземпляры, зелёный — нужная машина с другой камеры. Для mAP синий кадр считается junk и исключается оценщиком. Эти примеры получены в исследовательском train-fold анализе, не являются выдачей финальной пары.</a:t>
            </a:r>
          </a:p>
          <a:p/>
          <a:p>
            <a:r>
              <a:t>Источники: assets/hard_cases_fleet_train_validation.jpg; ASSETS.md; docs/contracts.md C1/C2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Пользовательский путь</a:t>
            </a:r>
          </a:p>
          <a:p/>
          <a:p>
            <a:r>
              <a:t>Пользователь готовит папку изображений и CSV с рамками автомобилей, запускает Docker и получает три файла. Отказ представлен отсутствием строк запроса в candidates.csv; ranking сохраняется отдельно. Это текущий пакетный интерфейс. Веб-интерфейс и ручное подтверждение в приложении не реализованы и обозначены только как развитие.</a:t>
            </a:r>
          </a:p>
          <a:p/>
          <a:p>
            <a:r>
              <a:t>Источники: 7. Фалькон Тех.pdf, §11; README.md; docs/contracts.md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Открытие</a:t>
            </a:r>
          </a:p>
          <a:p/>
          <a:p>
            <a:r>
              <a:t>Представляем Falcon ReID: систему межкамерной идентификации автомобилей. Финальная конфигурация — DINO392 и CLIP288, парный verifier и порог отказа, выбранный по локальной оценке.</a:t>
            </a:r>
          </a:p>
          <a:p/>
          <a:p>
            <a:r>
              <a:t>Источники: DECK_BRIEF.md;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Команда и решение</a:t>
            </a:r>
          </a:p>
          <a:p/>
          <a:p>
            <a:r>
              <a:t>Обязательный слайд 8 шаблона. Краткая анкета участников компании DeepTech AI. Фото предоставлено пользователем: assets/team.png. Описание раскрывает сочетание двух поисковых моделей, отдельного сравнения пар и оценки уверенности относительно статической базы. Шкала уверенности использует среднее и стандартное отклонение сходства внутри базы; другие запросы не используются. Отказ применяется при недостаточном сигнале. Это описание механизма, а не гарантия отсутствия ложных совпадений. Числовое сравнение парной проверки и детали локальной оценки остаются в технических разделах презентации. Капитан указан только в предусмотренном шаблоном поле. Решение ищет конкретный автомобиль, а не просто похожую модель. Пользователь получает десятку кандидатов и отдельное решение о совпадении или отказе.</a:t>
            </a:r>
          </a:p>
          <a:p/>
          <a:p>
            <a:r>
              <a:t>Источники: Шаблон, слайды 3 и 8; пользовательское уточнение о компании; assets/team.png; docs/benchmarks/fusion_pair_exact_20260927/README.md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Участники команды</a:t>
            </a:r>
          </a:p>
          <a:p/>
          <a:p>
            <a:r>
              <a:t>Обязательный слайд 9 шаблона: сохранены две исходные карточки без изменения координат; три лишние удалены. ФИО, роли, место учёбы и контакты обоих участников заполнены. Для связи указаны предоставленные Telegram-контакты. Телефоны не предоставлены и не выдуманы.</a:t>
            </a:r>
          </a:p>
          <a:p/>
          <a:p>
            <a:r>
              <a:t>Источники: Шаблон, слайды 3 и 9; DECK_BRIEF.md</a:t>
            </a:r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История и вызовы</a:t>
            </a:r>
          </a:p>
          <a:p/>
          <a:p>
            <a:r>
              <a:t>Обязательный слайд 10 шаблона. История компании: мы учимся в НИУ ВШЭ и вместе развиваем компанию DeepTech AI. Формулировка восстановлена по просьбе пользователя. На слайде два фактических исследовательских эпизода. В A-001/A-002 исходная DINOv2 предпочитала фон и сцену; дообучение на идентичностях с разными камерами уменьшало эту зависимость. В A-032 разморозка базовой сети парной модели приводила к одинаковым оценкам; рабочий рецепт использует замороженный DINOv2-S и обучаемый блок сравнения. Это история разработки, а не утверждение, что все ошибки окончательно устранены. DeepTech AI — компания по уточнению пользователя. Мотивация выбора задачи: интерес к компьютерному зрению и желание развивать это направление в компании; формулировка уточнена пользователем.</a:t>
            </a:r>
          </a:p>
          <a:p/>
          <a:p>
            <a:r>
              <a:t>Источники: Шаблон, слайд 10; пользовательское уточнение о компании; docs/findings.md §6; EXPERIMENTS.md A-001/A-002/A-032; README.md</a:t>
            </a:r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Техническая суть и развитие</a:t>
            </a:r>
          </a:p>
          <a:p/>
          <a:p>
            <a:r>
              <a:t>Обязательный слайд 11 шаблона. Правая колонка раскрывает применение и дальнейшее развитие, как требуется текстом исходного заполнителя. ANN проверен отдельно на синтетической базе; интерфейс оператора — план, не существующая функция. Уверенность не является вероятностью.</a:t>
            </a:r>
          </a:p>
          <a:p/>
          <a:p>
            <a:r>
              <a:t>Источники: Шаблон, слайд 11; README.md; docs/ann_scale.md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Воспроизводимость</a:t>
            </a:r>
          </a:p>
          <a:p/>
          <a:p>
            <a:r>
              <a:t>Решение запускается одной Docker Compose командой и пишет три обязательных файла. Интернет доступен при сборке, а runtime работает с network_mode: none. Код и все веса находятся внутри образа. В принятом image прошли 482 теста, ещё три host-Git проверки пропущены, выполнены smoke50 и C6. Четыре полных запуска сформировали одинаковые три файла. Это воспроизводимость одного принятого стека; побитовое равенство confidence между любыми batch shapes мы не заявляем.</a:t>
            </a:r>
          </a:p>
          <a:p/>
          <a:p>
            <a:r>
              <a:t>Источники: README.md; Dockerfile; docker-compose.yml; docs/benchmarks/final_pair_acceptance_20260927/README.md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Разбор ошибок</a:t>
            </a:r>
          </a:p>
          <a:p/>
          <a:p>
            <a:r>
              <a:t>В этом train-fold примере одна и та же машина с другой камеры может быть менее похожа, чем чужой автомобиль той же модели. Добавляются ночь, блики и перекрытия. Рамки: чёрная — query, синяя — junk, красная — чужая машина, зелёная — cross-camera positive. Парная модель повторно сравнивает входной снимок с каждым из десяти кандидатов и уточняет их порядок. Если оценка уверенности ниже порога, система отказывается от ответа. Это снижает риск ошибки, но не гарантирует правильность каждого принятого совпадения. Иллюстрация взята из исследовательского анализа и не выдаётся за статистику финальной пары.</a:t>
            </a:r>
          </a:p>
          <a:p/>
          <a:p>
            <a:r>
              <a:t>Источники: assets/hard_cases_general_train_validation.jpg; ASSETS.md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к работе у заказчика</a:t>
            </a:r>
          </a:p>
          <a:p/>
          <a:p>
            <a:r>
              <a:t>Готовое решение обрабатывает изображения офлайн и сохраняет три файла. Для эксплуатации предлагаем три конкретных шага. При росте базы подключить ANN: его преимущество уже измерено в отдельном синтетическом эксперименте, но подключение к финальной модели и качество на реальных данных ещё нужно проверить. Для новых камер собрать размеченную проверочную выборку заказчика, измерить качество и подобрать порог ответа. Для оператора создать экран сравнения исходного снимка с найденными автомобилями и подтверждения совпадений. Интерфейс сейчас не реализован.</a:t>
            </a:r>
          </a:p>
          <a:p/>
          <a:p>
            <a:r>
              <a:t>Источники: README.md; docs/ann_scale.md; DECK_BRIEF.md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A1. Качество и порог</a:t>
            </a:r>
          </a:p>
          <a:p/>
          <a:p>
            <a:r>
              <a:t>Числа получены на фиксированных train folds 0 и 1, эмбеддеры и verifier обучались без соответствующего фолда. Верхняя десятка совпадает с production-окном matched replay. Локальная метрика считается reid/eval/eval_local.py; независимый B replay воспроизвёл метрики. Вес verifier 0.15 выбран по среднему mAP. Порог 6.6 выбран по среднему CandidateScore и находится в устойчивой области 6.5–6.65. Числовая таблица verifier: без verifier среднее mAP 0.849329, с весом 0.15 — 0.852541; прирост 0.003212. На графике ось Y намеренно начинается с 0.954, её отметки показаны; график отражает небольшие различия. Калибровка и заявленные числа относятся к двум OOF-фолдам, это не независимый test порога. C4-cache/full-frame quality parity не подтверждена.</a:t>
            </a:r>
          </a:p>
          <a:p/>
          <a:p>
            <a:r>
              <a:t>Источники: docs/benchmarks/fusion_pair_exact_20260927/README.md; docs/benchmarks/final_pair_replay_b_20260927/README.md;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A2. Независимость</a:t>
            </a:r>
          </a:p>
          <a:p/>
          <a:p>
            <a:r>
              <a:t>На уровне алгоритма ответ — функция одного query и всей статической gallery. В замене соседей при фиксированном batch32 совпали даже эмбеддинги. В отдельной проверке batch1 против batched на 24 query top-10, кандидаты и отказы сохранились, однако confidence отличается до 0.000393. Strict numeric FAIL сохранён в отчёте; универсальное побитовое равенство между batch shapes не заявляется. Воспроизводимость четырёх одинаковых полных запусков — другая проверка.</a:t>
            </a:r>
          </a:p>
          <a:p/>
          <a:p>
            <a:r>
              <a:t>Источники: README.md; docs/benchmarks/final_pair_acceptance_20260927/README.md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A3. Масштабирование</a:t>
            </a:r>
          </a:p>
          <a:p/>
          <a:p>
            <a:r>
              <a:t>ANN протестирован в эксперименте A-047 от 23.09.2026; в сдаваемый пайплайн он не включён. Текущий поиск сравнивает запрос со всей небольшой базой. Исследовательский эксперимент выполнен на миллионе синтетических векторов из 1536 чисел, построенных из 8821 train-признака с шумом. IVF-Flat группирует базу в 4000 ячеек и при nprobe=8 ищет в восьми ближайших группах. Медиана 100 замеров одного запроса в одном потоке CPU: 421.18 мс для точного поиска, 2.75 мс для IVF-Flat; отношение 153.16, на слайде округлено до 153. Полнота@10 относительно точного поиска на 200 запросах равна 1.000: совпали наборы десяти соседей. Это не метрика распознавания автомобилей и не замер всего решения. Дополнительно IVF-SQ8 дал 2.73 мс при полноте 0.980 и уменьшении памяти примерно вчетверо. Для внедрения нужны реальная база, признаки финальной модели из 3072 чисел и проверка конечного качества с парной проверкой и порогом.</a:t>
            </a:r>
          </a:p>
          <a:p/>
          <a:p>
            <a:r>
              <a:t>Источники: docs/ann_scale.md; EXPERIMENTS.md, A-047; reid/post/search.py; README.md; команда: PYTHONPATH=. python scripts/analysis/ann_scale.py --size 1000000 (faiss-cpu==1.9.0)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16.09.2026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16.09.2026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16.09.2026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16.09.2026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16.09.2026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16.09.2026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16.09.2026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16.09.2026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16.09.2026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16.09.2026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16.09.2026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16.09.2026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16.09.2026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16.09.2026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16.09.2026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16.09.2026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16.09.2026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16.09.2026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16.09.2026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 wrap="square" lIns="406400" rIns="0" tIns="25400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4200" b="1">
                <a:solidFill>
                  <a:srgbClr val="FFFFFF"/>
                </a:solidFill>
                <a:latin typeface="Montserrat"/>
              </a:rPr>
              <a:t>FALCON ReID</a:t>
            </a:r>
            <a:endParaRPr lang="ru-RU" sz="4800"/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t" wrap="square" lIns="406400" rIns="0" tIns="0" bIns="0">
            <a:noAutofit/>
          </a:bodyPr>
          <a:lstStyle/>
          <a:p>
            <a:pPr indent="0" algn="l" mar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700" b="0">
                <a:solidFill>
                  <a:srgbClr val="FFFFFF"/>
                </a:solidFill>
                <a:latin typeface="Montserrat"/>
              </a:rPr>
              <a:t>Сервис формирования цифрового признака транспортного средства</a:t>
            </a:r>
            <a:endParaRPr lang="ru-RU"/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FFFFFF"/>
                </a:solidFill>
                <a:latin typeface="Montserrat"/>
              </a:rPr>
              <a:t>для сопоставления снимков одного автомобиля из разных локаций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FFFFFF"/>
                </a:solidFill>
                <a:latin typeface="Montserrat"/>
              </a:rPr>
              <a:t>без использования государственного номера</a:t>
            </a:r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091804845" name="Picture 1091804844" descr="falcon_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562247"/>
            <a:ext cx="4254500" cy="437605"/>
          </a:xfrm>
          <a:prstGeom prst="rect">
            <a:avLst/>
          </a:prstGeom>
        </p:spPr>
      </p:pic>
      <p:sp>
        <p:nvSpPr>
          <p:cNvPr id="1091804846" name="TextBox 1091804845"/>
          <p:cNvSpPr txBox="1"/>
          <p:nvPr/>
        </p:nvSpPr>
        <p:spPr>
          <a:xfrm>
            <a:off x="508000" y="1219200"/>
            <a:ext cx="46609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FFFFFF"/>
                </a:solidFill>
                <a:latin typeface="Montserrat"/>
              </a:rPr>
              <a:t>DeepTech AI · ЛЦТ 2026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FFFFFF"/>
                </a:solidFill>
                <a:latin typeface="Montserrat"/>
              </a:rPr>
              <a:t>Задача №7 «Фалькон Тех»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609484257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1600" b="1">
                <a:solidFill>
                  <a:srgbClr val="310F53"/>
                </a:solidFill>
                <a:latin typeface="Montserrat"/>
              </a:rPr>
              <a:t>Краткое описание решения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sz="1500" b="0">
                <a:solidFill>
                  <a:srgbClr val="1C1D22"/>
                </a:solidFill>
                <a:latin typeface="Montserrat"/>
              </a:rPr>
              <a:t>Сравниваем сходство пары с обычным уровнем</a:t>
            </a:r>
            <a:endParaRPr/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сходства снимков в базе. Это позволяет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отказаться, когда убедительного совпадения нет.</a:t>
            </a:r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  <a:defRPr/>
            </a:pPr>
            <a:r>
              <a:rPr sz="1500" b="0">
                <a:solidFill>
                  <a:srgbClr val="310F53"/>
                </a:solidFill>
                <a:latin typeface="Montserrat"/>
              </a:rPr>
              <a:t>DeepTech AI · 2 участника</a:t>
            </a:r>
            <a:endParaRPr/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500" b="0">
                <a:solidFill>
                  <a:srgbClr val="310F53"/>
                </a:solidFill>
                <a:latin typeface="Montserrat"/>
              </a:rPr>
              <a:t>Капитан: Исанбирдин Тимур Рустамович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500" b="0">
                <a:solidFill>
                  <a:srgbClr val="310F53"/>
                </a:solidFill>
                <a:latin typeface="Montserrat"/>
              </a:rPr>
              <a:t>ML Engineers · НИУ ВШЭ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500" b="0">
                <a:solidFill>
                  <a:srgbClr val="310F53"/>
                </a:solidFill>
                <a:latin typeface="Montserrat"/>
              </a:rPr>
              <a:t>Data Science и Бизнес-информатика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500" b="0">
                <a:solidFill>
                  <a:srgbClr val="310F53"/>
                </a:solidFill>
                <a:latin typeface="Montserrat"/>
              </a:rPr>
              <a:t>Развиваем компанию DeepTech AI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500" b="0">
                <a:solidFill>
                  <a:srgbClr val="310F53"/>
                </a:solidFill>
                <a:latin typeface="Montserrat"/>
              </a:rPr>
              <a:t>Москва</a:t>
            </a:r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1700" b="1">
                <a:solidFill>
                  <a:srgbClr val="310F53"/>
                </a:solidFill>
                <a:latin typeface="Montserrat"/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2600" b="1">
                <a:solidFill>
                  <a:srgbClr val="310F53"/>
                </a:solidFill>
                <a:latin typeface="Montserrat"/>
              </a:rPr>
              <a:t>Команда</a:t>
            </a:r>
            <a:endParaRPr lang="ru-RU" sz="2400">
              <a:solidFill>
                <a:schemeClr val="accent5"/>
              </a:solidFill>
              <a:latin typeface="Montserrat"/>
            </a:endParaRP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600" b="1">
                <a:solidFill>
                  <a:srgbClr val="310F53"/>
                </a:solidFill>
                <a:latin typeface="Montserrat"/>
              </a:rPr>
              <a:t>и решение</a:t>
            </a: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1600" b="1">
                <a:solidFill>
                  <a:srgbClr val="310F53"/>
                </a:solidFill>
                <a:latin typeface="Montserrat"/>
              </a:rPr>
              <a:t>Уникальность решения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sz="1500" b="0">
                <a:solidFill>
                  <a:srgbClr val="1C1D22"/>
                </a:solidFill>
                <a:latin typeface="Montserrat"/>
              </a:rPr>
              <a:t>DINO и CLIP дополняют друг друга в поиске.</a:t>
            </a:r>
            <a:endParaRPr/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Отдельная модель заново оценивает пары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машин одной модели, цвета и оклейки.</a:t>
            </a:r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wrap="square" lIns="0" rIns="0" tIns="0" bIns="0" anchor="t">
            <a:noAutofit/>
          </a:bodyPr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1100" b="0">
                <a:solidFill>
                  <a:srgbClr val="310F53"/>
                </a:solidFill>
                <a:latin typeface="Montserrat"/>
              </a:rPr>
              <a:t>02</a:t>
            </a:r>
            <a:endParaRPr lang="ru-RU" sz="1200">
              <a:solidFill>
                <a:schemeClr val="accent5"/>
              </a:solidFill>
            </a:endParaRPr>
          </a:p>
        </p:txBody>
      </p:sp>
      <p:pic>
        <p:nvPicPr>
          <p:cNvPr id="2108767592" name="Picture 2108767591" descr="t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11" y="335280"/>
            <a:ext cx="4684656" cy="2636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  <a:defRPr/>
            </a:pPr>
            <a:r>
              <a:rPr sz="1200" b="0">
                <a:solidFill>
                  <a:srgbClr val="310F53"/>
                </a:solidFill>
                <a:latin typeface="Montserrat"/>
              </a:rPr>
              <a:t>ML Engineer</a:t>
            </a:r>
            <a:endParaRPr/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0">
                <a:solidFill>
                  <a:srgbClr val="310F53"/>
                </a:solidFill>
                <a:latin typeface="Montserrat"/>
              </a:rPr>
              <a:t>@Timurisan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0">
                <a:solidFill>
                  <a:srgbClr val="310F53"/>
                </a:solidFill>
                <a:latin typeface="Montserrat"/>
              </a:rPr>
              <a:t>НИУ ВШЭ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0">
                <a:solidFill>
                  <a:srgbClr val="310F53"/>
                </a:solidFill>
                <a:latin typeface="Montserrat"/>
              </a:rPr>
              <a:t>Data Science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0">
                <a:solidFill>
                  <a:srgbClr val="310F53"/>
                </a:solidFill>
                <a:latin typeface="Montserrat"/>
              </a:rPr>
              <a:t>Москва</a:t>
            </a: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320" b="1">
                <a:solidFill>
                  <a:srgbClr val="310F53"/>
                </a:solidFill>
                <a:latin typeface="Montserrat"/>
              </a:rPr>
              <a:t>Исанбирдин</a:t>
            </a:r>
            <a:endParaRPr/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20" b="1">
                <a:solidFill>
                  <a:srgbClr val="310F53"/>
                </a:solidFill>
                <a:latin typeface="Montserrat"/>
              </a:rPr>
              <a:t>Тимур Рустамович</a:t>
            </a:r>
          </a:p>
        </p:txBody>
      </p:sp>
      <p:sp>
        <p:nvSpPr>
          <p:cNvPr id="651037677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99875170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  <a:defRPr/>
            </a:pPr>
            <a:r>
              <a:rPr sz="1200" b="0">
                <a:solidFill>
                  <a:srgbClr val="310F53"/>
                </a:solidFill>
                <a:latin typeface="Montserrat"/>
              </a:rPr>
              <a:t>ML Engineer</a:t>
            </a:r>
            <a:endParaRPr/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0">
                <a:solidFill>
                  <a:srgbClr val="310F53"/>
                </a:solidFill>
                <a:latin typeface="Montserrat"/>
              </a:rPr>
              <a:t>@cart_math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0">
                <a:solidFill>
                  <a:srgbClr val="310F53"/>
                </a:solidFill>
                <a:latin typeface="Montserrat"/>
              </a:rPr>
              <a:t>НИУ ВШЭ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0">
                <a:solidFill>
                  <a:srgbClr val="310F53"/>
                </a:solidFill>
                <a:latin typeface="Montserrat"/>
              </a:rPr>
              <a:t>Бизнес-информатика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0">
                <a:solidFill>
                  <a:srgbClr val="310F53"/>
                </a:solidFill>
                <a:latin typeface="Montserrat"/>
              </a:rPr>
              <a:t>Москва</a:t>
            </a:r>
          </a:p>
        </p:txBody>
      </p:sp>
      <p:sp>
        <p:nvSpPr>
          <p:cNvPr id="1054387886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320" b="1">
                <a:solidFill>
                  <a:srgbClr val="310F53"/>
                </a:solidFill>
                <a:latin typeface="Montserrat"/>
              </a:rPr>
              <a:t>Дармограй Макар</a:t>
            </a:r>
            <a:endParaRPr/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20" b="1">
                <a:solidFill>
                  <a:srgbClr val="310F53"/>
                </a:solidFill>
                <a:latin typeface="Montserrat"/>
              </a:rPr>
              <a:t>Хаетуллович</a:t>
            </a: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1100" b="0">
                <a:solidFill>
                  <a:srgbClr val="FFFFFF"/>
                </a:solidFill>
                <a:latin typeface="Montserrat"/>
              </a:rPr>
              <a:t>03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1900" b="1">
                <a:solidFill>
                  <a:srgbClr val="FFFFFF"/>
                </a:solidFill>
                <a:latin typeface="Montserrat"/>
              </a:rPr>
              <a:t>КОМАНДА DEEPTECH AI</a:t>
            </a:r>
            <a:endParaRPr lang="ru-RU">
              <a:latin typeface="Montserrat"/>
            </a:endParaRPr>
          </a:p>
        </p:txBody>
      </p:sp>
      <p:pic>
        <p:nvPicPr>
          <p:cNvPr id="1919445993" name="Picture 191944599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6467" y="1826554"/>
            <a:ext cx="1722566" cy="1542401"/>
          </a:xfrm>
          <a:prstGeom prst="rect">
            <a:avLst/>
          </a:prstGeom>
        </p:spPr>
      </p:pic>
      <p:pic>
        <p:nvPicPr>
          <p:cNvPr id="1919445994" name="Picture 191944599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208" y="1809238"/>
            <a:ext cx="1722567" cy="1559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1100" b="0">
                <a:solidFill>
                  <a:srgbClr val="310F53"/>
                </a:solidFill>
                <a:latin typeface="Montserrat"/>
              </a:rPr>
              <a:t>04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1900" b="1">
                <a:solidFill>
                  <a:srgbClr val="FFFFFF"/>
                </a:solidFill>
                <a:latin typeface="Montserrat"/>
              </a:rPr>
              <a:t>О КОМПАНИИ И РАБОТЕ</a:t>
            </a: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 wrap="square" lIns="0" rIns="0" t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sz="1500" b="0">
                <a:solidFill>
                  <a:srgbClr val="1C1D22"/>
                </a:solidFill>
                <a:latin typeface="Montserrat"/>
              </a:rPr>
              <a:t>Мы учимся в НИУ ВШЭ и вместе</a:t>
            </a:r>
            <a:endParaRPr/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развиваем компанию DeepTech AI.</a:t>
            </a:r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1500" b="1">
                <a:solidFill>
                  <a:srgbClr val="310F53"/>
                </a:solidFill>
                <a:latin typeface="Montserrat"/>
              </a:rPr>
              <a:t>Краткая история компании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sz="1500" b="0">
                <a:solidFill>
                  <a:srgbClr val="1C1D22"/>
                </a:solidFill>
                <a:latin typeface="Montserrat"/>
              </a:rPr>
              <a:t>Без дообучения модель выбирала похожий фон.</a:t>
            </a:r>
            <a:endParaRPr lang="en-US">
              <a:solidFill>
                <a:schemeClr val="tx1"/>
              </a:solidFill>
            </a:endParaRP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Обучали на снимках одной машины с разных камер.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Парная модель выдавала одинаковые оценки всем парам.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Зафиксировали базовую сеть и обучили блок сравнения.</a:t>
            </a: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1600" b="1">
                <a:solidFill>
                  <a:srgbClr val="310F53"/>
                </a:solidFill>
                <a:latin typeface="Montserrat"/>
              </a:rPr>
              <a:t>Сложности и принятые решения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sz="1400" b="0">
                <a:solidFill>
                  <a:srgbClr val="1C1D22"/>
                </a:solidFill>
                <a:latin typeface="Montserrat"/>
              </a:rPr>
              <a:t>Нам интересно компьютерное зрение. Эта задача —</a:t>
            </a:r>
            <a:endParaRPr/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возможность углубиться в поиск по изображениям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и развивать это направление в DeepTech AI.</a:t>
            </a:r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1600" b="1">
                <a:solidFill>
                  <a:srgbClr val="310F53"/>
                </a:solidFill>
                <a:latin typeface="Montserrat"/>
              </a:rPr>
              <a:t>Почему выбрали эту задачу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1100" b="0">
                <a:solidFill>
                  <a:srgbClr val="FFFFFF"/>
                </a:solidFill>
                <a:latin typeface="Montserrat"/>
              </a:rPr>
              <a:t>05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/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/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1900" b="1">
                <a:solidFill>
                  <a:srgbClr val="FFFFFF"/>
                </a:solidFill>
                <a:latin typeface="Montserrat"/>
              </a:rPr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1800" b="1">
                <a:solidFill>
                  <a:srgbClr val="310F53"/>
                </a:solidFill>
                <a:latin typeface="Montserrat"/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sz="1800" b="1">
                <a:solidFill>
                  <a:srgbClr val="310F53"/>
                </a:solidFill>
                <a:latin typeface="Montserrat"/>
              </a:rPr>
              <a:t>Применение и развитие</a:t>
            </a:r>
            <a:endParaRPr/>
          </a:p>
        </p:txBody>
      </p:sp>
      <p:sp>
        <p:nvSpPr>
          <p:cNvPr id="2139836322" name="TextBox 2139836321"/>
          <p:cNvSpPr txBox="1"/>
          <p:nvPr/>
        </p:nvSpPr>
        <p:spPr>
          <a:xfrm>
            <a:off x="589280" y="2108200"/>
            <a:ext cx="3937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139836323" name="TextBox 2139836322"/>
          <p:cNvSpPr txBox="1"/>
          <p:nvPr/>
        </p:nvSpPr>
        <p:spPr>
          <a:xfrm>
            <a:off x="1071880" y="2095500"/>
            <a:ext cx="44069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310F53"/>
                </a:solidFill>
                <a:latin typeface="Montserrat"/>
              </a:rPr>
              <a:t>Признаки автомобиля</a:t>
            </a:r>
          </a:p>
        </p:txBody>
      </p:sp>
      <p:sp>
        <p:nvSpPr>
          <p:cNvPr id="2139836324" name="TextBox 2139836323"/>
          <p:cNvSpPr txBox="1"/>
          <p:nvPr/>
        </p:nvSpPr>
        <p:spPr>
          <a:xfrm>
            <a:off x="1071880" y="2451100"/>
            <a:ext cx="44069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1C1D22"/>
                </a:solidFill>
                <a:latin typeface="Montserrat"/>
              </a:rPr>
              <a:t>DINO + CLIP → вектор из 3072 чисел.</a:t>
            </a:r>
          </a:p>
        </p:txBody>
      </p:sp>
      <p:sp>
        <p:nvSpPr>
          <p:cNvPr id="2139836325" name="TextBox 2139836324"/>
          <p:cNvSpPr txBox="1"/>
          <p:nvPr/>
        </p:nvSpPr>
        <p:spPr>
          <a:xfrm>
            <a:off x="589280" y="3035300"/>
            <a:ext cx="3937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139836326" name="TextBox 2139836325"/>
          <p:cNvSpPr txBox="1"/>
          <p:nvPr/>
        </p:nvSpPr>
        <p:spPr>
          <a:xfrm>
            <a:off x="1071880" y="3022600"/>
            <a:ext cx="44069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310F53"/>
                </a:solidFill>
                <a:latin typeface="Montserrat"/>
              </a:rPr>
              <a:t>Поиск по базе</a:t>
            </a:r>
          </a:p>
        </p:txBody>
      </p:sp>
      <p:sp>
        <p:nvSpPr>
          <p:cNvPr id="2139836327" name="TextBox 2139836326"/>
          <p:cNvSpPr txBox="1"/>
          <p:nvPr/>
        </p:nvSpPr>
        <p:spPr>
          <a:xfrm>
            <a:off x="1071880" y="3378200"/>
            <a:ext cx="44069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1C1D22"/>
                </a:solidFill>
                <a:latin typeface="Montserrat"/>
              </a:rPr>
              <a:t>Находим 10 наиболее похожих снимков.</a:t>
            </a:r>
          </a:p>
        </p:txBody>
      </p:sp>
      <p:sp>
        <p:nvSpPr>
          <p:cNvPr id="2139836328" name="TextBox 2139836327"/>
          <p:cNvSpPr txBox="1"/>
          <p:nvPr/>
        </p:nvSpPr>
        <p:spPr>
          <a:xfrm>
            <a:off x="589280" y="3962400"/>
            <a:ext cx="3937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2139836329" name="TextBox 2139836328"/>
          <p:cNvSpPr txBox="1"/>
          <p:nvPr/>
        </p:nvSpPr>
        <p:spPr>
          <a:xfrm>
            <a:off x="1071880" y="3949700"/>
            <a:ext cx="44069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310F53"/>
                </a:solidFill>
                <a:latin typeface="Montserrat"/>
              </a:rPr>
              <a:t>Проверка совпадения</a:t>
            </a:r>
          </a:p>
        </p:txBody>
      </p:sp>
      <p:sp>
        <p:nvSpPr>
          <p:cNvPr id="2139836330" name="TextBox 2139836329"/>
          <p:cNvSpPr txBox="1"/>
          <p:nvPr/>
        </p:nvSpPr>
        <p:spPr>
          <a:xfrm>
            <a:off x="1071880" y="4305300"/>
            <a:ext cx="44069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1C1D22"/>
                </a:solidFill>
                <a:latin typeface="Montserrat"/>
              </a:rPr>
              <a:t>Повторно сравниваем пары.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1C1D22"/>
                </a:solidFill>
                <a:latin typeface="Montserrat"/>
              </a:rPr>
              <a:t>При уверенности ниже 6.6 — отказ.</a:t>
            </a:r>
          </a:p>
        </p:txBody>
      </p:sp>
      <p:sp>
        <p:nvSpPr>
          <p:cNvPr id="2139836331" name="TextBox 2139836330"/>
          <p:cNvSpPr txBox="1"/>
          <p:nvPr/>
        </p:nvSpPr>
        <p:spPr>
          <a:xfrm>
            <a:off x="589280" y="4889500"/>
            <a:ext cx="3937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2139836332" name="TextBox 2139836331"/>
          <p:cNvSpPr txBox="1"/>
          <p:nvPr/>
        </p:nvSpPr>
        <p:spPr>
          <a:xfrm>
            <a:off x="1071880" y="4876800"/>
            <a:ext cx="44069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310F53"/>
                </a:solidFill>
                <a:latin typeface="Montserrat"/>
              </a:rPr>
              <a:t>Готовый запуск</a:t>
            </a:r>
          </a:p>
        </p:txBody>
      </p:sp>
      <p:sp>
        <p:nvSpPr>
          <p:cNvPr id="2139836333" name="TextBox 2139836332"/>
          <p:cNvSpPr txBox="1"/>
          <p:nvPr/>
        </p:nvSpPr>
        <p:spPr>
          <a:xfrm>
            <a:off x="1071880" y="5232400"/>
            <a:ext cx="44069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1C1D22"/>
                </a:solidFill>
                <a:latin typeface="Montserrat"/>
              </a:rPr>
              <a:t>Офлайн в Docker. Результат — три файла.</a:t>
            </a:r>
          </a:p>
        </p:txBody>
      </p:sp>
      <p:sp>
        <p:nvSpPr>
          <p:cNvPr id="2139836334" name="TextBox 2139836333"/>
          <p:cNvSpPr txBox="1"/>
          <p:nvPr/>
        </p:nvSpPr>
        <p:spPr>
          <a:xfrm>
            <a:off x="6513830" y="2108200"/>
            <a:ext cx="3937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139836335" name="TextBox 2139836334"/>
          <p:cNvSpPr txBox="1"/>
          <p:nvPr/>
        </p:nvSpPr>
        <p:spPr>
          <a:xfrm>
            <a:off x="6996430" y="2095500"/>
            <a:ext cx="44069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310F53"/>
                </a:solidFill>
                <a:latin typeface="Montserrat"/>
              </a:rPr>
              <a:t>Применение</a:t>
            </a:r>
          </a:p>
        </p:txBody>
      </p:sp>
      <p:sp>
        <p:nvSpPr>
          <p:cNvPr id="2139836336" name="TextBox 2139836335"/>
          <p:cNvSpPr txBox="1"/>
          <p:nvPr/>
        </p:nvSpPr>
        <p:spPr>
          <a:xfrm>
            <a:off x="6996430" y="2451100"/>
            <a:ext cx="44069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1C1D22"/>
                </a:solidFill>
                <a:latin typeface="Montserrat"/>
              </a:rPr>
              <a:t>Поиск автомобиля в архиве разных камер.</a:t>
            </a:r>
          </a:p>
        </p:txBody>
      </p:sp>
      <p:sp>
        <p:nvSpPr>
          <p:cNvPr id="2139836337" name="TextBox 2139836336"/>
          <p:cNvSpPr txBox="1"/>
          <p:nvPr/>
        </p:nvSpPr>
        <p:spPr>
          <a:xfrm>
            <a:off x="6513830" y="3035300"/>
            <a:ext cx="3937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139836338" name="TextBox 2139836337"/>
          <p:cNvSpPr txBox="1"/>
          <p:nvPr/>
        </p:nvSpPr>
        <p:spPr>
          <a:xfrm>
            <a:off x="6996430" y="3022600"/>
            <a:ext cx="44069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310F53"/>
                </a:solidFill>
                <a:latin typeface="Montserrat"/>
              </a:rPr>
              <a:t>Рост базы</a:t>
            </a:r>
          </a:p>
        </p:txBody>
      </p:sp>
      <p:sp>
        <p:nvSpPr>
          <p:cNvPr id="2139836339" name="TextBox 2139836338"/>
          <p:cNvSpPr txBox="1"/>
          <p:nvPr/>
        </p:nvSpPr>
        <p:spPr>
          <a:xfrm>
            <a:off x="6996430" y="3378200"/>
            <a:ext cx="44069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1C1D22"/>
                </a:solidFill>
                <a:latin typeface="Montserrat"/>
              </a:rPr>
              <a:t>Подключить ANN для быстрого поиска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1C1D22"/>
                </a:solidFill>
                <a:latin typeface="Montserrat"/>
              </a:rPr>
              <a:t>по миллионам снимков.</a:t>
            </a:r>
          </a:p>
        </p:txBody>
      </p:sp>
      <p:sp>
        <p:nvSpPr>
          <p:cNvPr id="2139836340" name="TextBox 2139836339"/>
          <p:cNvSpPr txBox="1"/>
          <p:nvPr/>
        </p:nvSpPr>
        <p:spPr>
          <a:xfrm>
            <a:off x="6513830" y="3962400"/>
            <a:ext cx="3937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2139836341" name="TextBox 2139836340"/>
          <p:cNvSpPr txBox="1"/>
          <p:nvPr/>
        </p:nvSpPr>
        <p:spPr>
          <a:xfrm>
            <a:off x="6996430" y="3949700"/>
            <a:ext cx="44069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310F53"/>
                </a:solidFill>
                <a:latin typeface="Montserrat"/>
              </a:rPr>
              <a:t>Новые камеры</a:t>
            </a:r>
          </a:p>
        </p:txBody>
      </p:sp>
      <p:sp>
        <p:nvSpPr>
          <p:cNvPr id="2139836342" name="TextBox 2139836341"/>
          <p:cNvSpPr txBox="1"/>
          <p:nvPr/>
        </p:nvSpPr>
        <p:spPr>
          <a:xfrm>
            <a:off x="6996430" y="4305300"/>
            <a:ext cx="44069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1C1D22"/>
                </a:solidFill>
                <a:latin typeface="Montserrat"/>
              </a:rPr>
              <a:t>Проверить качество и подобрать порог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1C1D22"/>
                </a:solidFill>
                <a:latin typeface="Montserrat"/>
              </a:rPr>
              <a:t>на данных заказчика.</a:t>
            </a:r>
          </a:p>
        </p:txBody>
      </p:sp>
      <p:sp>
        <p:nvSpPr>
          <p:cNvPr id="2139836343" name="TextBox 2139836342"/>
          <p:cNvSpPr txBox="1"/>
          <p:nvPr/>
        </p:nvSpPr>
        <p:spPr>
          <a:xfrm>
            <a:off x="6513830" y="4889500"/>
            <a:ext cx="3937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2139836344" name="TextBox 2139836343"/>
          <p:cNvSpPr txBox="1"/>
          <p:nvPr/>
        </p:nvSpPr>
        <p:spPr>
          <a:xfrm>
            <a:off x="6996430" y="4876800"/>
            <a:ext cx="44069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310F53"/>
                </a:solidFill>
                <a:latin typeface="Montserrat"/>
              </a:rPr>
              <a:t>Работа оператора</a:t>
            </a:r>
          </a:p>
        </p:txBody>
      </p:sp>
      <p:sp>
        <p:nvSpPr>
          <p:cNvPr id="2139836345" name="TextBox 2139836344"/>
          <p:cNvSpPr txBox="1"/>
          <p:nvPr/>
        </p:nvSpPr>
        <p:spPr>
          <a:xfrm>
            <a:off x="6996430" y="5232400"/>
            <a:ext cx="44069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1C1D22"/>
                </a:solidFill>
                <a:latin typeface="Montserrat"/>
              </a:rPr>
              <a:t>Создать экран сравнения снимков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1C1D22"/>
                </a:solidFill>
                <a:latin typeface="Montserrat"/>
              </a:rPr>
              <a:t>и подтверждения совпадений.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241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1800" y="279400"/>
            <a:ext cx="965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FF0053"/>
                </a:solidFill>
                <a:latin typeface="Montserrat"/>
              </a:rPr>
              <a:t>ПОЛЬЗОВАТЕЛЬСКИЙ ПУТЬ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800" y="723900"/>
            <a:ext cx="113284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Как пользоваться решением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1800" y="6388100"/>
            <a:ext cx="11315700" cy="0"/>
          </a:xfrm>
          <a:prstGeom prst="line">
            <a:avLst/>
          </a:prstGeom>
          <a:ln w="6350">
            <a:solidFill>
              <a:srgbClr val="C9B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1800" y="6527800"/>
            <a:ext cx="571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C9BED5"/>
                </a:solidFill>
                <a:latin typeface="Montserrat"/>
              </a:rPr>
              <a:t>FALCON ReID  /  DeepTech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8700" y="6489700"/>
            <a:ext cx="5588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9BED5"/>
                </a:solidFill>
                <a:latin typeface="Montserrat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1511300"/>
            <a:ext cx="113030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0">
                <a:solidFill>
                  <a:srgbClr val="C9BED5"/>
                </a:solidFill>
                <a:latin typeface="Montserrat"/>
              </a:rPr>
              <a:t>Текущий способ работы — пакетная обработка через Docker.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500" y="2349500"/>
            <a:ext cx="3505200" cy="2844800"/>
          </a:xfrm>
          <a:prstGeom prst="roundRect">
            <a:avLst>
              <a:gd name="adj" fmla="val 8000"/>
            </a:avLst>
          </a:prstGeom>
          <a:solidFill>
            <a:srgbClr val="39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100" y="2552700"/>
            <a:ext cx="1270000" cy="584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2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3340100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FFFFFF"/>
                </a:solidFill>
                <a:latin typeface="Montserrat"/>
              </a:rPr>
              <a:t>Подготовить данные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4000500"/>
            <a:ext cx="3124200" cy="977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Снимки и два CSV: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запросы и база сравнения.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В CSV — рамки автомобилей.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349500"/>
            <a:ext cx="3505200" cy="2844800"/>
          </a:xfrm>
          <a:prstGeom prst="roundRect">
            <a:avLst>
              <a:gd name="adj" fmla="val 8000"/>
            </a:avLst>
          </a:prstGeom>
          <a:solidFill>
            <a:srgbClr val="39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552700"/>
            <a:ext cx="1270000" cy="584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2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40100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FFFFFF"/>
                </a:solidFill>
                <a:latin typeface="Montserrat"/>
              </a:rPr>
              <a:t>Запустить обработку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000500"/>
            <a:ext cx="3124200" cy="977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Одна команда Docker.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Модели обрабатывают снимки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и выполняют поиск по базе.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2300" y="2349500"/>
            <a:ext cx="3505200" cy="2844800"/>
          </a:xfrm>
          <a:prstGeom prst="roundRect">
            <a:avLst>
              <a:gd name="adj" fmla="val 8000"/>
            </a:avLst>
          </a:prstGeom>
          <a:solidFill>
            <a:srgbClr val="39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0900" y="2552700"/>
            <a:ext cx="1270000" cy="584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2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0900" y="3340100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FFFFFF"/>
                </a:solidFill>
                <a:latin typeface="Montserrat"/>
              </a:rPr>
              <a:t>Получить результат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0900" y="4000500"/>
            <a:ext cx="3124200" cy="977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Для каждого запроса: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10 кандидатов, совпадение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с уверенностью или отказ.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87800" y="3657600"/>
            <a:ext cx="292100" cy="0"/>
          </a:xfrm>
          <a:prstGeom prst="line">
            <a:avLst/>
          </a:prstGeom>
          <a:ln w="19050">
            <a:solidFill>
              <a:srgbClr val="8A83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86700" y="3657600"/>
            <a:ext cx="292100" cy="0"/>
          </a:xfrm>
          <a:prstGeom prst="line">
            <a:avLst/>
          </a:prstGeom>
          <a:ln w="19050">
            <a:solidFill>
              <a:srgbClr val="8A83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4500" y="5638800"/>
            <a:ext cx="28194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FFFFFF"/>
                </a:solidFill>
                <a:latin typeface="Montserrat"/>
              </a:rPr>
              <a:t>Файлы результата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2500" y="5600700"/>
            <a:ext cx="82550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00" b="0">
                <a:solidFill>
                  <a:srgbClr val="C9BED5"/>
                </a:solidFill>
                <a:latin typeface="Montserrat"/>
              </a:rPr>
              <a:t>submission.csv — список 10 кандидатов · embeddings.npy — векторы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00" b="0">
                <a:solidFill>
                  <a:srgbClr val="C9BED5"/>
                </a:solidFill>
                <a:latin typeface="Montserrat"/>
              </a:rPr>
              <a:t>candidates.csv — принятые совпадения и оценки уверенности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241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1800" y="279400"/>
            <a:ext cx="965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FF0053"/>
                </a:solidFill>
                <a:latin typeface="Montserrat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800" y="723900"/>
            <a:ext cx="113284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100" b="1">
                <a:solidFill>
                  <a:srgbClr val="FFFFFF"/>
                </a:solidFill>
                <a:latin typeface="Montserrat"/>
              </a:rPr>
              <a:t>Ближайший кандидат есть всегда.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100" b="1">
                <a:solidFill>
                  <a:srgbClr val="FFFFFF"/>
                </a:solidFill>
                <a:latin typeface="Montserrat"/>
              </a:rPr>
              <a:t>Верный — не всегда.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1800" y="6388100"/>
            <a:ext cx="11315700" cy="0"/>
          </a:xfrm>
          <a:prstGeom prst="line">
            <a:avLst/>
          </a:prstGeom>
          <a:ln w="6350">
            <a:solidFill>
              <a:srgbClr val="C9B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1800" y="6527800"/>
            <a:ext cx="571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C9BED5"/>
                </a:solidFill>
                <a:latin typeface="Montserrat"/>
              </a:rPr>
              <a:t>FALCON ReID  /  DeepTech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8700" y="6489700"/>
            <a:ext cx="5588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9BED5"/>
                </a:solidFill>
                <a:latin typeface="Montserrat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2146300"/>
            <a:ext cx="3327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FFFFFF"/>
                </a:solidFill>
                <a:latin typeface="Montserrat"/>
              </a:rPr>
              <a:t>~20% запросов без пары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2628900"/>
            <a:ext cx="33274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В локальной проверке для части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запросов нет совпадения в базе.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8800" y="2146300"/>
            <a:ext cx="3365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FFFFFF"/>
                </a:solidFill>
                <a:latin typeface="Montserrat"/>
              </a:rPr>
              <a:t>Визуальные двойники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800" y="2628900"/>
            <a:ext cx="33655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Модель, цвет и оклейка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совпадают у разных машин.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100" y="214630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FFFFFF"/>
                </a:solidFill>
                <a:latin typeface="Montserrat"/>
              </a:rPr>
              <a:t>Поиск без порога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100" y="2628900"/>
            <a:ext cx="34290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Вернёт ближайший снимок, даже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если нужной машины в базе нет.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800" y="3568700"/>
            <a:ext cx="113284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leet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628084"/>
            <a:ext cx="11201399" cy="935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449" y="34163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C9BED5"/>
                </a:solidFill>
                <a:latin typeface="Montserrat"/>
              </a:rPr>
              <a:t>Запрос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6550" y="34163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C9BED5"/>
                </a:solidFill>
                <a:latin typeface="Montserrat"/>
              </a:rPr>
              <a:t>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2140" y="34163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C9BED5"/>
                </a:solidFill>
                <a:latin typeface="Montserrat"/>
              </a:rPr>
              <a:t>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0632" y="34163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C9BED5"/>
                </a:solidFill>
                <a:latin typeface="Montserrat"/>
              </a:rPr>
              <a:t>#3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6239" y="34163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C9BED5"/>
                </a:solidFill>
                <a:latin typeface="Montserrat"/>
              </a:rPr>
              <a:t>#4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2510" y="34163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C9BED5"/>
                </a:solidFill>
                <a:latin typeface="Montserrat"/>
              </a:rPr>
              <a:t>#5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9122" y="34163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C9BED5"/>
                </a:solidFill>
                <a:latin typeface="Montserrat"/>
              </a:rPr>
              <a:t>#6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1819" y="34163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C9BED5"/>
                </a:solidFill>
                <a:latin typeface="Montserrat"/>
              </a:rPr>
              <a:t>#7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40610" y="34163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C9BED5"/>
                </a:solidFill>
                <a:latin typeface="Montserrat"/>
              </a:rPr>
              <a:t>#8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4500" y="4864100"/>
            <a:ext cx="127000" cy="127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700" y="4838700"/>
            <a:ext cx="939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C9BED5"/>
                </a:solidFill>
                <a:latin typeface="Montserrat"/>
              </a:rPr>
              <a:t>Запрос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52600" y="4864100"/>
            <a:ext cx="127000" cy="127000"/>
          </a:xfrm>
          <a:prstGeom prst="rect">
            <a:avLst/>
          </a:prstGeom>
          <a:solidFill>
            <a:srgbClr val="397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55800" y="4838700"/>
            <a:ext cx="3251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C9BED5"/>
                </a:solidFill>
                <a:latin typeface="Montserrat"/>
              </a:rPr>
              <a:t>Та же машина и камера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3400" y="4864100"/>
            <a:ext cx="127000" cy="127000"/>
          </a:xfrm>
          <a:prstGeom prst="rect">
            <a:avLst/>
          </a:prstGeom>
          <a:solidFill>
            <a:srgbClr val="D8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16600" y="4838700"/>
            <a:ext cx="2057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C9BED5"/>
                </a:solidFill>
                <a:latin typeface="Montserrat"/>
              </a:rPr>
              <a:t>Другая машина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66100" y="4864100"/>
            <a:ext cx="127000" cy="127000"/>
          </a:xfrm>
          <a:prstGeom prst="rect">
            <a:avLst/>
          </a:prstGeom>
          <a:solidFill>
            <a:srgbClr val="279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9300" y="4838700"/>
            <a:ext cx="3378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C9BED5"/>
                </a:solidFill>
                <a:latin typeface="Montserrat"/>
              </a:rPr>
              <a:t>Та же машина, другая камера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500" y="5168900"/>
            <a:ext cx="11226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C9BED5"/>
                </a:solidFill>
                <a:latin typeface="Montserrat"/>
              </a:rPr>
              <a:t>При оценке поиска снимки той же машины с той же камеры исключаются.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500" y="5727700"/>
            <a:ext cx="11176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 b="1">
                <a:solidFill>
                  <a:srgbClr val="FFFFFF"/>
                </a:solidFill>
                <a:latin typeface="Montserrat"/>
              </a:rPr>
              <a:t>Оценка уверенности позволяет отказаться от ответа.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1800" y="279400"/>
            <a:ext cx="965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FF0053"/>
                </a:solidFill>
                <a:latin typeface="Montserrat"/>
              </a:rPr>
              <a:t>МЕТОДОЛОГИЯ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800" y="723900"/>
            <a:ext cx="113284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200" b="1">
                <a:solidFill>
                  <a:srgbClr val="310F53"/>
                </a:solidFill>
                <a:latin typeface="Montserrat"/>
              </a:rPr>
              <a:t>Как обучали искать ту же машину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1800" y="6388100"/>
            <a:ext cx="11315700" cy="0"/>
          </a:xfrm>
          <a:prstGeom prst="line">
            <a:avLst/>
          </a:prstGeom>
          <a:ln w="6350">
            <a:solidFill>
              <a:srgbClr val="766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1800" y="6527800"/>
            <a:ext cx="571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76677E"/>
                </a:solidFill>
                <a:latin typeface="Montserrat"/>
              </a:rPr>
              <a:t>FALCON ReID  /  DeepTech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8700" y="6489700"/>
            <a:ext cx="5588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76677E"/>
                </a:solidFill>
                <a:latin typeface="Montserrat"/>
              </a:rPr>
              <a:t>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4500" y="1803400"/>
            <a:ext cx="11303000" cy="0"/>
          </a:xfrm>
          <a:prstGeom prst="line">
            <a:avLst/>
          </a:prstGeom>
          <a:ln w="10160">
            <a:solidFill>
              <a:srgbClr val="DE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44500" y="1993900"/>
            <a:ext cx="5715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700" y="1993900"/>
            <a:ext cx="31496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100" b="1">
                <a:solidFill>
                  <a:srgbClr val="310F53"/>
                </a:solidFill>
                <a:latin typeface="Montserrat"/>
              </a:rPr>
              <a:t>Выбор моделей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1993900"/>
            <a:ext cx="70993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Объединили DINOv2 и CLIP: разные представления снимка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дополняют друг друга. Состав проверяли по качеству и скорости.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4500" y="3187700"/>
            <a:ext cx="11303000" cy="0"/>
          </a:xfrm>
          <a:prstGeom prst="line">
            <a:avLst/>
          </a:prstGeom>
          <a:ln w="10160">
            <a:solidFill>
              <a:srgbClr val="DE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4500" y="3378200"/>
            <a:ext cx="5715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5700" y="3378200"/>
            <a:ext cx="31496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100" b="1">
                <a:solidFill>
                  <a:srgbClr val="310F53"/>
                </a:solidFill>
                <a:latin typeface="Montserrat"/>
              </a:rPr>
              <a:t>Смена ракурса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3378200"/>
            <a:ext cx="70993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В обучении сопоставляли снимки одной машины с разных камер.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Приближали их векторы и отдаляли векторы чужих машин.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4500" y="4572000"/>
            <a:ext cx="11303000" cy="0"/>
          </a:xfrm>
          <a:prstGeom prst="line">
            <a:avLst/>
          </a:prstGeom>
          <a:ln w="10160">
            <a:solidFill>
              <a:srgbClr val="DE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4500" y="4762500"/>
            <a:ext cx="5715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5700" y="4762500"/>
            <a:ext cx="31496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100" b="1">
                <a:solidFill>
                  <a:srgbClr val="310F53"/>
                </a:solidFill>
                <a:latin typeface="Montserrat"/>
              </a:rPr>
              <a:t>Свет и перекрытия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4762500"/>
            <a:ext cx="70993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Изменяли цвет и яркость, положение рамки автомобиля;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случайно закрывали части снимка при обучении.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500" y="6057900"/>
            <a:ext cx="11303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5566F"/>
                </a:solidFill>
                <a:latin typeface="Montserrat"/>
              </a:rPr>
              <a:t>Качество проверяли на автомобилях, исключённых из обучения соответствующих моделей.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1800" y="279400"/>
            <a:ext cx="965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FF0053"/>
                </a:solidFill>
                <a:latin typeface="Montserrat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800" y="723900"/>
            <a:ext cx="113284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200" b="1">
                <a:solidFill>
                  <a:srgbClr val="310F53"/>
                </a:solidFill>
                <a:latin typeface="Montserrat"/>
              </a:rPr>
              <a:t>Архитектура обработки запроса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1800" y="6388100"/>
            <a:ext cx="11315700" cy="0"/>
          </a:xfrm>
          <a:prstGeom prst="line">
            <a:avLst/>
          </a:prstGeom>
          <a:ln w="6350">
            <a:solidFill>
              <a:srgbClr val="766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1800" y="6527800"/>
            <a:ext cx="571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76677E"/>
                </a:solidFill>
                <a:latin typeface="Montserrat"/>
              </a:rPr>
              <a:t>FALCON ReID  /  DeepTech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8700" y="6489700"/>
            <a:ext cx="5588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76677E"/>
                </a:solidFill>
                <a:latin typeface="Montserrat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08500" y="1816100"/>
            <a:ext cx="7213600" cy="558800"/>
          </a:xfrm>
          <a:prstGeom prst="rect">
            <a:avLst/>
          </a:prstGeom>
          <a:solidFill>
            <a:srgbClr val="F6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1700" y="1968500"/>
            <a:ext cx="68072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310F53"/>
                </a:solidFill>
                <a:latin typeface="Montserrat"/>
              </a:rPr>
              <a:t>База изображений: заранее рассчитанные векторы и статистики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500" y="3124200"/>
            <a:ext cx="1765300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9AB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79700" y="2794000"/>
            <a:ext cx="1993900" cy="850900"/>
          </a:xfrm>
          <a:prstGeom prst="rect">
            <a:avLst/>
          </a:prstGeom>
          <a:solidFill>
            <a:srgbClr val="FFFFFF"/>
          </a:solidFill>
          <a:ln w="10160">
            <a:solidFill>
              <a:srgbClr val="B9AB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79700" y="3937000"/>
            <a:ext cx="1993900" cy="850900"/>
          </a:xfrm>
          <a:prstGeom prst="rect">
            <a:avLst/>
          </a:prstGeom>
          <a:solidFill>
            <a:srgbClr val="FFFFFF"/>
          </a:solidFill>
          <a:ln w="10160">
            <a:solidFill>
              <a:srgbClr val="B9AB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56200" y="3124200"/>
            <a:ext cx="1739900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9AB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78700" y="3124200"/>
            <a:ext cx="1866900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9AB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28200" y="3124200"/>
            <a:ext cx="2019300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9AB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3302000"/>
            <a:ext cx="14986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310F53"/>
                </a:solidFill>
                <a:latin typeface="Montserrat"/>
              </a:rPr>
              <a:t>Кадр + рамка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835400"/>
            <a:ext cx="1447800" cy="622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1C1D22"/>
                </a:solidFill>
                <a:latin typeface="Montserrat"/>
              </a:rPr>
              <a:t>Чтение кадра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1C1D22"/>
                </a:solidFill>
                <a:latin typeface="Montserrat"/>
              </a:rPr>
              <a:t>и обрезка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4800" y="2946400"/>
            <a:ext cx="1701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310F53"/>
                </a:solidFill>
                <a:latin typeface="Montserrat"/>
              </a:rPr>
              <a:t>DINOv2-B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4800" y="33020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5566F"/>
                </a:solidFill>
                <a:latin typeface="Montserrat"/>
              </a:rPr>
              <a:t>392 × 392 пикс.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4800" y="4089400"/>
            <a:ext cx="1676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310F53"/>
                </a:solidFill>
                <a:latin typeface="Montserrat"/>
              </a:rPr>
              <a:t>CLIP-B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4800" y="44450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5566F"/>
                </a:solidFill>
                <a:latin typeface="Montserrat"/>
              </a:rPr>
              <a:t>288 × 288 пикс.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0" y="3327400"/>
            <a:ext cx="14097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310F53"/>
                </a:solidFill>
                <a:latin typeface="Montserrat"/>
              </a:rPr>
              <a:t>Объединение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0"/>
            <a:ext cx="14478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Вектор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3072 чисел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6500" y="3327400"/>
            <a:ext cx="1524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1">
                <a:solidFill>
                  <a:srgbClr val="310F53"/>
                </a:solidFill>
                <a:latin typeface="Montserrat"/>
              </a:rPr>
              <a:t>Поиск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6500" y="3759200"/>
            <a:ext cx="15367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>
                <a:solidFill>
                  <a:srgbClr val="1C1D22"/>
                </a:solidFill>
                <a:latin typeface="Montserrat"/>
              </a:rPr>
              <a:t>Косинусное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>
                <a:solidFill>
                  <a:srgbClr val="1C1D22"/>
                </a:solidFill>
                <a:latin typeface="Montserrat"/>
              </a:rPr>
              <a:t>сходство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>
                <a:solidFill>
                  <a:srgbClr val="1C1D22"/>
                </a:solidFill>
                <a:latin typeface="Montserrat"/>
              </a:rPr>
              <a:t>с поправкой по базе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6000" y="3327400"/>
            <a:ext cx="165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310F53"/>
                </a:solidFill>
                <a:latin typeface="Montserrat"/>
              </a:rPr>
              <a:t>Проверка пар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6000" y="3784600"/>
            <a:ext cx="16764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</a:rPr>
              <a:t>Новый порядок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</a:rPr>
              <a:t>10 кандидатов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</a:rPr>
              <a:t>Вес сигнала: 0.15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22500" y="3822700"/>
            <a:ext cx="279400" cy="0"/>
          </a:xfrm>
          <a:prstGeom prst="line">
            <a:avLst/>
          </a:prstGeom>
          <a:ln w="19050">
            <a:solidFill>
              <a:srgbClr val="7461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01900" y="3213100"/>
            <a:ext cx="0" cy="1143000"/>
          </a:xfrm>
          <a:prstGeom prst="line">
            <a:avLst/>
          </a:prstGeom>
          <a:ln w="15240">
            <a:solidFill>
              <a:srgbClr val="7461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01900" y="3213100"/>
            <a:ext cx="177800" cy="0"/>
          </a:xfrm>
          <a:prstGeom prst="line">
            <a:avLst/>
          </a:prstGeom>
          <a:ln w="15240">
            <a:solidFill>
              <a:srgbClr val="7461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501900" y="4356100"/>
            <a:ext cx="177800" cy="0"/>
          </a:xfrm>
          <a:prstGeom prst="line">
            <a:avLst/>
          </a:prstGeom>
          <a:ln w="15240">
            <a:solidFill>
              <a:srgbClr val="7461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673600" y="3213100"/>
            <a:ext cx="228600" cy="0"/>
          </a:xfrm>
          <a:prstGeom prst="line">
            <a:avLst/>
          </a:prstGeom>
          <a:ln w="15240">
            <a:solidFill>
              <a:srgbClr val="7461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673600" y="4356100"/>
            <a:ext cx="228600" cy="0"/>
          </a:xfrm>
          <a:prstGeom prst="line">
            <a:avLst/>
          </a:prstGeom>
          <a:ln w="15240">
            <a:solidFill>
              <a:srgbClr val="7461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902200" y="3213100"/>
            <a:ext cx="0" cy="1143000"/>
          </a:xfrm>
          <a:prstGeom prst="line">
            <a:avLst/>
          </a:prstGeom>
          <a:ln w="15240">
            <a:solidFill>
              <a:srgbClr val="7461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902200" y="3822700"/>
            <a:ext cx="254000" cy="0"/>
          </a:xfrm>
          <a:prstGeom prst="line">
            <a:avLst/>
          </a:prstGeom>
          <a:ln w="19050">
            <a:solidFill>
              <a:srgbClr val="7461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96100" y="3822700"/>
            <a:ext cx="482600" cy="0"/>
          </a:xfrm>
          <a:prstGeom prst="line">
            <a:avLst/>
          </a:prstGeom>
          <a:ln w="19050">
            <a:solidFill>
              <a:srgbClr val="7461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245600" y="3822700"/>
            <a:ext cx="482600" cy="0"/>
          </a:xfrm>
          <a:prstGeom prst="line">
            <a:avLst/>
          </a:prstGeom>
          <a:ln w="19050">
            <a:solidFill>
              <a:srgbClr val="7461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318500" y="2374900"/>
            <a:ext cx="0" cy="749300"/>
          </a:xfrm>
          <a:prstGeom prst="line">
            <a:avLst/>
          </a:prstGeom>
          <a:ln w="19050">
            <a:solidFill>
              <a:srgbClr val="7461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731500" y="4648200"/>
            <a:ext cx="0" cy="520700"/>
          </a:xfrm>
          <a:prstGeom prst="line">
            <a:avLst/>
          </a:prstGeom>
          <a:ln w="15240">
            <a:solidFill>
              <a:srgbClr val="7461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731500" y="5168900"/>
            <a:ext cx="0" cy="190500"/>
          </a:xfrm>
          <a:prstGeom prst="line">
            <a:avLst/>
          </a:prstGeom>
          <a:ln w="19050">
            <a:solidFill>
              <a:srgbClr val="7461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143500" y="5359400"/>
            <a:ext cx="6604000" cy="698500"/>
          </a:xfrm>
          <a:prstGeom prst="rect">
            <a:avLst/>
          </a:prstGeom>
          <a:solidFill>
            <a:srgbClr val="F6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59400" y="5575300"/>
            <a:ext cx="25527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310F53"/>
                </a:solidFill>
                <a:latin typeface="Montserrat"/>
              </a:rPr>
              <a:t>Уверенность ≥ 6.6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9900" y="5575300"/>
            <a:ext cx="1079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>
                <a:solidFill>
                  <a:srgbClr val="310F53"/>
                </a:solidFill>
                <a:latin typeface="Montserrat"/>
              </a:rPr>
              <a:t>Ответ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80600" y="5575300"/>
            <a:ext cx="17272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0">
                <a:solidFill>
                  <a:srgbClr val="310F53"/>
                </a:solidFill>
                <a:latin typeface="Montserrat"/>
              </a:rPr>
              <a:t>Иначе: отказ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4500" y="5486400"/>
            <a:ext cx="43180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65566F"/>
                </a:solidFill>
                <a:latin typeface="Montserrat"/>
              </a:rPr>
              <a:t>Уверенность — сходство пары,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65566F"/>
                </a:solidFill>
                <a:latin typeface="Montserrat"/>
              </a:rPr>
              <a:t>нормированное по базе изображений.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241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1800" y="279400"/>
            <a:ext cx="965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FF0053"/>
                </a:solidFill>
                <a:latin typeface="Montserrat"/>
              </a:rPr>
              <a:t>МЕХАНИЗМЫ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800" y="723900"/>
            <a:ext cx="113284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900" b="1">
                <a:solidFill>
                  <a:srgbClr val="FFFFFF"/>
                </a:solidFill>
                <a:latin typeface="Montserrat"/>
              </a:rPr>
              <a:t>Три механизма повышения надёжности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1800" y="6388100"/>
            <a:ext cx="11315700" cy="0"/>
          </a:xfrm>
          <a:prstGeom prst="line">
            <a:avLst/>
          </a:prstGeom>
          <a:ln w="6350">
            <a:solidFill>
              <a:srgbClr val="C9B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1800" y="6527800"/>
            <a:ext cx="571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C9BED5"/>
                </a:solidFill>
                <a:latin typeface="Montserrat"/>
              </a:rPr>
              <a:t>FALCON ReID  /  DeepTech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8700" y="6489700"/>
            <a:ext cx="5588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9BED5"/>
                </a:solidFill>
                <a:latin typeface="Montserrat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800" y="2146300"/>
            <a:ext cx="3606800" cy="3632200"/>
          </a:xfrm>
          <a:prstGeom prst="roundRect">
            <a:avLst>
              <a:gd name="adj" fmla="val 8000"/>
            </a:avLst>
          </a:prstGeom>
          <a:solidFill>
            <a:srgbClr val="39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62200"/>
            <a:ext cx="1270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48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52800"/>
            <a:ext cx="31877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300" b="1">
                <a:solidFill>
                  <a:srgbClr val="FFFFFF"/>
                </a:solidFill>
                <a:latin typeface="Montserrat"/>
              </a:rPr>
              <a:t>Две модели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00500"/>
            <a:ext cx="3187700" cy="1168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DINO и CLIP выделяют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разные признаки автомобиля.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Объединение помогает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компенсировать ошибки.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5295900"/>
            <a:ext cx="3098800" cy="0"/>
          </a:xfrm>
          <a:prstGeom prst="line">
            <a:avLst/>
          </a:prstGeom>
          <a:ln w="8890">
            <a:solidFill>
              <a:srgbClr val="6B5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5473700"/>
            <a:ext cx="3200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FFFFF"/>
                </a:solidFill>
                <a:latin typeface="Montserrat"/>
              </a:rPr>
              <a:t>DINO + CLIP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600" y="2146300"/>
            <a:ext cx="3606800" cy="3632200"/>
          </a:xfrm>
          <a:prstGeom prst="roundRect">
            <a:avLst>
              <a:gd name="adj" fmla="val 8000"/>
            </a:avLst>
          </a:prstGeom>
          <a:solidFill>
            <a:srgbClr val="39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1270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48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3352800"/>
            <a:ext cx="31877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300" b="1">
                <a:solidFill>
                  <a:srgbClr val="FFFFFF"/>
                </a:solidFill>
                <a:latin typeface="Montserrat"/>
              </a:rPr>
              <a:t>Проверка пары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6600" y="4000500"/>
            <a:ext cx="3187700" cy="1168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Отдельная модель проверяет,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одна ли машина на двух фото.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Она меняет порядок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только 10 кандидатов.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46600" y="5295900"/>
            <a:ext cx="3098800" cy="0"/>
          </a:xfrm>
          <a:prstGeom prst="line">
            <a:avLst/>
          </a:prstGeom>
          <a:ln w="8890">
            <a:solidFill>
              <a:srgbClr val="6B5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46600" y="5473700"/>
            <a:ext cx="3200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FFFFF"/>
                </a:solidFill>
                <a:latin typeface="Montserrat"/>
              </a:rPr>
              <a:t>Только 10 кандидатов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3400" y="2146300"/>
            <a:ext cx="3606800" cy="3632200"/>
          </a:xfrm>
          <a:prstGeom prst="roundRect">
            <a:avLst>
              <a:gd name="adj" fmla="val 8000"/>
            </a:avLst>
          </a:prstGeom>
          <a:solidFill>
            <a:srgbClr val="39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7400" y="2362200"/>
            <a:ext cx="1270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48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7400" y="3352800"/>
            <a:ext cx="31877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300" b="1">
                <a:solidFill>
                  <a:srgbClr val="FFFFFF"/>
                </a:solidFill>
                <a:latin typeface="Montserrat"/>
              </a:rPr>
              <a:t>Порог отказа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7400" y="4000500"/>
            <a:ext cx="3187700" cy="1168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Если сходство недостаточно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выше фонового уровня базы,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система не подтверждает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совпадение.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07400" y="5295900"/>
            <a:ext cx="3098800" cy="0"/>
          </a:xfrm>
          <a:prstGeom prst="line">
            <a:avLst/>
          </a:prstGeom>
          <a:ln w="8890">
            <a:solidFill>
              <a:srgbClr val="6B5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07400" y="5473700"/>
            <a:ext cx="3200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FFFFF"/>
                </a:solidFill>
                <a:latin typeface="Montserrat"/>
              </a:rPr>
              <a:t>Порог уверенности: 6.6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241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1800" y="279400"/>
            <a:ext cx="965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FF0053"/>
                </a:solidFill>
                <a:latin typeface="Montserrat"/>
              </a:rPr>
              <a:t>ИЗМЕРЕНИЯ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800" y="723900"/>
            <a:ext cx="113284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300" b="1">
                <a:solidFill>
                  <a:srgbClr val="FFFFFF"/>
                </a:solidFill>
                <a:latin typeface="Montserrat"/>
              </a:rPr>
              <a:t>Результаты и ресурсы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1800" y="6388100"/>
            <a:ext cx="11315700" cy="0"/>
          </a:xfrm>
          <a:prstGeom prst="line">
            <a:avLst/>
          </a:prstGeom>
          <a:ln w="6350">
            <a:solidFill>
              <a:srgbClr val="C9B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1800" y="6527800"/>
            <a:ext cx="571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C9BED5"/>
                </a:solidFill>
                <a:latin typeface="Montserrat"/>
              </a:rPr>
              <a:t>FALCON ReID  /  DeepTech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8700" y="6489700"/>
            <a:ext cx="5588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9BED5"/>
                </a:solidFill>
                <a:latin typeface="Montserrat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500" y="1841500"/>
            <a:ext cx="5524500" cy="1790700"/>
          </a:xfrm>
          <a:prstGeom prst="roundRect">
            <a:avLst>
              <a:gd name="adj" fmla="val 8000"/>
            </a:avLst>
          </a:prstGeom>
          <a:solidFill>
            <a:srgbClr val="39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300" y="1841500"/>
            <a:ext cx="5537200" cy="1790700"/>
          </a:xfrm>
          <a:prstGeom prst="roundRect">
            <a:avLst>
              <a:gd name="adj" fmla="val 8000"/>
            </a:avLst>
          </a:prstGeom>
          <a:solidFill>
            <a:srgbClr val="39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500" y="4254500"/>
            <a:ext cx="5524500" cy="1879600"/>
          </a:xfrm>
          <a:prstGeom prst="roundRect">
            <a:avLst>
              <a:gd name="adj" fmla="val 8000"/>
            </a:avLst>
          </a:prstGeom>
          <a:solidFill>
            <a:srgbClr val="39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0300" y="4254500"/>
            <a:ext cx="5537200" cy="1879600"/>
          </a:xfrm>
          <a:prstGeom prst="roundRect">
            <a:avLst>
              <a:gd name="adj" fmla="val 8000"/>
            </a:avLst>
          </a:prstGeom>
          <a:solidFill>
            <a:srgbClr val="39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32000"/>
            <a:ext cx="4953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D6E4"/>
                </a:solidFill>
                <a:latin typeface="Montserrat"/>
              </a:rPr>
              <a:t>mAP@10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00" y="2438400"/>
            <a:ext cx="5016500" cy="736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4000" b="1">
                <a:solidFill>
                  <a:srgbClr val="FFFFFF"/>
                </a:solidFill>
                <a:latin typeface="Montserrat"/>
              </a:rPr>
              <a:t>0.853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76600"/>
            <a:ext cx="5016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C9BED5"/>
                </a:solidFill>
                <a:latin typeface="Montserrat"/>
              </a:rPr>
              <a:t>Качество порядка первых 10 результатов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300" y="2032000"/>
            <a:ext cx="50419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D6E4"/>
                </a:solidFill>
                <a:latin typeface="Montserrat"/>
              </a:rPr>
              <a:t>CandidateScore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2438400"/>
            <a:ext cx="5016500" cy="736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4000" b="1">
                <a:solidFill>
                  <a:srgbClr val="FFFFFF"/>
                </a:solidFill>
                <a:latin typeface="Montserrat"/>
              </a:rPr>
              <a:t>0.960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300" y="3276600"/>
            <a:ext cx="5016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C9BED5"/>
                </a:solidFill>
                <a:latin typeface="Montserrat"/>
              </a:rPr>
              <a:t>Общий балл за совпадения и отказы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500" y="3771900"/>
            <a:ext cx="11303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200" b="0">
                <a:solidFill>
                  <a:srgbClr val="C9BED5"/>
                </a:solidFill>
                <a:latin typeface="Montserrat"/>
              </a:rPr>
              <a:t>Проверка на двух группах автомобилей, не участвовавших в обучении.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200" b="0">
                <a:solidFill>
                  <a:srgbClr val="C9BED5"/>
                </a:solidFill>
                <a:latin typeface="Montserrat"/>
              </a:rPr>
              <a:t>Метрики рассчитаны по сохранённым векторам изображений.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" y="4445000"/>
            <a:ext cx="27305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FFFFFF"/>
                </a:solidFill>
                <a:latin typeface="Montserrat"/>
              </a:rPr>
              <a:t>24.884 мс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9800" y="4495800"/>
            <a:ext cx="24003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102.674 кадр/с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41900"/>
            <a:ext cx="2717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FFD6E4"/>
                </a:solidFill>
                <a:latin typeface="Montserrat"/>
              </a:rPr>
              <a:t>Медиана · 1 изображение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9800" y="5041900"/>
            <a:ext cx="23622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FFD6E4"/>
                </a:solidFill>
                <a:latin typeface="Montserrat"/>
              </a:rPr>
              <a:t>Пакеты по 32 снимка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5435600"/>
            <a:ext cx="5041900" cy="0"/>
          </a:xfrm>
          <a:prstGeom prst="line">
            <a:avLst/>
          </a:prstGeom>
          <a:ln w="7620">
            <a:solidFill>
              <a:srgbClr val="705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5588000"/>
            <a:ext cx="50165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C9BED5"/>
                </a:solidFill>
                <a:latin typeface="Montserrat"/>
              </a:rPr>
              <a:t>RTX A5000 · от чтения JPEG до вектора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C9BED5"/>
                </a:solidFill>
                <a:latin typeface="Montserrat"/>
              </a:rPr>
              <a:t>Без поиска по базе и проверки пар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8900" y="4432300"/>
            <a:ext cx="50165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0.789 ГБ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1600" y="5054600"/>
            <a:ext cx="50419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0">
                <a:solidFill>
                  <a:srgbClr val="C9BED5"/>
                </a:solidFill>
                <a:latin typeface="Montserrat"/>
              </a:rPr>
              <a:t>Файлы моделей · лимит 2 ГБ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64300" y="5651500"/>
            <a:ext cx="4991100" cy="101600"/>
          </a:xfrm>
          <a:prstGeom prst="rect">
            <a:avLst/>
          </a:prstGeom>
          <a:solidFill>
            <a:srgbClr val="614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64300" y="5651500"/>
            <a:ext cx="1968109" cy="1016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241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1800" y="279400"/>
            <a:ext cx="965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FF0053"/>
                </a:solidFill>
                <a:latin typeface="Montserrat"/>
              </a:rPr>
              <a:t>ИНЖЕНЕРИЯ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800" y="723900"/>
            <a:ext cx="113284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Запуск и воспроизводимость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1800" y="6388100"/>
            <a:ext cx="11315700" cy="0"/>
          </a:xfrm>
          <a:prstGeom prst="line">
            <a:avLst/>
          </a:prstGeom>
          <a:ln w="6350">
            <a:solidFill>
              <a:srgbClr val="C9B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1800" y="6527800"/>
            <a:ext cx="571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C9BED5"/>
                </a:solidFill>
                <a:latin typeface="Montserrat"/>
              </a:rPr>
              <a:t>FALCON ReID  /  DeepTech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8700" y="6489700"/>
            <a:ext cx="5588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9BED5"/>
                </a:solidFill>
                <a:latin typeface="Montserrat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800" y="2146300"/>
            <a:ext cx="5943600" cy="3594100"/>
          </a:xfrm>
          <a:prstGeom prst="roundRect">
            <a:avLst>
              <a:gd name="adj" fmla="val 8000"/>
            </a:avLst>
          </a:prstGeom>
          <a:solidFill>
            <a:srgbClr val="16101D"/>
          </a:solidFill>
          <a:ln w="10160">
            <a:solidFill>
              <a:srgbClr val="654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3100" y="2362200"/>
            <a:ext cx="88900" cy="889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9000" y="2362200"/>
            <a:ext cx="88900" cy="88900"/>
          </a:xfrm>
          <a:prstGeom prst="ellipse">
            <a:avLst/>
          </a:prstGeom>
          <a:solidFill>
            <a:srgbClr val="8A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4900" y="2362200"/>
            <a:ext cx="88900" cy="88900"/>
          </a:xfrm>
          <a:prstGeom prst="ellipse">
            <a:avLst/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57500"/>
            <a:ext cx="533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1">
                <a:solidFill>
                  <a:srgbClr val="FFFFFF"/>
                </a:solidFill>
                <a:latin typeface="Montserrat"/>
              </a:rPr>
              <a:t>$ docker compose run \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63900"/>
            <a:ext cx="53340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1">
                <a:solidFill>
                  <a:srgbClr val="FFFFFF"/>
                </a:solidFill>
                <a:latin typeface="Montserrat"/>
              </a:rPr>
              <a:t>  --build --rm reid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3924300"/>
            <a:ext cx="5422900" cy="0"/>
          </a:xfrm>
          <a:prstGeom prst="line">
            <a:avLst/>
          </a:prstGeom>
          <a:ln w="10160">
            <a:solidFill>
              <a:srgbClr val="5643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4178300"/>
            <a:ext cx="53467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0">
                <a:solidFill>
                  <a:srgbClr val="FFD6E4"/>
                </a:solidFill>
                <a:latin typeface="Montserrat"/>
              </a:rPr>
              <a:t>→ submission.csv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10100"/>
            <a:ext cx="53467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0">
                <a:solidFill>
                  <a:srgbClr val="FFD6E4"/>
                </a:solidFill>
                <a:latin typeface="Montserrat"/>
              </a:rPr>
              <a:t>→ embeddings.npy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41900"/>
            <a:ext cx="53467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0">
                <a:solidFill>
                  <a:srgbClr val="FFD6E4"/>
                </a:solidFill>
                <a:latin typeface="Montserrat"/>
              </a:rPr>
              <a:t>→ candidates.csv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5300" y="2171700"/>
            <a:ext cx="533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2200" y="2171700"/>
            <a:ext cx="43307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FFFFFF"/>
                </a:solidFill>
                <a:latin typeface="Montserrat"/>
              </a:rPr>
              <a:t>Код и модели в контейнере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2200" y="2590800"/>
            <a:ext cx="43307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C9BED5"/>
                </a:solidFill>
                <a:latin typeface="Montserrat"/>
              </a:rPr>
              <a:t>Дополнительная загрузка при запуске не нужна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5300" y="3111500"/>
            <a:ext cx="533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2200" y="3111500"/>
            <a:ext cx="43307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FFFFFF"/>
                </a:solidFill>
                <a:latin typeface="Montserrat"/>
              </a:rPr>
              <a:t>Офлайн-запуск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2200" y="3530600"/>
            <a:ext cx="43307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C9BED5"/>
                </a:solidFill>
                <a:latin typeface="Montserrat"/>
              </a:rPr>
              <a:t>Доступ к сети отключён в Docker Compose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5300" y="4051300"/>
            <a:ext cx="533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2200" y="4051300"/>
            <a:ext cx="43307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FFFFFF"/>
                </a:solidFill>
                <a:latin typeface="Montserrat"/>
              </a:rPr>
              <a:t>Зафиксированное окружение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2200" y="4470400"/>
            <a:ext cx="43307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C9BED5"/>
                </a:solidFill>
                <a:latin typeface="Montserrat"/>
              </a:rPr>
              <a:t>Версии пакетов и проверка целостности моделей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5300" y="4991100"/>
            <a:ext cx="533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2200" y="4991100"/>
            <a:ext cx="43307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FFFFFF"/>
                </a:solidFill>
                <a:latin typeface="Montserrat"/>
              </a:rPr>
              <a:t>Проверки внутри контейнера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2200" y="5410200"/>
            <a:ext cx="43307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C9BED5"/>
                </a:solidFill>
                <a:latin typeface="Montserrat"/>
              </a:rPr>
              <a:t>482 теста и прогон на 50 изображениях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6019800"/>
            <a:ext cx="112903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FFFFFF"/>
                </a:solidFill>
                <a:latin typeface="Montserrat"/>
              </a:rPr>
              <a:t>Четыре полных запуска дали идентичные выходные файлы.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1800" y="279400"/>
            <a:ext cx="965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FF0053"/>
                </a:solidFill>
                <a:latin typeface="Montserrat"/>
              </a:rPr>
              <a:t>РАЗБОР ОШИБОК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800" y="723900"/>
            <a:ext cx="113284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300" b="1">
                <a:solidFill>
                  <a:srgbClr val="310F53"/>
                </a:solidFill>
                <a:latin typeface="Montserrat"/>
              </a:rPr>
              <a:t>Где ошибается ReID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1800" y="6388100"/>
            <a:ext cx="11315700" cy="0"/>
          </a:xfrm>
          <a:prstGeom prst="line">
            <a:avLst/>
          </a:prstGeom>
          <a:ln w="6350">
            <a:solidFill>
              <a:srgbClr val="766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1800" y="6527800"/>
            <a:ext cx="571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76677E"/>
                </a:solidFill>
                <a:latin typeface="Montserrat"/>
              </a:rPr>
              <a:t>FALCON ReID  /  DeepTech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8700" y="6489700"/>
            <a:ext cx="5588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76677E"/>
                </a:solidFill>
                <a:latin typeface="Montserrat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1473200"/>
            <a:ext cx="11201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0">
                <a:solidFill>
                  <a:srgbClr val="310F53"/>
                </a:solidFill>
                <a:latin typeface="Montserrat"/>
              </a:rPr>
              <a:t>Похожий внешний вид не доказывает, что это тот же экземпляр.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800" y="2209800"/>
            <a:ext cx="11328400" cy="1320800"/>
          </a:xfrm>
          <a:prstGeom prst="roundRect">
            <a:avLst>
              <a:gd name="adj" fmla="val 8000"/>
            </a:avLst>
          </a:prstGeom>
          <a:solidFill>
            <a:srgbClr val="F6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eneral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606" y="2260600"/>
            <a:ext cx="9942786" cy="121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50340" y="2032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5566F"/>
                </a:solidFill>
                <a:latin typeface="Montserrat"/>
              </a:rPr>
              <a:t>Запрос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2541" y="2032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5566F"/>
                </a:solidFill>
                <a:latin typeface="Montserrat"/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5763" y="2032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5566F"/>
                </a:solidFill>
                <a:latin typeface="Montserrat"/>
              </a:rP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8086" y="2032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5566F"/>
                </a:solidFill>
                <a:latin typeface="Montserrat"/>
              </a:rPr>
              <a:t>#3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9206" y="2032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5566F"/>
                </a:solidFill>
                <a:latin typeface="Montserrat"/>
              </a:rPr>
              <a:t>#4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2660" y="2032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5566F"/>
                </a:solidFill>
                <a:latin typeface="Montserrat"/>
              </a:rPr>
              <a:t>#5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20171" y="2032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5566F"/>
                </a:solidFill>
                <a:latin typeface="Montserrat"/>
              </a:rPr>
              <a:t>#6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500" y="3733800"/>
            <a:ext cx="127000" cy="127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700" y="3708400"/>
            <a:ext cx="939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5F5367"/>
                </a:solidFill>
                <a:latin typeface="Montserrat"/>
              </a:rPr>
              <a:t>Запрос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52600" y="3733800"/>
            <a:ext cx="127000" cy="127000"/>
          </a:xfrm>
          <a:prstGeom prst="rect">
            <a:avLst/>
          </a:prstGeom>
          <a:solidFill>
            <a:srgbClr val="397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55800" y="3708400"/>
            <a:ext cx="3251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5F5367"/>
                </a:solidFill>
                <a:latin typeface="Montserrat"/>
              </a:rPr>
              <a:t>Та же машина и камера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13400" y="3733800"/>
            <a:ext cx="127000" cy="127000"/>
          </a:xfrm>
          <a:prstGeom prst="rect">
            <a:avLst/>
          </a:prstGeom>
          <a:solidFill>
            <a:srgbClr val="D8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6600" y="3708400"/>
            <a:ext cx="2057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5F5367"/>
                </a:solidFill>
                <a:latin typeface="Montserrat"/>
              </a:rPr>
              <a:t>Другая машина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66100" y="3733800"/>
            <a:ext cx="127000" cy="127000"/>
          </a:xfrm>
          <a:prstGeom prst="rect">
            <a:avLst/>
          </a:prstGeom>
          <a:solidFill>
            <a:srgbClr val="279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9300" y="3708400"/>
            <a:ext cx="3378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5F5367"/>
                </a:solidFill>
                <a:latin typeface="Montserrat"/>
              </a:rPr>
              <a:t>Та же машина, другая камера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500" y="4254500"/>
            <a:ext cx="5080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100" y="4229100"/>
            <a:ext cx="30607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310F53"/>
                </a:solidFill>
                <a:latin typeface="Montserrat"/>
              </a:rPr>
              <a:t>Модель и оклейка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100" y="4749800"/>
            <a:ext cx="3111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5566F"/>
                </a:solidFill>
                <a:latin typeface="Montserrat"/>
              </a:rPr>
              <a:t>Различия остаются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5566F"/>
                </a:solidFill>
                <a:latin typeface="Montserrat"/>
              </a:rPr>
              <a:t>в мелких деталях.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0700" y="4254500"/>
            <a:ext cx="5080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3300" y="4229100"/>
            <a:ext cx="30607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310F53"/>
                </a:solidFill>
                <a:latin typeface="Montserrat"/>
              </a:rPr>
              <a:t>Смена ракурса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3300" y="4749800"/>
            <a:ext cx="3111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5566F"/>
                </a:solidFill>
                <a:latin typeface="Montserrat"/>
              </a:rPr>
              <a:t>Спереди и сзади мало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5566F"/>
                </a:solidFill>
                <a:latin typeface="Montserrat"/>
              </a:rPr>
              <a:t>общих визуальных признаков.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2300" y="4254500"/>
            <a:ext cx="5080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4900" y="4229100"/>
            <a:ext cx="30607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310F53"/>
                </a:solidFill>
                <a:latin typeface="Montserrat"/>
              </a:rPr>
              <a:t>Ночь и перекрытия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24900" y="4749800"/>
            <a:ext cx="3111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5566F"/>
                </a:solidFill>
                <a:latin typeface="Montserrat"/>
              </a:rPr>
              <a:t>Цвет и небольшие детали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5566F"/>
                </a:solidFill>
                <a:latin typeface="Montserrat"/>
              </a:rPr>
              <a:t>становятся ненадёжными.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4500" y="5524500"/>
            <a:ext cx="11303000" cy="723900"/>
          </a:xfrm>
          <a:prstGeom prst="rect">
            <a:avLst/>
          </a:prstGeom>
          <a:solidFill>
            <a:srgbClr val="F6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400" y="5638800"/>
            <a:ext cx="33147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310F53"/>
                </a:solidFill>
                <a:latin typeface="Montserrat"/>
              </a:rPr>
              <a:t>Как снижаем риск ошибки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8300" y="5613400"/>
            <a:ext cx="73406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0">
                <a:solidFill>
                  <a:srgbClr val="310F53"/>
                </a:solidFill>
                <a:latin typeface="Montserrat"/>
              </a:rPr>
              <a:t>Повторно сравниваем снимок с 10 кандидатами.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0">
                <a:solidFill>
                  <a:srgbClr val="310F53"/>
                </a:solidFill>
                <a:latin typeface="Montserrat"/>
              </a:rPr>
              <a:t>Если уверенность ниже порога — не выдаём совпадение.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241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1800" y="279400"/>
            <a:ext cx="965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FF0053"/>
                </a:solidFill>
                <a:latin typeface="Montserrat"/>
              </a:rPr>
              <a:t>СЛЕДУЮЩИЕ ШАГИ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800" y="723900"/>
            <a:ext cx="113284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100" b="1">
                <a:solidFill>
                  <a:srgbClr val="FFFFFF"/>
                </a:solidFill>
                <a:latin typeface="Montserrat"/>
              </a:rPr>
              <a:t>Как перейти к работе у заказчика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1800" y="6388100"/>
            <a:ext cx="11315700" cy="0"/>
          </a:xfrm>
          <a:prstGeom prst="line">
            <a:avLst/>
          </a:prstGeom>
          <a:ln w="6350">
            <a:solidFill>
              <a:srgbClr val="C9B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1800" y="6527800"/>
            <a:ext cx="571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C9BED5"/>
                </a:solidFill>
                <a:latin typeface="Montserrat"/>
              </a:rPr>
              <a:t>FALCON ReID  /  DeepTech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8700" y="6489700"/>
            <a:ext cx="5588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9BED5"/>
                </a:solidFill>
                <a:latin typeface="Montserrat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1536700"/>
            <a:ext cx="11303000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C9BED5"/>
                </a:solidFill>
                <a:latin typeface="Montserrat"/>
              </a:rPr>
              <a:t>Сейчас: обработка снимков и выгрузка результатов в файлы.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4500" y="2184400"/>
            <a:ext cx="11303000" cy="0"/>
          </a:xfrm>
          <a:prstGeom prst="line">
            <a:avLst/>
          </a:prstGeom>
          <a:ln w="8890">
            <a:solidFill>
              <a:srgbClr val="6F56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4500" y="2374900"/>
            <a:ext cx="5334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2374900"/>
            <a:ext cx="32893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Миллионы снимков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в базе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1700" y="2400300"/>
            <a:ext cx="6985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0">
                <a:solidFill>
                  <a:srgbClr val="C9BED5"/>
                </a:solidFill>
                <a:latin typeface="Montserrat"/>
              </a:rPr>
              <a:t>Подключить ANN — быстрый поиск по большой базе.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0">
                <a:solidFill>
                  <a:srgbClr val="C9BED5"/>
                </a:solidFill>
                <a:latin typeface="Montserrat"/>
              </a:rPr>
              <a:t>Проверить на реальных снимках: скорость и пропуски совпадений.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4500" y="3505200"/>
            <a:ext cx="11303000" cy="0"/>
          </a:xfrm>
          <a:prstGeom prst="line">
            <a:avLst/>
          </a:prstGeom>
          <a:ln w="8890">
            <a:solidFill>
              <a:srgbClr val="6F56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4500" y="3695700"/>
            <a:ext cx="5334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3695700"/>
            <a:ext cx="32893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Снимки с новых камер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1700" y="3721100"/>
            <a:ext cx="6985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0">
                <a:solidFill>
                  <a:srgbClr val="C9BED5"/>
                </a:solidFill>
                <a:latin typeface="Montserrat"/>
              </a:rPr>
              <a:t>Проверить совпадения на размеченных примерах заказчика.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0">
                <a:solidFill>
                  <a:srgbClr val="C9BED5"/>
                </a:solidFill>
                <a:latin typeface="Montserrat"/>
              </a:rPr>
              <a:t>Подобрать порог: когда отвечать, а когда отказываться.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4500" y="4826000"/>
            <a:ext cx="11303000" cy="0"/>
          </a:xfrm>
          <a:prstGeom prst="line">
            <a:avLst/>
          </a:prstGeom>
          <a:ln w="8890">
            <a:solidFill>
              <a:srgbClr val="6F56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4500" y="5016500"/>
            <a:ext cx="5334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5016500"/>
            <a:ext cx="32893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Рабочее место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оператора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1700" y="5041900"/>
            <a:ext cx="6985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0">
                <a:solidFill>
                  <a:srgbClr val="C9BED5"/>
                </a:solidFill>
                <a:latin typeface="Montserrat"/>
              </a:rPr>
              <a:t>Создать экран: исходный снимок и найденные автомобили.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0">
                <a:solidFill>
                  <a:srgbClr val="C9BED5"/>
                </a:solidFill>
                <a:latin typeface="Montserrat"/>
              </a:rPr>
              <a:t>Дать оператору возможность подтвердить или отклонить совпадение.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1800" y="279400"/>
            <a:ext cx="965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FF0053"/>
                </a:solidFill>
                <a:latin typeface="Montserrat"/>
              </a:rPr>
              <a:t>A1 / КАЛИБРОВКА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800" y="723900"/>
            <a:ext cx="113284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300" b="1">
                <a:solidFill>
                  <a:srgbClr val="310F53"/>
                </a:solidFill>
                <a:latin typeface="Montserrat"/>
              </a:rPr>
              <a:t>Как выбран порог отказа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1800" y="6388100"/>
            <a:ext cx="11315700" cy="0"/>
          </a:xfrm>
          <a:prstGeom prst="line">
            <a:avLst/>
          </a:prstGeom>
          <a:ln w="6350">
            <a:solidFill>
              <a:srgbClr val="766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1800" y="6527800"/>
            <a:ext cx="571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76677E"/>
                </a:solidFill>
                <a:latin typeface="Montserrat"/>
              </a:rPr>
              <a:t>FALCON ReID  /  DeepTech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8700" y="6489700"/>
            <a:ext cx="5588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76677E"/>
                </a:solidFill>
                <a:latin typeface="Montserrat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1511300"/>
            <a:ext cx="11303000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>
                <a:solidFill>
                  <a:srgbClr val="310F53"/>
                </a:solidFill>
                <a:latin typeface="Montserrat"/>
              </a:rPr>
              <a:t>Уверенность — сходство пары относительно среднего уровня в базе.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2146300"/>
            <a:ext cx="69088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5566F"/>
                </a:solidFill>
                <a:latin typeface="Montserrat"/>
              </a:rPr>
              <a:t>Балл за совпадения и отказы · две проверочные группы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93800" y="5143500"/>
            <a:ext cx="5905500" cy="0"/>
          </a:xfrm>
          <a:prstGeom prst="line">
            <a:avLst/>
          </a:prstGeom>
          <a:ln w="10160">
            <a:solidFill>
              <a:srgbClr val="DC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4500" y="5029200"/>
            <a:ext cx="6731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5566F"/>
                </a:solidFill>
                <a:latin typeface="Montserrat"/>
              </a:rPr>
              <a:t>0.954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93800" y="4125685"/>
            <a:ext cx="5905500" cy="0"/>
          </a:xfrm>
          <a:prstGeom prst="line">
            <a:avLst/>
          </a:prstGeom>
          <a:ln w="10160">
            <a:solidFill>
              <a:srgbClr val="DC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4500" y="4011385"/>
            <a:ext cx="6731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5566F"/>
                </a:solidFill>
                <a:latin typeface="Montserrat"/>
              </a:rPr>
              <a:t>0.957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93800" y="3107871"/>
            <a:ext cx="5905500" cy="0"/>
          </a:xfrm>
          <a:prstGeom prst="line">
            <a:avLst/>
          </a:prstGeom>
          <a:ln w="10160">
            <a:solidFill>
              <a:srgbClr val="DC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4500" y="2993571"/>
            <a:ext cx="6731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5566F"/>
                </a:solidFill>
                <a:latin typeface="Montserrat"/>
              </a:rPr>
              <a:t>0.960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193800" y="3603207"/>
            <a:ext cx="1968499" cy="1385924"/>
          </a:xfrm>
          <a:prstGeom prst="line">
            <a:avLst/>
          </a:prstGeom>
          <a:ln w="3556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162299" y="3240187"/>
            <a:ext cx="984250" cy="363020"/>
          </a:xfrm>
          <a:prstGeom prst="line">
            <a:avLst/>
          </a:prstGeom>
          <a:ln w="3556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146549" y="2948413"/>
            <a:ext cx="984250" cy="291774"/>
          </a:xfrm>
          <a:prstGeom prst="line">
            <a:avLst/>
          </a:prstGeom>
          <a:ln w="3556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30799" y="2948413"/>
            <a:ext cx="984251" cy="489908"/>
          </a:xfrm>
          <a:prstGeom prst="line">
            <a:avLst/>
          </a:prstGeom>
          <a:ln w="3556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15050" y="3438321"/>
            <a:ext cx="984249" cy="425786"/>
          </a:xfrm>
          <a:prstGeom prst="line">
            <a:avLst/>
          </a:prstGeom>
          <a:ln w="3556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143000" y="4938331"/>
            <a:ext cx="101600" cy="1016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95900"/>
            <a:ext cx="558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5566F"/>
                </a:solidFill>
                <a:latin typeface="Montserrat"/>
              </a:rPr>
              <a:t>6.4</a:t>
            </a:r>
          </a:p>
        </p:txBody>
      </p:sp>
      <p:sp>
        <p:nvSpPr>
          <p:cNvPr id="22" name="Oval 21"/>
          <p:cNvSpPr/>
          <p:nvPr/>
        </p:nvSpPr>
        <p:spPr>
          <a:xfrm>
            <a:off x="3111499" y="3552407"/>
            <a:ext cx="101600" cy="1016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2899" y="5295900"/>
            <a:ext cx="558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5566F"/>
                </a:solidFill>
                <a:latin typeface="Montserrat"/>
              </a:rPr>
              <a:t>6.5</a:t>
            </a:r>
          </a:p>
        </p:txBody>
      </p:sp>
      <p:sp>
        <p:nvSpPr>
          <p:cNvPr id="24" name="Oval 23"/>
          <p:cNvSpPr/>
          <p:nvPr/>
        </p:nvSpPr>
        <p:spPr>
          <a:xfrm>
            <a:off x="4095749" y="3189387"/>
            <a:ext cx="101600" cy="1016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67149" y="5295900"/>
            <a:ext cx="558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5566F"/>
                </a:solidFill>
                <a:latin typeface="Montserrat"/>
              </a:rPr>
              <a:t>6.55</a:t>
            </a:r>
          </a:p>
        </p:txBody>
      </p:sp>
      <p:sp>
        <p:nvSpPr>
          <p:cNvPr id="26" name="Oval 25"/>
          <p:cNvSpPr/>
          <p:nvPr/>
        </p:nvSpPr>
        <p:spPr>
          <a:xfrm>
            <a:off x="5079999" y="2897613"/>
            <a:ext cx="101600" cy="1016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1399" y="5295900"/>
            <a:ext cx="558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5566F"/>
                </a:solidFill>
                <a:latin typeface="Montserrat"/>
              </a:rPr>
              <a:t>6.6</a:t>
            </a:r>
          </a:p>
        </p:txBody>
      </p:sp>
      <p:sp>
        <p:nvSpPr>
          <p:cNvPr id="28" name="Oval 27"/>
          <p:cNvSpPr/>
          <p:nvPr/>
        </p:nvSpPr>
        <p:spPr>
          <a:xfrm>
            <a:off x="6064250" y="3387521"/>
            <a:ext cx="101600" cy="1016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5650" y="5295900"/>
            <a:ext cx="558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5566F"/>
                </a:solidFill>
                <a:latin typeface="Montserrat"/>
              </a:rPr>
              <a:t>6.65</a:t>
            </a:r>
          </a:p>
        </p:txBody>
      </p:sp>
      <p:sp>
        <p:nvSpPr>
          <p:cNvPr id="30" name="Oval 29"/>
          <p:cNvSpPr/>
          <p:nvPr/>
        </p:nvSpPr>
        <p:spPr>
          <a:xfrm>
            <a:off x="7048499" y="3813307"/>
            <a:ext cx="101600" cy="1016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9899" y="5295900"/>
            <a:ext cx="558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5566F"/>
                </a:solidFill>
                <a:latin typeface="Montserrat"/>
              </a:rPr>
              <a:t>6.7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30799" y="3037313"/>
            <a:ext cx="0" cy="2106187"/>
          </a:xfrm>
          <a:prstGeom prst="line">
            <a:avLst/>
          </a:prstGeom>
          <a:ln w="1016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46600" y="5765800"/>
            <a:ext cx="2552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5566F"/>
                </a:solidFill>
                <a:latin typeface="Montserrat"/>
              </a:rPr>
              <a:t>Порог уверенности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97800" y="2184400"/>
            <a:ext cx="3949700" cy="3517900"/>
          </a:xfrm>
          <a:prstGeom prst="roundRect">
            <a:avLst>
              <a:gd name="adj" fmla="val 8000"/>
            </a:avLst>
          </a:prstGeom>
          <a:solidFill>
            <a:srgbClr val="F6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4500" y="2400300"/>
            <a:ext cx="3467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310F53"/>
                </a:solidFill>
                <a:latin typeface="Montserrat"/>
              </a:rPr>
              <a:t>ВЫБРАННЫЙ ПОРОГ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39100" y="2870200"/>
            <a:ext cx="3454400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5200" b="1">
                <a:solidFill>
                  <a:srgbClr val="310F53"/>
                </a:solidFill>
                <a:latin typeface="Montserrat"/>
              </a:rPr>
              <a:t>6.6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4500" y="3848100"/>
            <a:ext cx="3416300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500" b="0">
                <a:solidFill>
                  <a:srgbClr val="310F53"/>
                </a:solidFill>
                <a:latin typeface="Montserrat"/>
              </a:rPr>
              <a:t>Уверенность ≥ 6.6 → ответ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500" b="0">
                <a:solidFill>
                  <a:srgbClr val="310F53"/>
                </a:solidFill>
                <a:latin typeface="Montserrat"/>
              </a:rPr>
              <a:t>Ниже порога → отказ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064500" y="4737100"/>
            <a:ext cx="3416300" cy="0"/>
          </a:xfrm>
          <a:prstGeom prst="line">
            <a:avLst/>
          </a:prstGeom>
          <a:ln w="10160">
            <a:solidFill>
              <a:srgbClr val="D0C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064500" y="4940300"/>
            <a:ext cx="1625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310F53"/>
                </a:solidFill>
                <a:latin typeface="Montserrat"/>
              </a:rPr>
              <a:t>0.960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3600" y="4978400"/>
            <a:ext cx="17399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5566F"/>
                </a:solidFill>
                <a:latin typeface="Montserrat"/>
              </a:rPr>
              <a:t>Балл за ответы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5566F"/>
                </a:solidFill>
                <a:latin typeface="Montserrat"/>
              </a:rPr>
              <a:t>и отказы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4500" y="6070600"/>
            <a:ext cx="11303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310F53"/>
                </a:solidFill>
                <a:latin typeface="Montserrat"/>
              </a:rPr>
              <a:t>Лучший результат при 6.6; близкие результаты — в диапазоне 6.5–6.65.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241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1800" y="279400"/>
            <a:ext cx="965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FF0053"/>
                </a:solidFill>
                <a:latin typeface="Montserrat"/>
              </a:rPr>
              <a:t>A2 / НЕЗАВИСИМОСТЬ ЗАПРОСОВ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800" y="723900"/>
            <a:ext cx="113284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100" b="1">
                <a:solidFill>
                  <a:srgbClr val="FFFFFF"/>
                </a:solidFill>
                <a:latin typeface="Montserrat"/>
              </a:rPr>
              <a:t>Запросы обрабатываются независимо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1800" y="6388100"/>
            <a:ext cx="11315700" cy="0"/>
          </a:xfrm>
          <a:prstGeom prst="line">
            <a:avLst/>
          </a:prstGeom>
          <a:ln w="6350">
            <a:solidFill>
              <a:srgbClr val="C9B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1800" y="6527800"/>
            <a:ext cx="571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C9BED5"/>
                </a:solidFill>
                <a:latin typeface="Montserrat"/>
              </a:rPr>
              <a:t>FALCON ReID  /  DeepTech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8700" y="6489700"/>
            <a:ext cx="5588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9BED5"/>
                </a:solidFill>
                <a:latin typeface="Montserrat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500" y="2197100"/>
            <a:ext cx="3632200" cy="1219200"/>
          </a:xfrm>
          <a:prstGeom prst="roundRect">
            <a:avLst>
              <a:gd name="adj" fmla="val 8000"/>
            </a:avLst>
          </a:prstGeom>
          <a:solidFill>
            <a:srgbClr val="39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00300"/>
            <a:ext cx="3149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100" b="1">
                <a:solidFill>
                  <a:srgbClr val="FFFFFF"/>
                </a:solidFill>
                <a:latin typeface="Montserrat"/>
              </a:rPr>
              <a:t>Один запрос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59100"/>
            <a:ext cx="31496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C9BED5"/>
                </a:solidFill>
                <a:latin typeface="Montserrat"/>
              </a:rPr>
              <a:t>Снимок и рамка автомобиля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500" y="3771900"/>
            <a:ext cx="3632200" cy="1346200"/>
          </a:xfrm>
          <a:prstGeom prst="roundRect">
            <a:avLst>
              <a:gd name="adj" fmla="val 8000"/>
            </a:avLst>
          </a:prstGeom>
          <a:solidFill>
            <a:srgbClr val="39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975100"/>
            <a:ext cx="31496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100" b="1">
                <a:solidFill>
                  <a:srgbClr val="FFFFFF"/>
                </a:solidFill>
                <a:latin typeface="Montserrat"/>
              </a:rPr>
              <a:t>Фиксированная база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08500"/>
            <a:ext cx="3136900" cy="520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C9BED5"/>
                </a:solidFill>
                <a:latin typeface="Montserrat"/>
              </a:rPr>
              <a:t>Снимки для сравнения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C9BED5"/>
                </a:solidFill>
                <a:latin typeface="Montserrat"/>
              </a:rPr>
              <a:t>и статистики их сходства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02100" y="2819400"/>
            <a:ext cx="876300" cy="698500"/>
          </a:xfrm>
          <a:prstGeom prst="line">
            <a:avLst/>
          </a:prstGeom>
          <a:ln w="19050">
            <a:solidFill>
              <a:srgbClr val="8A83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102100" y="3822700"/>
            <a:ext cx="876300" cy="622300"/>
          </a:xfrm>
          <a:prstGeom prst="line">
            <a:avLst/>
          </a:prstGeom>
          <a:ln w="19050">
            <a:solidFill>
              <a:srgbClr val="8A83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67300" y="3086100"/>
            <a:ext cx="2819400" cy="1460500"/>
          </a:xfrm>
          <a:prstGeom prst="roundRect">
            <a:avLst>
              <a:gd name="adj" fmla="val 8000"/>
            </a:avLst>
          </a:prstGeom>
          <a:solidFill>
            <a:srgbClr val="392248"/>
          </a:solidFill>
          <a:ln w="10160">
            <a:solidFill>
              <a:srgbClr val="8A8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8600" y="3276600"/>
            <a:ext cx="2336800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Поиск и проверка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8600" y="4102100"/>
            <a:ext cx="2336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0">
                <a:solidFill>
                  <a:srgbClr val="C9BED5"/>
                </a:solidFill>
                <a:latin typeface="Montserrat"/>
              </a:rPr>
              <a:t>F(снимок, база)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12100" y="3822700"/>
            <a:ext cx="698500" cy="0"/>
          </a:xfrm>
          <a:prstGeom prst="line">
            <a:avLst/>
          </a:prstGeom>
          <a:ln w="19050">
            <a:solidFill>
              <a:srgbClr val="8A83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864600" y="3035300"/>
            <a:ext cx="29210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Результат запроса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4600" y="3695700"/>
            <a:ext cx="2857500" cy="965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800" b="0">
                <a:solidFill>
                  <a:srgbClr val="FFFFFF"/>
                </a:solidFill>
                <a:latin typeface="Montserrat"/>
              </a:rPr>
              <a:t>10 лучших кандидатов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800" b="0">
                <a:solidFill>
                  <a:srgbClr val="FFFFFF"/>
                </a:solidFill>
                <a:latin typeface="Montserrat"/>
              </a:rPr>
              <a:t>Совпадение или отказ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4500" y="5537200"/>
            <a:ext cx="11303000" cy="0"/>
          </a:xfrm>
          <a:prstGeom prst="line">
            <a:avLst/>
          </a:prstGeom>
          <a:ln w="8890">
            <a:solidFill>
              <a:srgbClr val="6E5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4500" y="5829300"/>
            <a:ext cx="11303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FFFFFF"/>
                </a:solidFill>
                <a:latin typeface="Montserrat"/>
              </a:rPr>
              <a:t>Другие запросы не используются в поиске и оценке уверенности.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241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1800" y="279400"/>
            <a:ext cx="965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FF0053"/>
                </a:solidFill>
                <a:latin typeface="Montserrat"/>
              </a:rPr>
              <a:t>A3 / ЭКСПЕРИМЕНТ С БОЛЬШОЙ БАЗОЙ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800" y="723900"/>
            <a:ext cx="113284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ANN: ускорение поиска в 153 раза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1800" y="6388100"/>
            <a:ext cx="11315700" cy="0"/>
          </a:xfrm>
          <a:prstGeom prst="line">
            <a:avLst/>
          </a:prstGeom>
          <a:ln w="6350">
            <a:solidFill>
              <a:srgbClr val="C9B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1800" y="6527800"/>
            <a:ext cx="571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C9BED5"/>
                </a:solidFill>
                <a:latin typeface="Montserrat"/>
              </a:rPr>
              <a:t>FALCON ReID  /  DeepTech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8700" y="6489700"/>
            <a:ext cx="5588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9BED5"/>
                </a:solidFill>
                <a:latin typeface="Montserrat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1498600"/>
            <a:ext cx="11303000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Montserrat"/>
              </a:rPr>
              <a:t>ANN — поиск в ближайших группах похожих векторов.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500" y="2197100"/>
            <a:ext cx="11303000" cy="482600"/>
          </a:xfrm>
          <a:prstGeom prst="rect">
            <a:avLst/>
          </a:prstGeom>
          <a:solidFill>
            <a:srgbClr val="39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300" y="2311400"/>
            <a:ext cx="10922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9BED5"/>
                </a:solidFill>
                <a:latin typeface="Montserrat"/>
              </a:rPr>
              <a:t>1 млн синтетических векторов по 1536 чисел · один поток CPU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500" y="2971800"/>
            <a:ext cx="5499100" cy="1866900"/>
          </a:xfrm>
          <a:prstGeom prst="roundRect">
            <a:avLst>
              <a:gd name="adj" fmla="val 8000"/>
            </a:avLst>
          </a:prstGeom>
          <a:solidFill>
            <a:srgbClr val="39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75000"/>
            <a:ext cx="5016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FFFFFF"/>
                </a:solidFill>
                <a:latin typeface="Montserrat"/>
              </a:rPr>
              <a:t>Полный перебор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3721100"/>
            <a:ext cx="50419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600" b="1">
                <a:solidFill>
                  <a:srgbClr val="FFFFFF"/>
                </a:solidFill>
                <a:latin typeface="Montserrat"/>
              </a:rPr>
              <a:t>421.180 мс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70400"/>
            <a:ext cx="50165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C9BED5"/>
                </a:solidFill>
                <a:latin typeface="Montserrat"/>
              </a:rPr>
              <a:t>Сравнение со всеми векторами базы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400" y="2971800"/>
            <a:ext cx="5499100" cy="1866900"/>
          </a:xfrm>
          <a:prstGeom prst="roundRect">
            <a:avLst>
              <a:gd name="adj" fmla="val 8000"/>
            </a:avLst>
          </a:prstGeom>
          <a:solidFill>
            <a:srgbClr val="39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9700" y="3175000"/>
            <a:ext cx="5016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FFFFFF"/>
                </a:solidFill>
                <a:latin typeface="Montserrat"/>
              </a:rPr>
              <a:t>Приближённый поиск (ANN)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3721100"/>
            <a:ext cx="50419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600" b="1">
                <a:solidFill>
                  <a:srgbClr val="FFFFFF"/>
                </a:solidFill>
                <a:latin typeface="Montserrat"/>
              </a:rPr>
              <a:t>2.750 мс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700" y="4470400"/>
            <a:ext cx="50165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C9BED5"/>
                </a:solidFill>
                <a:latin typeface="Montserrat"/>
              </a:rPr>
              <a:t>Проверка 8 ближайших групп из 4000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500" y="5067300"/>
            <a:ext cx="11303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1">
                <a:solidFill>
                  <a:srgbClr val="FFFFFF"/>
                </a:solidFill>
                <a:latin typeface="Montserrat"/>
              </a:rPr>
              <a:t>Найдены все 10 ближайших результатов точного поиска.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4500" y="5575300"/>
            <a:ext cx="11303000" cy="0"/>
          </a:xfrm>
          <a:prstGeom prst="line">
            <a:avLst/>
          </a:prstGeom>
          <a:ln w="8890">
            <a:solidFill>
              <a:srgbClr val="6E5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4500" y="5727700"/>
            <a:ext cx="11303000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00" b="0">
                <a:solidFill>
                  <a:srgbClr val="C9BED5"/>
                </a:solidFill>
                <a:latin typeface="Montserrat"/>
              </a:rPr>
              <a:t>В текущем решении — полный перебор; ANN протестирован отдельно.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00" b="0">
                <a:solidFill>
                  <a:srgbClr val="C9BED5"/>
                </a:solidFill>
                <a:latin typeface="Montserrat"/>
              </a:rPr>
              <a:t>Следующий шаг: подключить к финальной модели и проверить на реальной базе.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FALCON ReID — DeepTech AI | ЛЦТ 2026</dc:title>
  <dc:creator>DeepTech AI</dc:creator>
  <cp:lastModifiedBy>Аноним</cp:lastModifiedBy>
  <cp:revision>96</cp:revision>
  <dcterms:created xsi:type="dcterms:W3CDTF">2023-05-15T07:36:23Z</dcterms:created>
  <dcterms:modified xsi:type="dcterms:W3CDTF">2026-09-16T13:19:25Z</dcterms:modified>
  <dc:subject>Open-set Vehicle ReID: поиск, verifier и калиброванный отказ</dc:subject>
  <cp:keywords>ЛЦТ 2026, Falcon Tech, Vehicle ReID, DeepTech AI</cp:keywords>
</cp:coreProperties>
</file>