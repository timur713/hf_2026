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41"/>
  </p:notesMasterIdLst>
  <p:sldIdLst>
    <p:sldId id="262" r:id="rId10"/>
    <p:sldId id="263" r:id="rId11"/>
    <p:sldId id="264" r:id="rId12"/>
    <p:sldId id="265" r:id="rId13"/>
    <p:sldId id="266" r:id="rId14"/>
    <p:sldId id="267" r:id="rId9"/>
    <p:sldId id="268" r:id="rId8"/>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ru-RU"/>
    </a:defPPr>
    <a:lvl1pPr marL="0" algn="l" defTabSz="914220" rtl="0">
      <a:defRPr sz="1800">
        <a:solidFill>
          <a:schemeClr val="tx1"/>
        </a:solidFill>
        <a:latin typeface="+mn-lt"/>
        <a:ea typeface="+mn-ea"/>
        <a:cs typeface="+mn-cs"/>
      </a:defRPr>
    </a:lvl1pPr>
    <a:lvl2pPr marL="457110" algn="l" defTabSz="914220" rtl="0">
      <a:defRPr sz="1800">
        <a:solidFill>
          <a:schemeClr val="tx1"/>
        </a:solidFill>
        <a:latin typeface="+mn-lt"/>
        <a:ea typeface="+mn-ea"/>
        <a:cs typeface="+mn-cs"/>
      </a:defRPr>
    </a:lvl2pPr>
    <a:lvl3pPr marL="914220" algn="l" defTabSz="914220" rtl="0">
      <a:defRPr sz="1800">
        <a:solidFill>
          <a:schemeClr val="tx1"/>
        </a:solidFill>
        <a:latin typeface="+mn-lt"/>
        <a:ea typeface="+mn-ea"/>
        <a:cs typeface="+mn-cs"/>
      </a:defRPr>
    </a:lvl3pPr>
    <a:lvl4pPr marL="1371329" algn="l" defTabSz="914220" rtl="0">
      <a:defRPr sz="1800">
        <a:solidFill>
          <a:schemeClr val="tx1"/>
        </a:solidFill>
        <a:latin typeface="+mn-lt"/>
        <a:ea typeface="+mn-ea"/>
        <a:cs typeface="+mn-cs"/>
      </a:defRPr>
    </a:lvl4pPr>
    <a:lvl5pPr marL="1828439" algn="l" defTabSz="914220" rtl="0">
      <a:defRPr sz="1800">
        <a:solidFill>
          <a:schemeClr val="tx1"/>
        </a:solidFill>
        <a:latin typeface="+mn-lt"/>
        <a:ea typeface="+mn-ea"/>
        <a:cs typeface="+mn-cs"/>
      </a:defRPr>
    </a:lvl5pPr>
    <a:lvl6pPr marL="2285549" algn="l" defTabSz="914220" rtl="0">
      <a:defRPr sz="1800">
        <a:solidFill>
          <a:schemeClr val="tx1"/>
        </a:solidFill>
        <a:latin typeface="+mn-lt"/>
        <a:ea typeface="+mn-ea"/>
        <a:cs typeface="+mn-cs"/>
      </a:defRPr>
    </a:lvl6pPr>
    <a:lvl7pPr marL="2742658" algn="l" defTabSz="914220" rtl="0">
      <a:defRPr sz="1800">
        <a:solidFill>
          <a:schemeClr val="tx1"/>
        </a:solidFill>
        <a:latin typeface="+mn-lt"/>
        <a:ea typeface="+mn-ea"/>
        <a:cs typeface="+mn-cs"/>
      </a:defRPr>
    </a:lvl7pPr>
    <a:lvl8pPr marL="3199765" algn="l" defTabSz="914220" rtl="0">
      <a:defRPr sz="1800">
        <a:solidFill>
          <a:schemeClr val="tx1"/>
        </a:solidFill>
        <a:latin typeface="+mn-lt"/>
        <a:ea typeface="+mn-ea"/>
        <a:cs typeface="+mn-cs"/>
      </a:defRPr>
    </a:lvl8pPr>
    <a:lvl9pPr marL="3656877" algn="l" defTabSz="91422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Grid="0">
      <p:cViewPr varScale="1">
        <p:scale>
          <a:sx n="112" d="100"/>
          <a:sy n="112" d="100"/>
        </p:scale>
        <p:origin x="200" y="360"/>
      </p:cViewPr>
      <p:guideLst>
        <p:guide pos="597"/>
        <p:guide pos="3591"/>
        <p:guide pos="5496"/>
        <p:guide pos="4112"/>
        <p:guide pos="393"/>
        <p:guide pos="2160" orient="horz"/>
      </p:guideLst>
    </p:cSldViewPr>
  </p:slide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tableStyles" Target="tableStyles.xml"/><Relationship Id="rId4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391812951" name="Верхний колонтитул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ru-RU"/>
          </a:p>
        </p:txBody>
      </p:sp>
      <p:sp>
        <p:nvSpPr>
          <p:cNvPr id="1776178070" name="Дата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9DA401BA-3150-4FF7-8D13-C8A64268AC63}" type="datetimeFigureOut">
              <a:rPr lang="ru-RU"/>
              <a:t>14.09.2026</a:t>
            </a:fld>
            <a:endParaRPr lang="ru-RU"/>
          </a:p>
        </p:txBody>
      </p:sp>
      <p:sp>
        <p:nvSpPr>
          <p:cNvPr id="1008376219" name="Образ слайда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ru-RU"/>
          </a:p>
        </p:txBody>
      </p:sp>
      <p:sp>
        <p:nvSpPr>
          <p:cNvPr id="657332147" name="Заметки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161909993" name="Нижний колонтитул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ru-RU"/>
          </a:p>
        </p:txBody>
      </p:sp>
      <p:sp>
        <p:nvSpPr>
          <p:cNvPr id="1232077215" name="Номер слайда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3D5F3B14-7AC8-406F-A299-37D374056E4F}" type="slidenum">
              <a:rPr lang="ru-RU"/>
              <a:t>‹#›</a:t>
            </a:fld>
            <a:endParaRPr lang="ru-RU"/>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Это сопоставимое сравнение на одних и тех же проверочных группах. mAP@10 вырос на 0,62 процентного пункта, Rank-1 на 0,74. Rank-5 практически прежний. Выигрыш небольшой и относится к первым позициям найденных кандидатов. В таблице качество всего рецепта D082, а не доказанный отдельный эффект графа.</a:t>
            </a:r>
          </a:p>
          <a:p/>
          <a:p>
            <a:r>
              <a:t>Источники: docs/d082_acceptance.md: matched OOF folds 0/1/3/4.</a:t>
            </a:r>
          </a:p>
          <a:p/>
          <a:p>
            <a:r>
              <a:t>OOF не является оценкой финальных весов, обученных на всём train. Точные mAP .8459950570→.8521834625, Rank-1 .8159600361→.8234031549, Rank-5 .9494968909→.9492200272. Статистическую значимость и Rank-1 0,90 не заявляем.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На консультации выделили четыре направления. Кандидат часто уже найден, но стоит не первым. В режиме отказов recall около 0,21 при аномально высоком TNR. Также важны одиночная задержка и два конкретных инженерных замечания. Это определило план доработок вместо перебора архитектур без связи с ошибками.</a:t>
            </a:r>
          </a:p>
          <a:p/>
          <a:p>
            <a:r>
              <a:t>Источники: Сообщение пользователя с итогами консультации 16.10; README.md.</a:t>
            </a:r>
          </a:p>
          <a:p/>
          <a:p>
            <a:r>
              <a:t>Recall 0,21 — не общая точность и не доказательство ошибочного порога. Вторая выборка: устно ≈91% Rank-5/≈68% Rank-1; состав неизвестен. Численные цели скорости относятся к ТЗ, а не к устной консультации.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До финала у нас уже был ансамбль DINO и CLIP, точный поиск, поправка по базе и отдельная модель сравнения пар. Два представления дополняют друг друга, а проверка пар помогает различать внешне близкие автомобили. Отказ уже существовал и использовал отдельную шкалу уверенности. Это основа, которую мы сохранили, а не заново изобрели после консультации.</a:t>
            </a:r>
          </a:p>
          <a:p/>
          <a:p>
            <a:r>
              <a:t>Источники: Исходная презентация, слайды 9/10; docs/architecture.md; docs/d082_acceptance.md.</a:t>
            </a:r>
          </a:p>
          <a:p/>
          <a:p>
            <a:r>
              <a:t>Hub correction понижает преимущество gallery-хабов. Показана реальная схема D065 без graph residual. Совместный вектор строится из отдельных нормированных pre-BN компонент. Конкретные размеры и веса — из финального D065/D082 артефакта.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Начали с дообучения: модель должна узнавать машину, а не фон камеры. Сопоставляем один автомобиль с разных камер и усложняем снимки аугментациями. Все кадры одного автомобиля находятся в одной из пяти групп. Проверочная модель не видела автомобили своей группы; финальные веса обучены отдельно на всём train.</a:t>
            </a:r>
          </a:p>
          <a:p/>
          <a:p>
            <a:r>
              <a:t>Источники: docs/training.md; docs/findings.md; splits/.</a:t>
            </a:r>
          </a:p>
          <a:p/>
          <a:p>
            <a:r>
              <a:t>Аугментация номерной области не является доказательством полной независимости от номера. Ограничения фактического контроля вынесены в приложение.</a:t>
            </a:r>
          </a:p>
          <a:p/>
          <a:p>
            <a:r>
              <a:t>Схема пространства признаков иллюстрирует функцию потерь; точки не являются измеренными эмбеддингами. Показанные фотографии иллюстрируют типы пар, а не подтверждают участие конкретных кадров в обучении. D065-конфиги encoder: 100 эпох, AdamW, CE label smoothing 0.1 + triplet margin 0.3, PK16×4, LLRD0.75. Источник: docs/training.md и docs/evidence/*.yaml. Трудные негативы для парной модели добывались из OOF top-K.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35 секунд.</a:t>
            </a:r>
          </a:p>
          <a:p/>
          <a:p>
            <a:r>
              <a:t>Похожий внешний вид ещё не доказывает совпадение экземпляров. Трудны однотипные автомобили, смена ракурса, ночь и перекрытия. Дополнительно в локальной оценке около двадцати процентов запросов не имеют пары. Это причина разделить поиск и подтверждение совпадения.</a:t>
            </a:r>
          </a:p>
          <a:p/>
          <a:p>
            <a:r>
              <a:t>Источники: Исходная презентация, слайды 7/13; docs/findings.md.</a:t>
            </a:r>
          </a:p>
          <a:p/>
          <a:p>
            <a:r>
              <a:t>Фотографии и цветные рамки сохранены из исторической иллюстрации D065. Не интерпретировать их как новый анализ теста или успешный пример графа.</a:t>
            </a:r>
          </a:p>
          <a:p/>
          <a:p>
            <a:r>
              <a:t>Конкретные позиции и идентичности сохранены из исходного слайда 7 D065: #2 — красная рамка, другая машина; #8 — зелёная, та же машина с другой камеры. #1 same-camera не показан. Не утверждать, что граф исправил именно этот пример. Новый анализ тестовых данных не проводился.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30 секунд.</a:t>
            </a:r>
          </a:p>
          <a:p/>
          <a:p>
            <a:r>
              <a:t>Мы строим поиск одного экземпляра автомобиля в архиве разных камер. На входе кадр и рамка, а также отдельная база сравнения. На выходе — список кандидатов и решение о совпадении. Сейчас это пакетный Docker-продукт, без интерфейса оператора.</a:t>
            </a:r>
          </a:p>
          <a:p/>
          <a:p>
            <a:r>
              <a:t>Источники: README.md; docs/architecture.md; исходная презентация, слайд 6.</a:t>
            </a:r>
          </a:p>
          <a:p/>
          <a:p>
            <a:r>
              <a:t>Превью выдачи — схема интерфейса результата, не новый прогон или размеченный успех D082. Показаны сохранённые первые три кандидата из исходной презентации, порядок не подменён. Продукт остаётся пакетным Docker pipeline.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Открытие</a:t>
            </a:r>
          </a:p>
          <a:p/>
          <a:p>
            <a:r>
              <a:t>Представляем Falcon ReID: систему межкамерной идентификации автомобилей. Финальная конфигурация — DINO392 и CLIP288, парный verifier и порог отказа, выбранный по локальной оценке.</a:t>
            </a:r>
          </a:p>
          <a:p/>
          <a:p>
            <a:r>
              <a:t>Источники: DECK_BRIEF.md; README.md</a:t>
            </a:r>
          </a:p>
        </p:txBody>
      </p:sp>
      <p:sp>
        <p:nvSpPr>
          <p:cNvPr id="4" name="Slide Number Placeholder 3"/>
          <p:cNvSpPr>
            <a:spLocks noGrp="1"/>
          </p:cNvSpPr>
          <p:nvPr>
            <p:ph type="sldNum" sz="quarter" idx="10"/>
          </p:nvPr>
        </p:nvSpPr>
        <p:spPr bwMode="auto"/>
        <p:txBody>
          <a:bodyPr/>
          <a:lstStyle/>
          <a:p>
            <a:pPr>
              <a:defRPr/>
            </a:pPr>
            <a:fld id="{BF4A0333-DA6B-BAA6-F9EA-5D8AC4D62B17}"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Команда и решение</a:t>
            </a:r>
          </a:p>
          <a:p/>
          <a:p>
            <a:r>
              <a:t>Обязательный слайд 8 шаблона. Краткая анкета участников компании DeepTech AI. Фото предоставлено пользователем: assets/team.png. Описание раскрывает сочетание двух поисковых моделей, отдельного сравнения пар и оценки уверенности относительно статической базы. Шкала уверенности использует среднее и стандартное отклонение сходства внутри базы; другие запросы не используются. Отказ применяется при недостаточном сигнале. Это описание механизма, а не гарантия отсутствия ложных совпадений. Числовое сравнение парной проверки и детали локальной оценки остаются в технических разделах презентации. Капитан указан только в предусмотренном шаблоном поле. Решение ищет конкретный автомобиль, а не просто похожую модель. Пользователь получает десятку кандидатов и отдельное решение о совпадении или отказе.</a:t>
            </a:r>
          </a:p>
          <a:p/>
          <a:p>
            <a:r>
              <a:t>Источники: Шаблон, слайды 3 и 8; пользовательское уточнение о компании; assets/team.png; docs/benchmarks/fusion_pair_exact_20260927/README.md</a:t>
            </a:r>
          </a:p>
        </p:txBody>
      </p:sp>
      <p:sp>
        <p:nvSpPr>
          <p:cNvPr id="4" name="Slide Number Placeholder 3"/>
          <p:cNvSpPr>
            <a:spLocks noGrp="1"/>
          </p:cNvSpPr>
          <p:nvPr>
            <p:ph type="sldNum" sz="quarter" idx="10"/>
          </p:nvPr>
        </p:nvSpPr>
        <p:spPr bwMode="auto"/>
        <p:txBody>
          <a:bodyPr/>
          <a:lstStyle/>
          <a:p>
            <a:pPr>
              <a:defRPr/>
            </a:pPr>
            <a:fld id="{629B8682-549C-E1BB-F508-D1525C1FC77B}"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81444576" name="Образ слайда 1"/>
          <p:cNvSpPr>
            <a:spLocks noChangeAspect="1" noGrp="1" noRot="1"/>
          </p:cNvSpPr>
          <p:nvPr>
            <p:ph type="sldImg"/>
          </p:nvPr>
        </p:nvSpPr>
        <p:spPr bwMode="auto"/>
      </p:sp>
      <p:sp>
        <p:nvSpPr>
          <p:cNvPr id="1832661015" name="Заметки 2"/>
          <p:cNvSpPr>
            <a:spLocks noGrp="1"/>
          </p:cNvSpPr>
          <p:nvPr>
            <p:ph type="body" idx="1"/>
          </p:nvPr>
        </p:nvSpPr>
        <p:spPr bwMode="auto"/>
        <p:txBody>
          <a:bodyPr/>
          <a:lstStyle/>
          <a:p>
            <a:r>
              <a:t>Участники команды</a:t>
            </a:r>
          </a:p>
          <a:p/>
          <a:p>
            <a:r>
              <a:t>Обязательный слайд 9 шаблона: сохранены две исходные карточки без изменения координат; три лишние удалены. ФИО, роли, место учёбы и контакты обоих участников заполнены. Для связи указаны предоставленные Telegram-контакты. Телефоны не предоставлены и не выдуманы.</a:t>
            </a:r>
          </a:p>
          <a:p/>
          <a:p>
            <a:r>
              <a:t>Источники: Шаблон, слайды 3 и 9; DECK_BRIEF.md</a:t>
            </a:r>
          </a:p>
        </p:txBody>
      </p:sp>
      <p:sp>
        <p:nvSpPr>
          <p:cNvPr id="1203626082" name="Номер слайда 3"/>
          <p:cNvSpPr>
            <a:spLocks noGrp="1"/>
          </p:cNvSpPr>
          <p:nvPr>
            <p:ph type="sldNum" sz="quarter" idx="5"/>
          </p:nvPr>
        </p:nvSpPr>
        <p:spPr bwMode="auto"/>
        <p:txBody>
          <a:bodyPr/>
          <a:lstStyle/>
          <a:p>
            <a:pPr>
              <a:defRPr/>
            </a:pPr>
            <a:fld id="{3D5F3B14-7AC8-406F-A299-37D374056E4F}" type="slidenum">
              <a:rPr lang="ru-RU"/>
              <a:t>9</a:t>
            </a:fld>
            <a:endParaRPr lang="ru-RU"/>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8542127" name="Образ слайда 1"/>
          <p:cNvSpPr>
            <a:spLocks noChangeAspect="1" noGrp="1" noRot="1"/>
          </p:cNvSpPr>
          <p:nvPr>
            <p:ph type="sldImg"/>
          </p:nvPr>
        </p:nvSpPr>
        <p:spPr bwMode="auto"/>
      </p:sp>
      <p:sp>
        <p:nvSpPr>
          <p:cNvPr id="1851567493" name="Заметки 2"/>
          <p:cNvSpPr>
            <a:spLocks noGrp="1"/>
          </p:cNvSpPr>
          <p:nvPr>
            <p:ph type="body" idx="1"/>
          </p:nvPr>
        </p:nvSpPr>
        <p:spPr bwMode="auto"/>
        <p:txBody>
          <a:bodyPr/>
          <a:lstStyle/>
          <a:p>
            <a:r>
              <a:t>История и вызовы</a:t>
            </a:r>
          </a:p>
          <a:p/>
          <a:p>
            <a:r>
              <a:t>Обязательный слайд 10 шаблона. История компании: мы учимся в НИУ ВШЭ и вместе развиваем компанию DeepTech AI. Формулировка восстановлена по просьбе пользователя. На слайде два фактических исследовательских эпизода. В A-001/A-002 исходная DINOv2 предпочитала фон и сцену; дообучение на идентичностях с разными камерами уменьшало эту зависимость. В A-032 разморозка базовой сети парной модели приводила к одинаковым оценкам; рабочий рецепт использует замороженный DINOv2-S и обучаемый блок сравнения. Это история разработки, а не утверждение, что все ошибки окончательно устранены. DeepTech AI — компания по уточнению пользователя. Мотивация выбора задачи: интерес к компьютерному зрению и желание развивать это направление в компании; формулировка уточнена пользователем.</a:t>
            </a:r>
          </a:p>
          <a:p/>
          <a:p>
            <a:r>
              <a:t>Источники: Шаблон, слайд 10; пользовательское уточнение о компании; docs/findings.md §6; EXPERIMENTS.md A-001/A-002/A-032; README.md</a:t>
            </a:r>
          </a:p>
        </p:txBody>
      </p:sp>
      <p:sp>
        <p:nvSpPr>
          <p:cNvPr id="959428012" name="Номер слайда 3"/>
          <p:cNvSpPr>
            <a:spLocks noGrp="1"/>
          </p:cNvSpPr>
          <p:nvPr>
            <p:ph type="sldNum" sz="quarter" idx="5"/>
          </p:nvPr>
        </p:nvSpPr>
        <p:spPr bwMode="auto"/>
        <p:txBody>
          <a:bodyPr/>
          <a:lstStyle/>
          <a:p>
            <a:pPr>
              <a:defRPr/>
            </a:pPr>
            <a:fld id="{3D5F3B14-7AC8-406F-A299-37D374056E4F}" type="slidenum">
              <a:rPr lang="ru-RU"/>
              <a:t>10</a:t>
            </a:fld>
            <a:endParaRPr lang="ru-RU"/>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Техническая суть и развитие</a:t>
            </a:r>
          </a:p>
          <a:p/>
          <a:p>
            <a:r>
              <a:t>Обязательный слайд 11 шаблона. Правая колонка раскрывает применение и дальнейшее развитие, как требуется текстом исходного заполнителя. ANN проверен отдельно на синтетической базе; интерфейс оператора — план, не существующая функция. Уверенность не является вероятностью.</a:t>
            </a:r>
          </a:p>
          <a:p/>
          <a:p>
            <a:r>
              <a:t>Источники: Шаблон, слайд 11; README.md; docs/ann_scale.md</a:t>
            </a:r>
          </a:p>
        </p:txBody>
      </p:sp>
      <p:sp>
        <p:nvSpPr>
          <p:cNvPr id="4" name="Slide Number Placeholder 3"/>
          <p:cNvSpPr>
            <a:spLocks noGrp="1"/>
          </p:cNvSpPr>
          <p:nvPr>
            <p:ph type="sldNum" sz="quarter" idx="10"/>
          </p:nvPr>
        </p:nvSpPr>
        <p:spPr bwMode="auto"/>
        <p:txBody>
          <a:bodyPr/>
          <a:lstStyle/>
          <a:p>
            <a:pPr>
              <a:defRPr/>
            </a:pPr>
            <a:fld id="{F2299260-C65D-4A5C-3C37-B22449FEC14D}" type="slidenum">
              <a:rPr/>
              <a:t/>
            </a:fld>
            <a:endParaR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Основное дополнение D082 — графовый ранжировщик. Он использует связи внутри десятки кандидатов и вместе с прежней парной моделью уточняет порядок. Сохранили два эмбеддера, поиск и отдельный отказ. Второе изменение — ускорение исполнения того же D082 без смены весов, точности вычислений и порога.</a:t>
            </a:r>
          </a:p>
          <a:p/>
          <a:p>
            <a:r>
              <a:t>Источники: docs/architecture.md; docs/d082_acceptance.md.</a:t>
            </a:r>
          </a:p>
          <a:p/>
          <a:p>
            <a:r>
              <a:t>Финальные веса обучены на всём train. Неизменность весов относится к ускорению D082, а не к сравнению всех артефактов D065/D082.</a:t>
            </a:r>
          </a:p>
          <a:p/>
          <a:p>
            <a:r>
              <a:t>Стрелки базовых оценок в блок объединения опущены ради читаемости; формула в явном виде на следующем слайде. Проверка пар получает исходные снимки query и кандидатов, а не только эмбеддинги. База перенесена вниз. Сплошная стрелка в поиск — готовые векторы; пунктир в граф — сходства gallery–gallery. Получение изображений кандидатов из базы для pair-проверки происходит по результату поиска и отдельной стрелкой не показано.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55 секунд.</a:t>
            </a:r>
          </a:p>
          <a:p/>
          <a:p>
            <a:r>
              <a:t>В обычном поиске каждый кандидат сравнивается с запросом отдельно. Здесь дополнительно известны его оценки в двух моделях и сходства с другими кандидатами. На схеме точки — найденные автомобили, линии — сходство их признаков в базе. Графовая модель учится по этим связям поправлять порядок. Состав десятки остаётся прежним. Другие запросы не используются.</a:t>
            </a:r>
          </a:p>
          <a:p/>
          <a:p>
            <a:r>
              <a:t>Источники: docs/architecture.md; reid/post/ranker.py; reid/model/list_ranker.py.</a:t>
            </a:r>
          </a:p>
          <a:p/>
          <a:p>
            <a:r>
              <a:t>13 признаков вершины и 2 канала рёбер. Итог z(hub)+0,15*z(verifier)+0,5*(head−base). Схема иллюстрирует вычисление, а не конкретный удачный пример. Измеренный прирост относится ко всему D082; отдельная абляция графа не заявляется.</a:t>
            </a:r>
          </a:p>
          <a:p/>
          <a:p>
            <a:r>
              <a:t>Это схема вычисления, не измеренная геометрия и не отдельный успешный пример. 10 вершин — фактическое окно ранжирования; полные взвешенные связи имеют два канала, здесь цветом выделены лишь некоторые линии для читаемости. Δ = head − base. На входе 13 признаков: cosine, ранги, локальные z, gallery hub и отступы. Численный прирост не приписывается отдельному графу без абляции.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Ближайший автомобиль существует даже для запроса без пары. Поэтому позиция в списке и уверенность — разные оценки. Уверенность выбранной пары нормируем по фиксированной базе. Проверили более мягкий порог 6,0, но он не улучшил независимую проверку на группах 3/4. Сохранили 6,6. Это проверенная гипотеза, а не обещание исправленного recall закрытой выборки.</a:t>
            </a:r>
          </a:p>
          <a:p/>
          <a:p>
            <a:r>
              <a:t>Источники: docs/d082_acceptance.md; reid/post/gallery_policy.py.</a:t>
            </a:r>
          </a:p>
          <a:p/>
          <a:p>
            <a:r>
              <a:t>Шкала gallery-z не вероятность. D141 отклонён после однократного контроля; fold 2 повторно для подбора не открывали.</a:t>
            </a:r>
          </a:p>
          <a:p/>
          <a:p>
            <a:r>
              <a:t>Числа из независимого B replay: origin/b/final-sprint-calibration, docs/final_sprint_b_handoff_20261017.md, B-F4. Среднее CandidateScore двух confirmation folds 3/4: t6.6=.941023, t6.0=.937207, Δ=−.003816. Fold3 .945878→.936421; fold4 .936168→.937993. 95% bootstrap CI включает 0. Порог выбран на0/1 до confirmation. Это перенос development policy, не новый closed-test результат или доказанный универсальный оптимум. Точная граница принятия: z≥6.6; подпись «выше» включает равенство.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Ускоряли организацию вычислений. Подготовка снимков на CPU перекрывается с вычислением на GPU. CUDA Graphs повторяют готовую последовательность операций с меньшими расходами запуска. Для одного запроса убрали повторную передачу одного кадра на GPU: нужное внутреннее дополнение делается уже на видеокарте. Ждать накопления соседних запросов не нужно.</a:t>
            </a:r>
          </a:p>
          <a:p/>
          <a:p>
            <a:r>
              <a:t>Источники: docs/architecture.md; docs/benchmarks/a5000_singleton_20261020/.</a:t>
            </a:r>
          </a:p>
          <a:p/>
          <a:p>
            <a:r>
              <a:t>Сохранён внутренний fixed4, точность FP16 и математический рецепт. Не заявлять, что весь сервис работает со скоростью extraction.</a:t>
            </a:r>
          </a:p>
          <a:p/>
          <a:p>
            <a:r>
              <a:t>Throughput same-session80.579→119.029–119.870 FPS, относительный рост47.7–48.8%, округлённо+48%. Таймлайн — схема конвейера без масштаба времени. CUDA Graphs сокращают накладные расходы replay, а не устраняют исполнение операций. Схема op1..4 не задаёт фактическое число операций сети. Устранение повторной H2D: 8517888 байт экономии на singleton, без смены fixed4.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50 секунд.</a:t>
            </a:r>
          </a:p>
          <a:p/>
          <a:p>
            <a:r>
              <a:t>Здесь два сравнения до и после, каждое внутри своей A5000-сессии. Конвейер и графы подняли производительность с 80,58 до 119,03–119,87 кадров в секунду. Следующим шагом одиночная передача кадра снизила медиану с 40,604 до 38,740–39,950 миллисекунды. После всех доработок три C5-повтора дали 121,6–124,0 кадров в секунду. В таймере чтение JPEG и получение вектора, без ранжирования.</a:t>
            </a:r>
          </a:p>
          <a:p/>
          <a:p>
            <a:r>
              <a:t>Источники: B b3db448: docs/speed_margin_acceptance_B_20261020.md; B bf11495: docs/singleton_latency_acceptance_B_20261020.md; docs/d082_acceptance.md.</a:t>
            </a:r>
          </a:p>
          <a:p/>
          <a:p>
            <a:r>
              <a:t>Это не единый парный эксперимент между всеми четырьмя числами. Другая подготовка процесса дала 41,006–41,321 мс; причина не доказана. Худший C5 запас 0,05 мс. Новый production snapshot не перемерен на A5000; гарантии закрытой скорости нет.</a:t>
            </a:r>
          </a:p>
          <a:p/>
          <a:p>
            <a:r>
              <a:t>Ограничения перенесены в приложение по запросу пользователя. Слева этапы разных A5000-сессий: matched native80.579/graph119.193,119.029,119.870; затем singleton fullC5 throughput124.039997,121.610760,122.466603. Длина полос для диапазона показывает его середину, значение подписано полностью. Справа строго same-session member-graph baseline40.604451→singleton 38.740015/38.880282/39.949528. Другой harness41.006–41.321; причина расхождения не доказана. Текущий production snapshot на A5000 не перемерен. C5 включает JPEG/read/decode/preprocess/forward/L2, исключает search/verifier/graph.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40 секунд.</a:t>
            </a:r>
          </a:p>
          <a:p/>
          <a:p>
            <a:r>
              <a:t>Инженерные замечания отработаны: логирование вместо print, постобработка отделена от JPEG и адаптера модели. Штатный запуск и скоростной скрипт используют один класс извлечения признаков. Веса и окружение закреплены. Для текущего кода прошли 715 локальных тестов, 76 целевых GPU/CPU-тестов и smoke50. На H100 ответы совпали с эталоном при перестановке, одиночном запуске и замене соседних запросов.</a:t>
            </a:r>
          </a:p>
          <a:p/>
          <a:p>
            <a:r>
              <a:t>Источники: docs/architecture.md; docs/d082_acceptance.md; tests/test_runtime_logging.py.</a:t>
            </a:r>
          </a:p>
          <a:p/>
          <a:p>
            <a:r>
              <a:t>Новый Docker image не пересобран в этой сессии. Исходный A5000 offline Docker прошёл B отдельно. Текущий H100 набор: 32 query/625 gallery, 7 accepted/25 refused; это покрытие исполнения, а не качество. 12 локальных тестов пропущены. Ограничение серверной FS раскрыто в приложении.</a:t>
            </a:r>
          </a:p>
          <a:p/>
          <a:p>
            <a:r>
              <a:t>Основные числа этого слайда — исходная независимая A5000-приёмка B, bf11495: 898passed/6skipped, offline Docker, real D082smoke50; 1138query/636gallery. Native/graph/singleton дали побитно одинаковые три файла; порядокquery и accepted/refused singleton/neighbour проверки прошли. Это не утверждение о повторном Docker build или A5000 benchmark нового production refactor. Текущий перенос:715локально+76targetedH100, подробнее в приложении.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20 секунд.</a:t>
            </a:r>
          </a:p>
          <a:p/>
          <a:p>
            <a:r>
              <a:t>Итог — поиск, который сочетает два представления автомобиля, проверку пар и связей кандидатов, а затем принимает отдельное решение о совпадении. Ускорение сохраняет ответ и не требует ждать соседних запросов. Код, измерения и ограничения доступны в репозитории. Спасибо, готовы к вопросам.</a:t>
            </a:r>
          </a:p>
          <a:p/>
          <a:p>
            <a:r>
              <a:t>Источники: https://github.com/Timur713/hf_2026, коммит 6d82263.</a:t>
            </a:r>
          </a:p>
          <a:p/>
          <a:p>
            <a:r>
              <a:t>mAP относится к OOF-моделям, скорость — к исходной A5000 реализации. Ограничения показаны на слайдах 15/16 и в приложении.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45 секунд.</a:t>
            </a:r>
          </a:p>
          <a:p/>
          <a:p>
            <a:r>
              <a:t>У заказчика свой состав архива. Например, в нём может быть много внешне похожих машин. Наш поиск учитывает, насколько кандидат похож на другие автомобили этой базы. Gallery hub correction уменьшает преимущество универсально похожих объектов. Контекст рассчитывается при подготовке статической галереи по готовым эмбеддингам: дополнительная разметка и переобучение моделей для этого не нужны. При подготовке новой галереи контекст рассчитывается заново. Отдельная абляция на четырёх проверочных галереях дала Rank-1 76,08 против 79,91 процента. Это вклад контекстной коррекции до парного верификатора и графового ранжировщика.</a:t>
            </a:r>
          </a:p>
          <a:p/>
          <a:p>
            <a:r>
              <a:t>Источники: reid/post/gallery_policy.py: GalleryPolicy.__init__, _rank_row. Код сдаваемого snapshot 6d8226368b255b3c1562810147a106863b3a56a7. Локальный воспроизводимый audit: output/killer_feature_20261020/audit_stages.py; stage_results.json, 69 SHA входного пакета проверены, итоговые метрики D082 совпали с MANIFEST на всех четырёх фолдах. Mean4 fusion Rank1 .7607613289147505, hub .7991091225713424; mAP .8013057964831337 → .8331673315404509. Разница Rank1 +3.83477936565919 п.п.; 3624 query с валидными позитивами. Прирост Rank1 положителен на каждом из четырёх фолдов 0/1/3/4.</a:t>
            </a:r>
          </a:p>
          <a:p/>
          <a:p>
            <a:r>
              <a:t>Это реализованный пересчёт контекста статической gallery, не рекурсивное самообучение, не online-обновление весов и не автоматический production-контур обновления базы. Схематичные автомобили иллюстрируют механизм, не доказывают результат на конкретном автопарке. Отдельная абляция не является новым приростом D065→D082 и не приписывается графу. Галереи из одной исходной выборки: перенос на новые домены, реальные автопарки и крупный архив не проверен. Нельзя обещать оптимальный порог для любой базы. Текущий точный предрасчёт gallery-gallery требует O(N_gallery²) памяти. На инференсе остаются фиксированные веса; другой query не используется. Ни test, ни fold2 не открывались в этой диагностике. Рост качества от увеличения обучающей выборки — отдельная гипотеза пилота. Больше разнообразных размеченных примеров может помочь обучению encoder/verifier/graph, но learning curve не измерялась; монотонный прирост и его размер не установлены. Обучающая выборка не равна gallery: пополнение gallery не является обучением и не гарантирует роста качества. На слайде эти направления разделены. Production-код и веса при работе над слайдом не менялись.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60 секунд.</a:t>
            </a:r>
          </a:p>
          <a:p/>
          <a:p>
            <a:r>
              <a:t>Дополнение для вопросов о разделении данных, финальных весах и скорости.</a:t>
            </a:r>
          </a:p>
          <a:p/>
          <a:p>
            <a:r>
              <a:t>Источники: docs/d082_acceptance.md; docs/training.md; docs/benchmarks/a5000_singleton_20261020/.</a:t>
            </a:r>
          </a:p>
          <a:p/>
          <a:p>
            <a:r>
              <a:t>camera_id не поступает на инференс. Fold 2 повторно для подбора не открывали. Скорость H100 не пересчитывали в A5000. OS page cache после прогрева не очищался.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Ориентир: 60 секунд.</a:t>
            </a:r>
          </a:p>
          <a:p/>
          <a:p>
            <a:r>
              <a:t>Скорость зависит от сценария подготовки процесса; расхождение не объяснено. Контроль номерных зон ограничен: in-sample, неполная разметка отвлекающих машин, human_attested=false. Универсальная независимость от номера не доказана. Исходный A5000 runtime прошёл offline Docker, новый образ в этой сессии не строился.</a:t>
            </a:r>
          </a:p>
          <a:p/>
          <a:p>
            <a:r>
              <a:t>Источники: docs/d082_acceptance.md; source SHA и receipts рядом.</a:t>
            </a:r>
          </a:p>
          <a:p/>
          <a:p>
            <a:r>
              <a:t>Plate evidence: 8 query/32 gallery, 18 contrasts, 0 смен selected-ID/acceptance, 53 наблюдения изменения top-10, max confidence delta .2468166351. Серверная FS не поддержала RENAME_NOREPLACE старого development publisher: 671 pass/5skip/3fail/48 fixture errors. Локально 715pass/12skip; H100 targeted 76pass. Ни закрытый recall, ни качество all-data весов независимо не измерены.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Титульный слайд">
    <p:bg>
      <p:bgPr shadeToTitle="0">
        <a:blipFill rotWithShape="1">
          <a:blip r:embed="rId2">
            <a:lum/>
          </a:blip>
          <a:stretch/>
        </a:blipFill>
      </p:bgPr>
    </p:bg>
    <p:spTree>
      <p:nvGrpSpPr>
        <p:cNvPr id="1" name=""/>
        <p:cNvGrpSpPr/>
        <p:nvPr/>
      </p:nvGrpSpPr>
      <p:grpSpPr bwMode="auto">
        <a:xfrm>
          <a:off x="0" y="0"/>
          <a:ext cx="0" cy="0"/>
          <a:chOff x="0" y="0"/>
          <a:chExt cx="0" cy="0"/>
        </a:xfrm>
      </p:grpSpPr>
      <p:sp>
        <p:nvSpPr>
          <p:cNvPr id="2083682889" name="Рисунок 10"/>
          <p:cNvSpPr>
            <a:spLocks noGrp="1"/>
          </p:cNvSpPr>
          <p:nvPr>
            <p:ph type="pic" sz="quarter" idx="10" hasCustomPrompt="1"/>
          </p:nvPr>
        </p:nvSpPr>
        <p:spPr bwMode="auto">
          <a:xfrm>
            <a:off x="6792000" y="395288"/>
            <a:ext cx="5400000" cy="5400000"/>
          </a:xfrm>
        </p:spPr>
        <p:txBody>
          <a:bodyPr anchor="ctr" anchorCtr="0"/>
          <a:lstStyle>
            <a:lvl1pPr>
              <a:defRPr/>
            </a:lvl1pPr>
          </a:lstStyle>
          <a:p>
            <a:pPr>
              <a:defRPr/>
            </a:pPr>
            <a:r>
              <a:rPr lang="ru-RU"/>
              <a:t>Иконка задачи</a:t>
            </a:r>
            <a:endParaRPr/>
          </a:p>
        </p:txBody>
      </p:sp>
      <p:sp>
        <p:nvSpPr>
          <p:cNvPr id="880295750" name="Заголовок 1"/>
          <p:cNvSpPr>
            <a:spLocks noGrp="1"/>
          </p:cNvSpPr>
          <p:nvPr>
            <p:ph type="ctrTitle" hasCustomPrompt="1"/>
          </p:nvPr>
        </p:nvSpPr>
        <p:spPr bwMode="auto">
          <a:xfrm>
            <a:off x="0" y="4323440"/>
            <a:ext cx="8930641" cy="827011"/>
          </a:xfrm>
          <a:prstGeom prst="rect">
            <a:avLst/>
          </a:prstGeom>
          <a:noFill/>
        </p:spPr>
        <p:txBody>
          <a:bodyPr anchor="ctr" anchorCtr="0"/>
          <a:lstStyle>
            <a:lvl1pPr marL="0" indent="712788" algn="l">
              <a:defRPr sz="2800">
                <a:solidFill>
                  <a:schemeClr val="bg1">
                    <a:lumMod val="95000"/>
                  </a:schemeClr>
                </a:solidFill>
              </a:defRPr>
            </a:lvl1pPr>
          </a:lstStyle>
          <a:p>
            <a:pPr>
              <a:defRPr/>
            </a:pPr>
            <a:r>
              <a:rPr lang="ru-RU"/>
              <a:t>НАЗВАНИЕ КОМАНДЫ</a:t>
            </a:r>
            <a:endParaRPr/>
          </a:p>
        </p:txBody>
      </p:sp>
      <p:sp>
        <p:nvSpPr>
          <p:cNvPr id="401620835" name="Рисунок 41"/>
          <p:cNvSpPr>
            <a:spLocks noGrp="1"/>
          </p:cNvSpPr>
          <p:nvPr>
            <p:ph type="pic" sz="quarter" idx="11" hasCustomPrompt="1"/>
          </p:nvPr>
        </p:nvSpPr>
        <p:spPr bwMode="auto">
          <a:xfrm>
            <a:off x="802640" y="2911980"/>
            <a:ext cx="3386773" cy="1082589"/>
          </a:xfrm>
        </p:spPr>
        <p:txBody>
          <a:bodyPr anchor="ctr" anchorCtr="0"/>
          <a:lstStyle>
            <a:lvl1pPr>
              <a:defRPr/>
            </a:lvl1pPr>
          </a:lstStyle>
          <a:p>
            <a:pPr>
              <a:defRPr/>
            </a:pPr>
            <a:r>
              <a:rPr lang="ru-RU"/>
              <a:t>Логотип/логотипы постановщика задачи</a:t>
            </a:r>
            <a:endParaRPr/>
          </a:p>
        </p:txBody>
      </p:sp>
      <p:sp>
        <p:nvSpPr>
          <p:cNvPr id="602869623" name="Текст 4"/>
          <p:cNvSpPr>
            <a:spLocks noGrp="1"/>
          </p:cNvSpPr>
          <p:nvPr>
            <p:ph type="body" sz="quarter" idx="12" hasCustomPrompt="1"/>
          </p:nvPr>
        </p:nvSpPr>
        <p:spPr bwMode="auto">
          <a:xfrm>
            <a:off x="0" y="5149851"/>
            <a:ext cx="8930641" cy="757174"/>
          </a:xfrm>
          <a:prstGeom prst="rect">
            <a:avLst/>
          </a:prstGeom>
          <a:noFill/>
        </p:spPr>
        <p:txBody>
          <a:bodyPr>
            <a:normAutofit/>
          </a:bodyPr>
          <a:lstStyle>
            <a:lvl1pPr marL="0" indent="712788">
              <a:buNone/>
              <a:defRPr sz="1800"/>
            </a:lvl1pPr>
          </a:lstStyle>
          <a:p>
            <a:pPr>
              <a:defRPr/>
            </a:pPr>
            <a:r>
              <a:rPr lang="ru-RU" sz="1600" b="0"/>
              <a:t>Номер и название задачи</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Описание команды">
    <p:spTree>
      <p:nvGrpSpPr>
        <p:cNvPr id="1" name=""/>
        <p:cNvGrpSpPr/>
        <p:nvPr/>
      </p:nvGrpSpPr>
      <p:grpSpPr bwMode="auto">
        <a:xfrm>
          <a:off x="0" y="0"/>
          <a:ext cx="0" cy="0"/>
          <a:chOff x="0" y="0"/>
          <a:chExt cx="0" cy="0"/>
        </a:xfrm>
      </p:grpSpPr>
      <p:sp>
        <p:nvSpPr>
          <p:cNvPr id="1897076004" name="Рисунок 10"/>
          <p:cNvSpPr>
            <a:spLocks noGrp="1"/>
          </p:cNvSpPr>
          <p:nvPr>
            <p:ph type="pic" sz="quarter" idx="10" hasCustomPrompt="1"/>
          </p:nvPr>
        </p:nvSpPr>
        <p:spPr bwMode="auto">
          <a:xfrm>
            <a:off x="6894095" y="1044081"/>
            <a:ext cx="4962943" cy="2221824"/>
          </a:xfrm>
        </p:spPr>
        <p:txBody>
          <a:bodyPr anchor="ctr" anchorCtr="0"/>
          <a:lstStyle>
            <a:lvl1pPr>
              <a:defRPr/>
            </a:lvl1pPr>
          </a:lstStyle>
          <a:p>
            <a:pPr>
              <a:defRPr/>
            </a:pPr>
            <a:r>
              <a:rPr lang="ru-RU"/>
              <a:t>Фото команды</a:t>
            </a:r>
            <a:endParaRPr/>
          </a:p>
        </p:txBody>
      </p:sp>
      <p:sp>
        <p:nvSpPr>
          <p:cNvPr id="1666356196" name="Заголовок 1"/>
          <p:cNvSpPr>
            <a:spLocks noGrp="1"/>
          </p:cNvSpPr>
          <p:nvPr>
            <p:ph type="title" hasCustomPrompt="1"/>
          </p:nvPr>
        </p:nvSpPr>
        <p:spPr bwMode="auto">
          <a:xfrm>
            <a:off x="346075" y="395288"/>
            <a:ext cx="11244772" cy="376138"/>
          </a:xfrm>
          <a:prstGeom prst="rect">
            <a:avLst/>
          </a:prstGeom>
        </p:spPr>
        <p:txBody>
          <a:bodyPr vert="horz" lIns="91440" tIns="45720" rIns="91440" bIns="45720" rtlCol="0" anchor="b" anchorCtr="0">
            <a:noAutofit/>
          </a:bodyPr>
          <a:lstStyle>
            <a:lvl1pPr>
              <a:defRPr/>
            </a:lvl1pPr>
          </a:lstStyle>
          <a:p>
            <a:pPr>
              <a:defRPr/>
            </a:pPr>
            <a:r>
              <a:rPr lang="ru-RU"/>
              <a:t>КОМАНДА «НАЗВАНИЕ»</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Команда">
    <p:spTree>
      <p:nvGrpSpPr>
        <p:cNvPr id="1" name=""/>
        <p:cNvGrpSpPr/>
        <p:nvPr/>
      </p:nvGrpSpPr>
      <p:grpSpPr bwMode="auto">
        <a:xfrm>
          <a:off x="0" y="0"/>
          <a:ext cx="0" cy="0"/>
          <a:chOff x="0" y="0"/>
          <a:chExt cx="0" cy="0"/>
        </a:xfrm>
      </p:grpSpPr>
      <p:sp>
        <p:nvSpPr>
          <p:cNvPr id="705223789"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67EB9651-F031-4963-AFE9-33BCC0E88757}" type="datetime1">
              <a:rPr lang="ru-RU"/>
              <a:t>16.09.2026</a:t>
            </a:fld>
            <a:endParaRPr lang="ru-RU"/>
          </a:p>
        </p:txBody>
      </p:sp>
      <p:sp>
        <p:nvSpPr>
          <p:cNvPr id="1048786552"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1993809064"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4</a:t>
            </a:fld>
            <a:endParaRPr lang="ru-RU"/>
          </a:p>
        </p:txBody>
      </p:sp>
      <p:sp>
        <p:nvSpPr>
          <p:cNvPr id="1927366780" name="Заголовок 1"/>
          <p:cNvSpPr>
            <a:spLocks noGrp="1"/>
          </p:cNvSpPr>
          <p:nvPr>
            <p:ph type="title" hasCustomPrompt="1"/>
          </p:nvPr>
        </p:nvSpPr>
        <p:spPr bwMode="auto">
          <a:xfrm>
            <a:off x="346075" y="395288"/>
            <a:ext cx="11244772" cy="376138"/>
          </a:xfrm>
          <a:prstGeom prst="rect">
            <a:avLst/>
          </a:prstGeom>
        </p:spPr>
        <p:txBody>
          <a:bodyPr vert="horz" lIns="91440" tIns="45720" rIns="91440" bIns="45720" rtlCol="0" anchor="b" anchorCtr="0">
            <a:noAutofit/>
          </a:bodyPr>
          <a:lstStyle>
            <a:lvl1pPr>
              <a:defRPr/>
            </a:lvl1pPr>
          </a:lstStyle>
          <a:p>
            <a:pPr>
              <a:defRPr/>
            </a:pPr>
            <a:r>
              <a:rPr lang="ru-RU"/>
              <a:t>КОМАНДА «НАЗВАНИЕ»</a:t>
            </a:r>
            <a:endParaRPr/>
          </a:p>
        </p:txBody>
      </p:sp>
      <p:sp>
        <p:nvSpPr>
          <p:cNvPr id="1795973529" name="Текст 35"/>
          <p:cNvSpPr>
            <a:spLocks noGrp="1"/>
          </p:cNvSpPr>
          <p:nvPr>
            <p:ph type="body" sz="quarter" idx="27" hasCustomPrompt="1"/>
          </p:nvPr>
        </p:nvSpPr>
        <p:spPr bwMode="auto">
          <a:xfrm>
            <a:off x="806323" y="4192124"/>
            <a:ext cx="1843581" cy="1576498"/>
          </a:xfrm>
          <a:prstGeom prst="rect">
            <a:avLst/>
          </a:prstGeom>
          <a:ln>
            <a:noFill/>
          </a:ln>
        </p:spPr>
        <p:txBody>
          <a:bodyPr>
            <a:normAutofit/>
          </a:bodyPr>
          <a:lstStyle>
            <a:lvl1pPr marL="144688" indent="-144688">
              <a:buClr>
                <a:schemeClr val="accent1"/>
              </a:buClr>
              <a:buFont typeface="Wingdings"/>
              <a:buChar char="§"/>
              <a:defRPr sz="1400"/>
            </a:lvl1pPr>
          </a:lstStyle>
          <a:p>
            <a:pPr lvl="0">
              <a:defRPr/>
            </a:pPr>
            <a:r>
              <a:rPr lang="ru-RU"/>
              <a:t>Роль в команде</a:t>
            </a:r>
            <a:endParaRPr/>
          </a:p>
          <a:p>
            <a:pPr lvl="0">
              <a:defRPr/>
            </a:pPr>
            <a:r>
              <a:rPr lang="en-US"/>
              <a:t>Telegram</a:t>
            </a:r>
            <a:endParaRPr/>
          </a:p>
          <a:p>
            <a:pPr lvl="0">
              <a:defRPr/>
            </a:pPr>
            <a:r>
              <a:rPr lang="ru-RU"/>
              <a:t>Номер</a:t>
            </a:r>
            <a:endParaRPr/>
          </a:p>
        </p:txBody>
      </p:sp>
      <p:sp>
        <p:nvSpPr>
          <p:cNvPr id="1913937985" name="Текст 35"/>
          <p:cNvSpPr>
            <a:spLocks noGrp="1"/>
          </p:cNvSpPr>
          <p:nvPr>
            <p:ph type="body" sz="quarter" idx="33" hasCustomPrompt="1"/>
          </p:nvPr>
        </p:nvSpPr>
        <p:spPr bwMode="auto">
          <a:xfrm>
            <a:off x="3014568" y="4192124"/>
            <a:ext cx="1843581" cy="1576498"/>
          </a:xfrm>
          <a:prstGeom prst="rect">
            <a:avLst/>
          </a:prstGeom>
          <a:ln>
            <a:noFill/>
          </a:ln>
        </p:spPr>
        <p:txBody>
          <a:bodyPr>
            <a:normAutofit/>
          </a:bodyPr>
          <a:lstStyle>
            <a:lvl1pPr marL="144688" indent="-144688">
              <a:buClr>
                <a:schemeClr val="accent1"/>
              </a:buClr>
              <a:buFont typeface="Wingdings"/>
              <a:buChar char="§"/>
              <a:defRPr sz="1400"/>
            </a:lvl1pPr>
          </a:lstStyle>
          <a:p>
            <a:pPr lvl="0">
              <a:defRPr/>
            </a:pPr>
            <a:r>
              <a:rPr lang="ru-RU"/>
              <a:t>Роль в команде</a:t>
            </a:r>
            <a:endParaRPr/>
          </a:p>
          <a:p>
            <a:pPr lvl="0">
              <a:defRPr/>
            </a:pPr>
            <a:r>
              <a:rPr lang="en-US"/>
              <a:t>Telegram</a:t>
            </a:r>
            <a:endParaRPr/>
          </a:p>
          <a:p>
            <a:pPr lvl="0">
              <a:defRPr/>
            </a:pPr>
            <a:r>
              <a:rPr lang="ru-RU"/>
              <a:t>Номер</a:t>
            </a:r>
            <a:endParaRPr/>
          </a:p>
        </p:txBody>
      </p:sp>
      <p:sp>
        <p:nvSpPr>
          <p:cNvPr id="11548332" name="Текст 35"/>
          <p:cNvSpPr>
            <a:spLocks noGrp="1"/>
          </p:cNvSpPr>
          <p:nvPr>
            <p:ph type="body" sz="quarter" idx="35" hasCustomPrompt="1"/>
          </p:nvPr>
        </p:nvSpPr>
        <p:spPr bwMode="auto">
          <a:xfrm>
            <a:off x="5191192" y="4192124"/>
            <a:ext cx="1843581" cy="1576498"/>
          </a:xfrm>
          <a:prstGeom prst="rect">
            <a:avLst/>
          </a:prstGeom>
          <a:ln>
            <a:noFill/>
          </a:ln>
        </p:spPr>
        <p:txBody>
          <a:bodyPr>
            <a:normAutofit/>
          </a:bodyPr>
          <a:lstStyle>
            <a:lvl1pPr marL="144688" indent="-144688">
              <a:buClr>
                <a:schemeClr val="accent1"/>
              </a:buClr>
              <a:buFont typeface="Wingdings"/>
              <a:buChar char="§"/>
              <a:defRPr sz="1400"/>
            </a:lvl1pPr>
          </a:lstStyle>
          <a:p>
            <a:pPr lvl="0">
              <a:defRPr/>
            </a:pPr>
            <a:r>
              <a:rPr lang="ru-RU"/>
              <a:t>Роль в команде</a:t>
            </a:r>
            <a:endParaRPr/>
          </a:p>
          <a:p>
            <a:pPr lvl="0">
              <a:defRPr/>
            </a:pPr>
            <a:r>
              <a:rPr lang="en-US"/>
              <a:t>Telegram</a:t>
            </a:r>
            <a:endParaRPr/>
          </a:p>
          <a:p>
            <a:pPr lvl="0">
              <a:defRPr/>
            </a:pPr>
            <a:r>
              <a:rPr lang="ru-RU"/>
              <a:t>Номер</a:t>
            </a:r>
            <a:endParaRPr/>
          </a:p>
        </p:txBody>
      </p:sp>
      <p:sp>
        <p:nvSpPr>
          <p:cNvPr id="2000063644" name="Текст 35"/>
          <p:cNvSpPr>
            <a:spLocks noGrp="1"/>
          </p:cNvSpPr>
          <p:nvPr>
            <p:ph type="body" sz="quarter" idx="37" hasCustomPrompt="1"/>
          </p:nvPr>
        </p:nvSpPr>
        <p:spPr bwMode="auto">
          <a:xfrm>
            <a:off x="7366644" y="4192124"/>
            <a:ext cx="1843581" cy="1576498"/>
          </a:xfrm>
          <a:prstGeom prst="rect">
            <a:avLst/>
          </a:prstGeom>
          <a:ln>
            <a:noFill/>
          </a:ln>
        </p:spPr>
        <p:txBody>
          <a:bodyPr>
            <a:normAutofit/>
          </a:bodyPr>
          <a:lstStyle>
            <a:lvl1pPr marL="144688" indent="-144688">
              <a:buClr>
                <a:schemeClr val="accent1"/>
              </a:buClr>
              <a:buFont typeface="Wingdings"/>
              <a:buChar char="§"/>
              <a:defRPr sz="1400"/>
            </a:lvl1pPr>
          </a:lstStyle>
          <a:p>
            <a:pPr lvl="0">
              <a:defRPr/>
            </a:pPr>
            <a:r>
              <a:rPr lang="ru-RU"/>
              <a:t>Роль в команде</a:t>
            </a:r>
            <a:endParaRPr/>
          </a:p>
          <a:p>
            <a:pPr lvl="0">
              <a:defRPr/>
            </a:pPr>
            <a:r>
              <a:rPr lang="en-US"/>
              <a:t>Telegram</a:t>
            </a:r>
            <a:endParaRPr/>
          </a:p>
          <a:p>
            <a:pPr lvl="0">
              <a:defRPr/>
            </a:pPr>
            <a:r>
              <a:rPr lang="ru-RU"/>
              <a:t>Номер</a:t>
            </a:r>
            <a:endParaRPr/>
          </a:p>
        </p:txBody>
      </p:sp>
      <p:sp>
        <p:nvSpPr>
          <p:cNvPr id="660029963" name="Текст 35"/>
          <p:cNvSpPr>
            <a:spLocks noGrp="1"/>
          </p:cNvSpPr>
          <p:nvPr>
            <p:ph type="body" sz="quarter" idx="39" hasCustomPrompt="1"/>
          </p:nvPr>
        </p:nvSpPr>
        <p:spPr bwMode="auto">
          <a:xfrm>
            <a:off x="9542096" y="4192124"/>
            <a:ext cx="1843581" cy="1576498"/>
          </a:xfrm>
          <a:prstGeom prst="rect">
            <a:avLst/>
          </a:prstGeom>
          <a:ln>
            <a:noFill/>
          </a:ln>
        </p:spPr>
        <p:txBody>
          <a:bodyPr>
            <a:normAutofit/>
          </a:bodyPr>
          <a:lstStyle>
            <a:lvl1pPr marL="144688" indent="-144688">
              <a:buClr>
                <a:schemeClr val="accent1"/>
              </a:buClr>
              <a:buFont typeface="Wingdings"/>
              <a:buChar char="§"/>
              <a:defRPr sz="1400"/>
            </a:lvl1pPr>
          </a:lstStyle>
          <a:p>
            <a:pPr lvl="0">
              <a:defRPr/>
            </a:pPr>
            <a:r>
              <a:rPr lang="ru-RU"/>
              <a:t>Роль в команде</a:t>
            </a:r>
            <a:endParaRPr/>
          </a:p>
          <a:p>
            <a:pPr lvl="0">
              <a:defRPr/>
            </a:pPr>
            <a:r>
              <a:rPr lang="en-US"/>
              <a:t>Telegram</a:t>
            </a:r>
            <a:endParaRPr/>
          </a:p>
          <a:p>
            <a:pPr lvl="0">
              <a:defRPr/>
            </a:pPr>
            <a:r>
              <a:rPr lang="ru-RU"/>
              <a:t>Номер</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Пустой с заголовком">
    <p:spTree>
      <p:nvGrpSpPr>
        <p:cNvPr id="1" name=""/>
        <p:cNvGrpSpPr/>
        <p:nvPr/>
      </p:nvGrpSpPr>
      <p:grpSpPr bwMode="auto">
        <a:xfrm>
          <a:off x="0" y="0"/>
          <a:ext cx="0" cy="0"/>
          <a:chOff x="0" y="0"/>
          <a:chExt cx="0" cy="0"/>
        </a:xfrm>
      </p:grpSpPr>
      <p:sp>
        <p:nvSpPr>
          <p:cNvPr id="1458560272"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1021F813-DBA1-42EC-A748-A9CC16659E6B}" type="datetime1">
              <a:rPr lang="ru-RU"/>
              <a:t>16.09.2026</a:t>
            </a:fld>
            <a:endParaRPr lang="ru-RU"/>
          </a:p>
        </p:txBody>
      </p:sp>
      <p:sp>
        <p:nvSpPr>
          <p:cNvPr id="1123256481"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707451837"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5</a:t>
            </a:fld>
            <a:endParaRPr lang="ru-RU"/>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Заголовок и объект">
    <p:spTree>
      <p:nvGrpSpPr>
        <p:cNvPr id="1" name=""/>
        <p:cNvGrpSpPr/>
        <p:nvPr/>
      </p:nvGrpSpPr>
      <p:grpSpPr bwMode="auto">
        <a:xfrm>
          <a:off x="0" y="0"/>
          <a:ext cx="0" cy="0"/>
          <a:chOff x="0" y="0"/>
          <a:chExt cx="0" cy="0"/>
        </a:xfrm>
      </p:grpSpPr>
      <p:sp>
        <p:nvSpPr>
          <p:cNvPr id="881669326" name="Текст 2"/>
          <p:cNvSpPr>
            <a:spLocks noGrp="1"/>
          </p:cNvSpPr>
          <p:nvPr>
            <p:ph idx="1"/>
          </p:nvPr>
        </p:nvSpPr>
        <p:spPr bwMode="auto">
          <a:xfrm>
            <a:off x="315392" y="1016177"/>
            <a:ext cx="11561229" cy="5160793"/>
          </a:xfrm>
          <a:prstGeom prst="rect">
            <a:avLst/>
          </a:prstGeom>
        </p:spPr>
        <p:txBody>
          <a:bodyPr vert="horz" lIns="91440" tIns="45720" rIns="91440" bIns="45720" rtlCol="0">
            <a:normAutofit/>
          </a:bodyPr>
          <a:lstStyle>
            <a:lvl1pPr>
              <a:defRPr>
                <a:solidFill>
                  <a:schemeClr val="bg1">
                    <a:lumMod val="95000"/>
                  </a:schemeClr>
                </a:solidFill>
              </a:defRPr>
            </a:lvl1pPr>
            <a:lvl2pPr>
              <a:defRPr>
                <a:solidFill>
                  <a:schemeClr val="bg1">
                    <a:lumMod val="95000"/>
                  </a:schemeClr>
                </a:solidFill>
              </a:defRPr>
            </a:lvl2pPr>
            <a:lvl3pPr>
              <a:defRPr>
                <a:solidFill>
                  <a:schemeClr val="bg1">
                    <a:lumMod val="95000"/>
                  </a:schemeClr>
                </a:solidFill>
              </a:defRPr>
            </a:lvl3pPr>
            <a:lvl4pPr>
              <a:defRPr>
                <a:solidFill>
                  <a:schemeClr val="bg1">
                    <a:lumMod val="95000"/>
                  </a:schemeClr>
                </a:solidFill>
              </a:defRPr>
            </a:lvl4pPr>
            <a:lvl5pPr>
              <a:defRPr>
                <a:solidFill>
                  <a:schemeClr val="bg1">
                    <a:lumMod val="95000"/>
                  </a:schemeClr>
                </a:solidFill>
              </a:defRPr>
            </a:lvl5p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712371166"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7DE2642A-6018-4CC1-81AB-5FD8D2782D4F}" type="datetime1">
              <a:rPr lang="ru-RU"/>
              <a:t>16.09.2026</a:t>
            </a:fld>
            <a:endParaRPr lang="ru-RU"/>
          </a:p>
        </p:txBody>
      </p:sp>
      <p:sp>
        <p:nvSpPr>
          <p:cNvPr id="1858665391"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1410582817"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454463469" name="Заголовок 1"/>
          <p:cNvSpPr>
            <a:spLocks noGrp="1"/>
          </p:cNvSpPr>
          <p:nvPr>
            <p:ph type="title"/>
          </p:nvPr>
        </p:nvSpPr>
        <p:spPr bwMode="auto">
          <a:xfrm>
            <a:off x="346075" y="421226"/>
            <a:ext cx="9862734" cy="376138"/>
          </a:xfrm>
          <a:prstGeom prst="rect">
            <a:avLst/>
          </a:prstGeom>
        </p:spPr>
        <p:txBody>
          <a:bodyPr vert="horz" lIns="91440" tIns="45720" rIns="91440" bIns="45720" rtlCol="0" anchor="b" anchorCtr="0">
            <a:noAutofit/>
          </a:bodyPr>
          <a:lstStyle>
            <a:lvl1pPr>
              <a:defRPr>
                <a:solidFill>
                  <a:schemeClr val="bg1">
                    <a:lumMod val="95000"/>
                  </a:schemeClr>
                </a:solidFill>
              </a:defRPr>
            </a:lvl1pPr>
          </a:lstStyle>
          <a:p>
            <a:pPr>
              <a:defRPr/>
            </a:pPr>
            <a:r>
              <a:rPr lang="ru-RU"/>
              <a:t>ОБРАЗЕЦ ЗАГОЛОВКА</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Два объекта">
    <p:spTree>
      <p:nvGrpSpPr>
        <p:cNvPr id="1" name=""/>
        <p:cNvGrpSpPr/>
        <p:nvPr/>
      </p:nvGrpSpPr>
      <p:grpSpPr bwMode="auto">
        <a:xfrm>
          <a:off x="0" y="0"/>
          <a:ext cx="0" cy="0"/>
          <a:chOff x="0" y="0"/>
          <a:chExt cx="0" cy="0"/>
        </a:xfrm>
      </p:grpSpPr>
      <p:sp>
        <p:nvSpPr>
          <p:cNvPr id="1768536032" name="Объект 2"/>
          <p:cNvSpPr>
            <a:spLocks noGrp="1"/>
          </p:cNvSpPr>
          <p:nvPr>
            <p:ph sz="half" idx="1"/>
          </p:nvPr>
        </p:nvSpPr>
        <p:spPr bwMode="auto">
          <a:xfrm>
            <a:off x="315387" y="1016001"/>
            <a:ext cx="5704418" cy="5184774"/>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042926064" name="Объект 3"/>
          <p:cNvSpPr>
            <a:spLocks noGrp="1"/>
          </p:cNvSpPr>
          <p:nvPr>
            <p:ph sz="half" idx="2"/>
          </p:nvPr>
        </p:nvSpPr>
        <p:spPr bwMode="auto">
          <a:xfrm>
            <a:off x="6172206" y="1016001"/>
            <a:ext cx="5670472" cy="5184774"/>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889770961" name="Дата 3"/>
          <p:cNvSpPr>
            <a:spLocks noGrp="1"/>
          </p:cNvSpPr>
          <p:nvPr>
            <p:ph type="dt" sz="half" idx="10"/>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43014BBE-C503-4380-A869-5EE8294FE947}" type="datetime1">
              <a:rPr lang="ru-RU"/>
              <a:t>16.09.2026</a:t>
            </a:fld>
            <a:endParaRPr lang="ru-RU"/>
          </a:p>
        </p:txBody>
      </p:sp>
      <p:sp>
        <p:nvSpPr>
          <p:cNvPr id="1213391983"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837774908"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919287558" name="Заголовок 1"/>
          <p:cNvSpPr>
            <a:spLocks noGrp="1"/>
          </p:cNvSpPr>
          <p:nvPr>
            <p:ph type="title"/>
          </p:nvPr>
        </p:nvSpPr>
        <p:spPr bwMode="auto">
          <a:xfrm>
            <a:off x="346075"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Сравнение">
    <p:spTree>
      <p:nvGrpSpPr>
        <p:cNvPr id="1" name=""/>
        <p:cNvGrpSpPr/>
        <p:nvPr/>
      </p:nvGrpSpPr>
      <p:grpSpPr bwMode="auto">
        <a:xfrm>
          <a:off x="0" y="0"/>
          <a:ext cx="0" cy="0"/>
          <a:chOff x="0" y="0"/>
          <a:chExt cx="0" cy="0"/>
        </a:xfrm>
      </p:grpSpPr>
      <p:sp>
        <p:nvSpPr>
          <p:cNvPr id="1318555898" name="Текст 2"/>
          <p:cNvSpPr>
            <a:spLocks noGrp="1"/>
          </p:cNvSpPr>
          <p:nvPr>
            <p:ph type="body" idx="1"/>
          </p:nvPr>
        </p:nvSpPr>
        <p:spPr bwMode="auto">
          <a:xfrm>
            <a:off x="315386" y="1015427"/>
            <a:ext cx="5682193" cy="365125"/>
          </a:xfrm>
        </p:spPr>
        <p:txBody>
          <a:bodyPr anchor="b">
            <a:normAutofit/>
          </a:bodyPr>
          <a:lstStyle>
            <a:lvl1pPr marL="0" indent="0">
              <a:buNone/>
              <a:defRPr sz="1400" b="1"/>
            </a:lvl1pPr>
            <a:lvl2pPr marL="289378" indent="0">
              <a:buNone/>
              <a:defRPr sz="1250" b="1"/>
            </a:lvl2pPr>
            <a:lvl3pPr marL="578755" indent="0">
              <a:buNone/>
              <a:defRPr sz="1150" b="1"/>
            </a:lvl3pPr>
            <a:lvl4pPr marL="868132" indent="0">
              <a:buNone/>
              <a:defRPr sz="1000" b="1"/>
            </a:lvl4pPr>
            <a:lvl5pPr marL="1157510" indent="0">
              <a:buNone/>
              <a:defRPr sz="1000" b="1"/>
            </a:lvl5pPr>
            <a:lvl6pPr marL="1446887" indent="0">
              <a:buNone/>
              <a:defRPr sz="1000" b="1"/>
            </a:lvl6pPr>
            <a:lvl7pPr marL="1736266" indent="0">
              <a:buNone/>
              <a:defRPr sz="1000" b="1"/>
            </a:lvl7pPr>
            <a:lvl8pPr marL="2025644" indent="0">
              <a:buNone/>
              <a:defRPr sz="1000" b="1"/>
            </a:lvl8pPr>
            <a:lvl9pPr marL="2315021" indent="0">
              <a:buNone/>
              <a:defRPr sz="1000" b="1"/>
            </a:lvl9pPr>
          </a:lstStyle>
          <a:p>
            <a:pPr lvl="0">
              <a:defRPr/>
            </a:pPr>
            <a:r>
              <a:rPr lang="ru-RU"/>
              <a:t>Образец текста</a:t>
            </a:r>
            <a:endParaRPr/>
          </a:p>
        </p:txBody>
      </p:sp>
      <p:sp>
        <p:nvSpPr>
          <p:cNvPr id="2017223496" name="Объект 3"/>
          <p:cNvSpPr>
            <a:spLocks noGrp="1"/>
          </p:cNvSpPr>
          <p:nvPr>
            <p:ph sz="half" idx="2"/>
          </p:nvPr>
        </p:nvSpPr>
        <p:spPr bwMode="auto">
          <a:xfrm>
            <a:off x="349334" y="1598615"/>
            <a:ext cx="5648250" cy="4602160"/>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ru-RU"/>
          </a:p>
        </p:txBody>
      </p:sp>
      <p:sp>
        <p:nvSpPr>
          <p:cNvPr id="731636676" name="Текст 4"/>
          <p:cNvSpPr>
            <a:spLocks noGrp="1"/>
          </p:cNvSpPr>
          <p:nvPr>
            <p:ph type="body" sz="quarter" idx="3"/>
          </p:nvPr>
        </p:nvSpPr>
        <p:spPr bwMode="auto">
          <a:xfrm>
            <a:off x="6172205" y="1015427"/>
            <a:ext cx="5684841" cy="365125"/>
          </a:xfrm>
        </p:spPr>
        <p:txBody>
          <a:bodyPr anchor="b">
            <a:normAutofit/>
          </a:bodyPr>
          <a:lstStyle>
            <a:lvl1pPr marL="0" indent="0">
              <a:buNone/>
              <a:defRPr sz="1400" b="1"/>
            </a:lvl1pPr>
            <a:lvl2pPr marL="289378" indent="0">
              <a:buNone/>
              <a:defRPr sz="1250" b="1"/>
            </a:lvl2pPr>
            <a:lvl3pPr marL="578755" indent="0">
              <a:buNone/>
              <a:defRPr sz="1150" b="1"/>
            </a:lvl3pPr>
            <a:lvl4pPr marL="868132" indent="0">
              <a:buNone/>
              <a:defRPr sz="1000" b="1"/>
            </a:lvl4pPr>
            <a:lvl5pPr marL="1157510" indent="0">
              <a:buNone/>
              <a:defRPr sz="1000" b="1"/>
            </a:lvl5pPr>
            <a:lvl6pPr marL="1446887" indent="0">
              <a:buNone/>
              <a:defRPr sz="1000" b="1"/>
            </a:lvl6pPr>
            <a:lvl7pPr marL="1736266" indent="0">
              <a:buNone/>
              <a:defRPr sz="1000" b="1"/>
            </a:lvl7pPr>
            <a:lvl8pPr marL="2025644" indent="0">
              <a:buNone/>
              <a:defRPr sz="1000" b="1"/>
            </a:lvl8pPr>
            <a:lvl9pPr marL="2315021" indent="0">
              <a:buNone/>
              <a:defRPr sz="1000" b="1"/>
            </a:lvl9pPr>
          </a:lstStyle>
          <a:p>
            <a:pPr lvl="0">
              <a:defRPr/>
            </a:pPr>
            <a:r>
              <a:rPr lang="ru-RU"/>
              <a:t>Образец текста</a:t>
            </a:r>
            <a:endParaRPr/>
          </a:p>
        </p:txBody>
      </p:sp>
      <p:sp>
        <p:nvSpPr>
          <p:cNvPr id="791712141" name="Объект 5"/>
          <p:cNvSpPr>
            <a:spLocks noGrp="1"/>
          </p:cNvSpPr>
          <p:nvPr>
            <p:ph sz="quarter" idx="4"/>
          </p:nvPr>
        </p:nvSpPr>
        <p:spPr bwMode="auto">
          <a:xfrm>
            <a:off x="6172202" y="1598615"/>
            <a:ext cx="5670472" cy="4602160"/>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72805432" name="Дата 3"/>
          <p:cNvSpPr>
            <a:spLocks noGrp="1"/>
          </p:cNvSpPr>
          <p:nvPr>
            <p:ph type="dt" sz="half" idx="10"/>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0D568497-304A-497F-ADAE-97D3CF462C1C}" type="datetime1">
              <a:rPr lang="ru-RU"/>
              <a:t>16.09.2026</a:t>
            </a:fld>
            <a:endParaRPr lang="ru-RU"/>
          </a:p>
        </p:txBody>
      </p:sp>
      <p:sp>
        <p:nvSpPr>
          <p:cNvPr id="657734324" name="Нижний колонтитул 4"/>
          <p:cNvSpPr>
            <a:spLocks noGrp="1"/>
          </p:cNvSpPr>
          <p:nvPr>
            <p:ph type="ftr" sz="quarter" idx="11"/>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641445009" name="Номер слайда 5"/>
          <p:cNvSpPr>
            <a:spLocks noGrp="1"/>
          </p:cNvSpPr>
          <p:nvPr>
            <p:ph type="sldNum" sz="quarter" idx="12"/>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1291046477" name="Заголовок 1"/>
          <p:cNvSpPr>
            <a:spLocks noGrp="1"/>
          </p:cNvSpPr>
          <p:nvPr>
            <p:ph type="title"/>
          </p:nvPr>
        </p:nvSpPr>
        <p:spPr bwMode="auto">
          <a:xfrm>
            <a:off x="349334"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Пустой слайд">
    <p:spTree>
      <p:nvGrpSpPr>
        <p:cNvPr id="1" name=""/>
        <p:cNvGrpSpPr/>
        <p:nvPr/>
      </p:nvGrpSpPr>
      <p:grpSpPr bwMode="auto">
        <a:xfrm>
          <a:off x="0" y="0"/>
          <a:ext cx="0" cy="0"/>
          <a:chOff x="0" y="0"/>
          <a:chExt cx="0" cy="0"/>
        </a:xfrm>
      </p:grpSpPr>
      <p:sp>
        <p:nvSpPr>
          <p:cNvPr id="1848121395"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92CB240C-04A3-49D4-83F9-87A9C6C414DC}" type="datetime1">
              <a:rPr lang="ru-RU"/>
              <a:t>16.09.2026</a:t>
            </a:fld>
            <a:endParaRPr lang="ru-RU"/>
          </a:p>
        </p:txBody>
      </p:sp>
      <p:sp>
        <p:nvSpPr>
          <p:cNvPr id="1484279738"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1486186759"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Объект с подписью">
    <p:spTree>
      <p:nvGrpSpPr>
        <p:cNvPr id="1" name=""/>
        <p:cNvGrpSpPr/>
        <p:nvPr/>
      </p:nvGrpSpPr>
      <p:grpSpPr bwMode="auto">
        <a:xfrm>
          <a:off x="0" y="0"/>
          <a:ext cx="0" cy="0"/>
          <a:chOff x="0" y="0"/>
          <a:chExt cx="0" cy="0"/>
        </a:xfrm>
      </p:grpSpPr>
      <p:sp>
        <p:nvSpPr>
          <p:cNvPr id="561850110" name="Заголовок 1"/>
          <p:cNvSpPr>
            <a:spLocks noGrp="1"/>
          </p:cNvSpPr>
          <p:nvPr>
            <p:ph type="title" hasCustomPrompt="1"/>
          </p:nvPr>
        </p:nvSpPr>
        <p:spPr bwMode="auto">
          <a:xfrm>
            <a:off x="334966" y="1015999"/>
            <a:ext cx="4437062" cy="1213417"/>
          </a:xfrm>
        </p:spPr>
        <p:txBody>
          <a:bodyPr anchor="b"/>
          <a:lstStyle>
            <a:lvl1pPr>
              <a:defRPr sz="2400"/>
            </a:lvl1pPr>
          </a:lstStyle>
          <a:p>
            <a:pPr>
              <a:defRPr/>
            </a:pPr>
            <a:r>
              <a:rPr lang="ru-RU"/>
              <a:t>ОБРАЗЕЦ ЗАГОЛОВКА</a:t>
            </a:r>
            <a:endParaRPr/>
          </a:p>
        </p:txBody>
      </p:sp>
      <p:sp>
        <p:nvSpPr>
          <p:cNvPr id="975281028" name="Объект 2"/>
          <p:cNvSpPr>
            <a:spLocks noGrp="1"/>
          </p:cNvSpPr>
          <p:nvPr>
            <p:ph idx="1"/>
          </p:nvPr>
        </p:nvSpPr>
        <p:spPr bwMode="auto">
          <a:xfrm>
            <a:off x="5183194" y="1015999"/>
            <a:ext cx="6673847" cy="5049521"/>
          </a:xfrm>
        </p:spPr>
        <p:txBody>
          <a:bodyPr>
            <a:normAutofit/>
          </a:bodyPr>
          <a:lstStyle>
            <a:lvl1pPr>
              <a:defRPr sz="1750"/>
            </a:lvl1pPr>
            <a:lvl2pPr>
              <a:defRPr sz="1500"/>
            </a:lvl2pPr>
            <a:lvl3pPr>
              <a:defRPr sz="1250"/>
            </a:lvl3pPr>
            <a:lvl4pPr>
              <a:defRPr sz="1150"/>
            </a:lvl4pPr>
            <a:lvl5pPr>
              <a:defRPr sz="1150"/>
            </a:lvl5pPr>
            <a:lvl6pPr>
              <a:defRPr sz="1250"/>
            </a:lvl6pPr>
            <a:lvl7pPr>
              <a:defRPr sz="1250"/>
            </a:lvl7pPr>
            <a:lvl8pPr>
              <a:defRPr sz="1250"/>
            </a:lvl8pPr>
            <a:lvl9pPr>
              <a:defRPr sz="1250"/>
            </a:lvl9p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896366570" name="Текст 3"/>
          <p:cNvSpPr>
            <a:spLocks noGrp="1"/>
          </p:cNvSpPr>
          <p:nvPr>
            <p:ph type="body" sz="half" idx="2"/>
          </p:nvPr>
        </p:nvSpPr>
        <p:spPr bwMode="auto">
          <a:xfrm>
            <a:off x="334966" y="2428239"/>
            <a:ext cx="4437062" cy="3637281"/>
          </a:xfrm>
        </p:spPr>
        <p:txBody>
          <a:bodyPr>
            <a:normAutofit/>
          </a:bodyPr>
          <a:lstStyle>
            <a:lvl1pPr marL="0" indent="0">
              <a:buNone/>
              <a:defRPr sz="1400"/>
            </a:lvl1pPr>
            <a:lvl2pPr marL="289378" indent="0">
              <a:buNone/>
              <a:defRPr sz="900"/>
            </a:lvl2pPr>
            <a:lvl3pPr marL="578755" indent="0">
              <a:buNone/>
              <a:defRPr sz="750"/>
            </a:lvl3pPr>
            <a:lvl4pPr marL="868132" indent="0">
              <a:buNone/>
              <a:defRPr sz="650"/>
            </a:lvl4pPr>
            <a:lvl5pPr marL="1157510" indent="0">
              <a:buNone/>
              <a:defRPr sz="650"/>
            </a:lvl5pPr>
            <a:lvl6pPr marL="1446887" indent="0">
              <a:buNone/>
              <a:defRPr sz="650"/>
            </a:lvl6pPr>
            <a:lvl7pPr marL="1736266" indent="0">
              <a:buNone/>
              <a:defRPr sz="650"/>
            </a:lvl7pPr>
            <a:lvl8pPr marL="2025644" indent="0">
              <a:buNone/>
              <a:defRPr sz="650"/>
            </a:lvl8pPr>
            <a:lvl9pPr marL="2315021" indent="0">
              <a:buNone/>
              <a:defRPr sz="650"/>
            </a:lvl9pPr>
          </a:lstStyle>
          <a:p>
            <a:pPr lvl="0">
              <a:defRPr/>
            </a:pPr>
            <a:r>
              <a:rPr lang="ru-RU"/>
              <a:t>Образец текста</a:t>
            </a:r>
            <a:endParaRPr/>
          </a:p>
        </p:txBody>
      </p:sp>
      <p:sp>
        <p:nvSpPr>
          <p:cNvPr id="1376611987" name="Дата 3"/>
          <p:cNvSpPr>
            <a:spLocks noGrp="1"/>
          </p:cNvSpPr>
          <p:nvPr>
            <p:ph type="dt" sz="half" idx="10"/>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DE74468B-3512-454B-AB51-7AE95604D39E}" type="datetime1">
              <a:rPr lang="ru-RU"/>
              <a:t>16.09.2026</a:t>
            </a:fld>
            <a:endParaRPr lang="ru-RU"/>
          </a:p>
        </p:txBody>
      </p:sp>
      <p:sp>
        <p:nvSpPr>
          <p:cNvPr id="1556152487"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914589556"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Рисунок с подписью">
    <p:spTree>
      <p:nvGrpSpPr>
        <p:cNvPr id="1" name=""/>
        <p:cNvGrpSpPr/>
        <p:nvPr/>
      </p:nvGrpSpPr>
      <p:grpSpPr bwMode="auto">
        <a:xfrm>
          <a:off x="0" y="0"/>
          <a:ext cx="0" cy="0"/>
          <a:chOff x="0" y="0"/>
          <a:chExt cx="0" cy="0"/>
        </a:xfrm>
      </p:grpSpPr>
      <p:sp>
        <p:nvSpPr>
          <p:cNvPr id="136801652" name="Дата 4"/>
          <p:cNvSpPr>
            <a:spLocks noGrp="1"/>
          </p:cNvSpPr>
          <p:nvPr>
            <p:ph type="dt" sz="half" idx="10"/>
          </p:nvPr>
        </p:nvSpPr>
        <p:spPr bwMode="auto"/>
        <p:txBody>
          <a:bodyPr/>
          <a:lstStyle/>
          <a:p>
            <a:pPr>
              <a:defRPr/>
            </a:pPr>
            <a:fld id="{ABAB2196-A440-4E25-B9FF-D0ADB01B1A15}" type="datetime1">
              <a:rPr lang="ru-RU"/>
              <a:t>16.09.2026</a:t>
            </a:fld>
            <a:endParaRPr lang="ru-RU"/>
          </a:p>
        </p:txBody>
      </p:sp>
      <p:sp>
        <p:nvSpPr>
          <p:cNvPr id="2075348248" name="Нижний колонтитул 5"/>
          <p:cNvSpPr>
            <a:spLocks noGrp="1"/>
          </p:cNvSpPr>
          <p:nvPr>
            <p:ph type="ftr" sz="quarter" idx="11"/>
          </p:nvPr>
        </p:nvSpPr>
        <p:spPr bwMode="auto"/>
        <p:txBody>
          <a:bodyPr/>
          <a:lstStyle/>
          <a:p>
            <a:pPr>
              <a:defRPr/>
            </a:pPr>
            <a:endParaRPr lang="ru-RU"/>
          </a:p>
        </p:txBody>
      </p:sp>
      <p:sp>
        <p:nvSpPr>
          <p:cNvPr id="1519872225" name="Заголовок 1"/>
          <p:cNvSpPr>
            <a:spLocks noGrp="1"/>
          </p:cNvSpPr>
          <p:nvPr>
            <p:ph type="ctrTitle" hasCustomPrompt="1"/>
          </p:nvPr>
        </p:nvSpPr>
        <p:spPr bwMode="auto">
          <a:xfrm>
            <a:off x="802640" y="3922529"/>
            <a:ext cx="5293359" cy="1654542"/>
          </a:xfrm>
        </p:spPr>
        <p:txBody>
          <a:bodyPr anchor="ctr" anchorCtr="0"/>
          <a:lstStyle>
            <a:lvl1pPr algn="l">
              <a:defRPr sz="2800">
                <a:solidFill>
                  <a:schemeClr val="bg1">
                    <a:lumMod val="95000"/>
                  </a:schemeClr>
                </a:solidFill>
              </a:defRPr>
            </a:lvl1pPr>
          </a:lstStyle>
          <a:p>
            <a:pPr>
              <a:defRPr/>
            </a:pPr>
            <a:r>
              <a:rPr lang="ru-RU"/>
              <a:t>ОБРАЗЕЦ ЗАГОЛОВКА</a:t>
            </a:r>
            <a:endParaRPr/>
          </a:p>
        </p:txBody>
      </p:sp>
      <p:sp>
        <p:nvSpPr>
          <p:cNvPr id="1968345768"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1</a:t>
            </a:fld>
            <a:endParaRPr lang="ru-RU"/>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Содержание_1">
    <p:spTree>
      <p:nvGrpSpPr>
        <p:cNvPr id="1" name=""/>
        <p:cNvGrpSpPr/>
        <p:nvPr/>
      </p:nvGrpSpPr>
      <p:grpSpPr bwMode="auto">
        <a:xfrm>
          <a:off x="0" y="0"/>
          <a:ext cx="0" cy="0"/>
          <a:chOff x="0" y="0"/>
          <a:chExt cx="0" cy="0"/>
        </a:xfrm>
      </p:grpSpPr>
      <p:sp>
        <p:nvSpPr>
          <p:cNvPr id="1231270877"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C7BAE699-64F9-49EF-B784-2DEF2B221955}" type="datetime1">
              <a:rPr lang="ru-RU"/>
              <a:t>16.09.2026</a:t>
            </a:fld>
            <a:endParaRPr lang="ru-RU"/>
          </a:p>
        </p:txBody>
      </p:sp>
      <p:sp>
        <p:nvSpPr>
          <p:cNvPr id="1950419902"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20005845"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1792380901" name="Текст 6"/>
          <p:cNvSpPr>
            <a:spLocks noGrp="1"/>
          </p:cNvSpPr>
          <p:nvPr>
            <p:ph type="body" sz="quarter" idx="37" hasCustomPrompt="1"/>
          </p:nvPr>
        </p:nvSpPr>
        <p:spPr bwMode="auto">
          <a:xfrm>
            <a:off x="1873541" y="1222713"/>
            <a:ext cx="3866856" cy="423628"/>
          </a:xfrm>
        </p:spPr>
        <p:txBody>
          <a:bodyPr>
            <a:noAutofit/>
          </a:bodyPr>
          <a:lstStyle>
            <a:lvl1pPr marL="0" indent="0">
              <a:buNone/>
              <a:defRPr sz="1600" b="1">
                <a:solidFill>
                  <a:schemeClr val="accent2"/>
                </a:solidFill>
              </a:defRPr>
            </a:lvl1pPr>
          </a:lstStyle>
          <a:p>
            <a:pPr lvl="0">
              <a:defRPr/>
            </a:pPr>
            <a:r>
              <a:rPr lang="ru-RU"/>
              <a:t>Заголовок</a:t>
            </a:r>
            <a:endParaRPr/>
          </a:p>
        </p:txBody>
      </p:sp>
      <p:sp>
        <p:nvSpPr>
          <p:cNvPr id="1874422937" name="Текст 9"/>
          <p:cNvSpPr>
            <a:spLocks noGrp="1"/>
          </p:cNvSpPr>
          <p:nvPr>
            <p:ph type="body" sz="quarter" idx="38" hasCustomPrompt="1"/>
          </p:nvPr>
        </p:nvSpPr>
        <p:spPr bwMode="auto">
          <a:xfrm>
            <a:off x="1873544" y="1790324"/>
            <a:ext cx="3866856" cy="672075"/>
          </a:xfrm>
        </p:spPr>
        <p:txBody>
          <a:bodyPr>
            <a:normAutofit/>
          </a:bodyPr>
          <a:lstStyle>
            <a:lvl2pPr>
              <a:defRPr sz="1400"/>
            </a:lvl2pPr>
          </a:lstStyle>
          <a:p>
            <a:pPr lvl="1">
              <a:defRPr/>
            </a:pPr>
            <a:r>
              <a:rPr lang="ru-RU"/>
              <a:t>Описание</a:t>
            </a:r>
            <a:endParaRPr/>
          </a:p>
        </p:txBody>
      </p:sp>
      <p:sp>
        <p:nvSpPr>
          <p:cNvPr id="1694822356" name="Текст 6"/>
          <p:cNvSpPr>
            <a:spLocks noGrp="1"/>
          </p:cNvSpPr>
          <p:nvPr>
            <p:ph type="body" sz="quarter" idx="39" hasCustomPrompt="1"/>
          </p:nvPr>
        </p:nvSpPr>
        <p:spPr bwMode="auto">
          <a:xfrm>
            <a:off x="1854185" y="2826697"/>
            <a:ext cx="3866856" cy="403756"/>
          </a:xfrm>
        </p:spPr>
        <p:txBody>
          <a:bodyPr>
            <a:noAutofit/>
          </a:bodyPr>
          <a:lstStyle>
            <a:lvl1pPr marL="0" indent="0">
              <a:buNone/>
              <a:defRPr sz="1600" b="1">
                <a:solidFill>
                  <a:schemeClr val="accent2"/>
                </a:solidFill>
              </a:defRPr>
            </a:lvl1pPr>
          </a:lstStyle>
          <a:p>
            <a:pPr lvl="0">
              <a:defRPr/>
            </a:pPr>
            <a:r>
              <a:rPr lang="ru-RU"/>
              <a:t>Заголовок</a:t>
            </a:r>
            <a:endParaRPr/>
          </a:p>
        </p:txBody>
      </p:sp>
      <p:sp>
        <p:nvSpPr>
          <p:cNvPr id="269095115" name="Текст 9"/>
          <p:cNvSpPr>
            <a:spLocks noGrp="1"/>
          </p:cNvSpPr>
          <p:nvPr>
            <p:ph type="body" sz="quarter" idx="40" hasCustomPrompt="1"/>
          </p:nvPr>
        </p:nvSpPr>
        <p:spPr bwMode="auto">
          <a:xfrm>
            <a:off x="1854185" y="3374436"/>
            <a:ext cx="3866856" cy="672075"/>
          </a:xfrm>
        </p:spPr>
        <p:txBody>
          <a:bodyPr>
            <a:normAutofit/>
          </a:bodyPr>
          <a:lstStyle>
            <a:lvl2pPr>
              <a:defRPr sz="1400"/>
            </a:lvl2pPr>
          </a:lstStyle>
          <a:p>
            <a:pPr lvl="1">
              <a:defRPr/>
            </a:pPr>
            <a:r>
              <a:rPr lang="ru-RU"/>
              <a:t>Описание</a:t>
            </a:r>
            <a:endParaRPr/>
          </a:p>
        </p:txBody>
      </p:sp>
      <p:sp>
        <p:nvSpPr>
          <p:cNvPr id="1682530970" name="Текст 6"/>
          <p:cNvSpPr>
            <a:spLocks noGrp="1"/>
          </p:cNvSpPr>
          <p:nvPr>
            <p:ph type="body" sz="quarter" idx="41" hasCustomPrompt="1"/>
          </p:nvPr>
        </p:nvSpPr>
        <p:spPr bwMode="auto">
          <a:xfrm>
            <a:off x="1854185" y="4410809"/>
            <a:ext cx="3866856" cy="403913"/>
          </a:xfrm>
        </p:spPr>
        <p:txBody>
          <a:bodyPr>
            <a:noAutofit/>
          </a:bodyPr>
          <a:lstStyle>
            <a:lvl1pPr marL="0" indent="0">
              <a:buNone/>
              <a:defRPr sz="1600" b="1">
                <a:solidFill>
                  <a:schemeClr val="accent2"/>
                </a:solidFill>
              </a:defRPr>
            </a:lvl1pPr>
          </a:lstStyle>
          <a:p>
            <a:pPr lvl="0">
              <a:defRPr/>
            </a:pPr>
            <a:r>
              <a:rPr lang="ru-RU"/>
              <a:t>Заголовок</a:t>
            </a:r>
            <a:endParaRPr/>
          </a:p>
        </p:txBody>
      </p:sp>
      <p:sp>
        <p:nvSpPr>
          <p:cNvPr id="1926454970" name="Текст 9"/>
          <p:cNvSpPr>
            <a:spLocks noGrp="1"/>
          </p:cNvSpPr>
          <p:nvPr>
            <p:ph type="body" sz="quarter" idx="42" hasCustomPrompt="1"/>
          </p:nvPr>
        </p:nvSpPr>
        <p:spPr bwMode="auto">
          <a:xfrm>
            <a:off x="1854185" y="4958548"/>
            <a:ext cx="3866856" cy="672075"/>
          </a:xfrm>
        </p:spPr>
        <p:txBody>
          <a:bodyPr>
            <a:normAutofit/>
          </a:bodyPr>
          <a:lstStyle>
            <a:lvl2pPr>
              <a:defRPr sz="1400"/>
            </a:lvl2pPr>
          </a:lstStyle>
          <a:p>
            <a:pPr lvl="1">
              <a:defRPr/>
            </a:pPr>
            <a:r>
              <a:rPr lang="ru-RU"/>
              <a:t>Описание</a:t>
            </a:r>
            <a:endParaRPr/>
          </a:p>
        </p:txBody>
      </p:sp>
      <p:sp>
        <p:nvSpPr>
          <p:cNvPr id="1069797757" name="Текст 6"/>
          <p:cNvSpPr>
            <a:spLocks noGrp="1"/>
          </p:cNvSpPr>
          <p:nvPr>
            <p:ph type="body" sz="quarter" idx="43" hasCustomPrompt="1"/>
          </p:nvPr>
        </p:nvSpPr>
        <p:spPr bwMode="auto">
          <a:xfrm>
            <a:off x="7546648" y="1222713"/>
            <a:ext cx="3866856" cy="423628"/>
          </a:xfrm>
        </p:spPr>
        <p:txBody>
          <a:bodyPr>
            <a:noAutofit/>
          </a:bodyPr>
          <a:lstStyle>
            <a:lvl1pPr marL="0" indent="0">
              <a:buNone/>
              <a:defRPr sz="1600" b="1">
                <a:solidFill>
                  <a:schemeClr val="accent2"/>
                </a:solidFill>
              </a:defRPr>
            </a:lvl1pPr>
          </a:lstStyle>
          <a:p>
            <a:pPr lvl="0">
              <a:defRPr/>
            </a:pPr>
            <a:r>
              <a:rPr lang="ru-RU"/>
              <a:t>Заголовок</a:t>
            </a:r>
            <a:endParaRPr/>
          </a:p>
        </p:txBody>
      </p:sp>
      <p:sp>
        <p:nvSpPr>
          <p:cNvPr id="1635738940" name="Текст 9"/>
          <p:cNvSpPr>
            <a:spLocks noGrp="1"/>
          </p:cNvSpPr>
          <p:nvPr>
            <p:ph type="body" sz="quarter" idx="44" hasCustomPrompt="1"/>
          </p:nvPr>
        </p:nvSpPr>
        <p:spPr bwMode="auto">
          <a:xfrm>
            <a:off x="7546651" y="1790324"/>
            <a:ext cx="3866856" cy="672075"/>
          </a:xfrm>
        </p:spPr>
        <p:txBody>
          <a:bodyPr>
            <a:normAutofit/>
          </a:bodyPr>
          <a:lstStyle>
            <a:lvl2pPr>
              <a:defRPr sz="1400"/>
            </a:lvl2pPr>
          </a:lstStyle>
          <a:p>
            <a:pPr lvl="1">
              <a:defRPr/>
            </a:pPr>
            <a:r>
              <a:rPr lang="ru-RU"/>
              <a:t>Описание</a:t>
            </a:r>
            <a:endParaRPr/>
          </a:p>
        </p:txBody>
      </p:sp>
      <p:sp>
        <p:nvSpPr>
          <p:cNvPr id="476364177" name="Текст 6"/>
          <p:cNvSpPr>
            <a:spLocks noGrp="1"/>
          </p:cNvSpPr>
          <p:nvPr>
            <p:ph type="body" sz="quarter" idx="45" hasCustomPrompt="1"/>
          </p:nvPr>
        </p:nvSpPr>
        <p:spPr bwMode="auto">
          <a:xfrm>
            <a:off x="7527292" y="2826697"/>
            <a:ext cx="3866856" cy="403756"/>
          </a:xfrm>
        </p:spPr>
        <p:txBody>
          <a:bodyPr>
            <a:noAutofit/>
          </a:bodyPr>
          <a:lstStyle>
            <a:lvl1pPr marL="0" indent="0">
              <a:buNone/>
              <a:defRPr sz="1600" b="1">
                <a:solidFill>
                  <a:schemeClr val="accent2"/>
                </a:solidFill>
              </a:defRPr>
            </a:lvl1pPr>
          </a:lstStyle>
          <a:p>
            <a:pPr lvl="0">
              <a:defRPr/>
            </a:pPr>
            <a:r>
              <a:rPr lang="ru-RU"/>
              <a:t>Заголовок</a:t>
            </a:r>
            <a:endParaRPr/>
          </a:p>
        </p:txBody>
      </p:sp>
      <p:sp>
        <p:nvSpPr>
          <p:cNvPr id="458554842" name="Текст 9"/>
          <p:cNvSpPr>
            <a:spLocks noGrp="1"/>
          </p:cNvSpPr>
          <p:nvPr>
            <p:ph type="body" sz="quarter" idx="46" hasCustomPrompt="1"/>
          </p:nvPr>
        </p:nvSpPr>
        <p:spPr bwMode="auto">
          <a:xfrm>
            <a:off x="7527292" y="3374436"/>
            <a:ext cx="3866856" cy="672075"/>
          </a:xfrm>
        </p:spPr>
        <p:txBody>
          <a:bodyPr>
            <a:normAutofit/>
          </a:bodyPr>
          <a:lstStyle>
            <a:lvl2pPr>
              <a:defRPr sz="1400"/>
            </a:lvl2pPr>
          </a:lstStyle>
          <a:p>
            <a:pPr lvl="1">
              <a:defRPr/>
            </a:pPr>
            <a:r>
              <a:rPr lang="ru-RU"/>
              <a:t>Описание</a:t>
            </a:r>
            <a:endParaRPr/>
          </a:p>
        </p:txBody>
      </p:sp>
      <p:sp>
        <p:nvSpPr>
          <p:cNvPr id="1682611309" name="Текст 6"/>
          <p:cNvSpPr>
            <a:spLocks noGrp="1"/>
          </p:cNvSpPr>
          <p:nvPr>
            <p:ph type="body" sz="quarter" idx="47" hasCustomPrompt="1"/>
          </p:nvPr>
        </p:nvSpPr>
        <p:spPr bwMode="auto">
          <a:xfrm>
            <a:off x="7527292" y="4410809"/>
            <a:ext cx="3866856" cy="403913"/>
          </a:xfrm>
        </p:spPr>
        <p:txBody>
          <a:bodyPr>
            <a:noAutofit/>
          </a:bodyPr>
          <a:lstStyle>
            <a:lvl1pPr marL="0" indent="0">
              <a:buNone/>
              <a:defRPr sz="1600" b="1">
                <a:solidFill>
                  <a:schemeClr val="accent2"/>
                </a:solidFill>
              </a:defRPr>
            </a:lvl1pPr>
          </a:lstStyle>
          <a:p>
            <a:pPr lvl="0">
              <a:defRPr/>
            </a:pPr>
            <a:r>
              <a:rPr lang="ru-RU"/>
              <a:t>Заголовок</a:t>
            </a:r>
            <a:endParaRPr/>
          </a:p>
        </p:txBody>
      </p:sp>
      <p:sp>
        <p:nvSpPr>
          <p:cNvPr id="680188690" name="Текст 9"/>
          <p:cNvSpPr>
            <a:spLocks noGrp="1"/>
          </p:cNvSpPr>
          <p:nvPr>
            <p:ph type="body" sz="quarter" idx="48" hasCustomPrompt="1"/>
          </p:nvPr>
        </p:nvSpPr>
        <p:spPr bwMode="auto">
          <a:xfrm>
            <a:off x="7527292" y="4958548"/>
            <a:ext cx="3866856" cy="672075"/>
          </a:xfrm>
        </p:spPr>
        <p:txBody>
          <a:bodyPr>
            <a:normAutofit/>
          </a:bodyPr>
          <a:lstStyle>
            <a:lvl2pPr>
              <a:defRPr sz="1400"/>
            </a:lvl2pPr>
          </a:lstStyle>
          <a:p>
            <a:pPr lvl="1">
              <a:defRPr/>
            </a:pPr>
            <a:r>
              <a:rPr lang="ru-RU"/>
              <a:t>Описание</a:t>
            </a:r>
            <a:endParaRPr/>
          </a:p>
        </p:txBody>
      </p:sp>
      <p:sp>
        <p:nvSpPr>
          <p:cNvPr id="1957727187" name="Заголовок 1"/>
          <p:cNvSpPr>
            <a:spLocks noGrp="1"/>
          </p:cNvSpPr>
          <p:nvPr>
            <p:ph type="title"/>
          </p:nvPr>
        </p:nvSpPr>
        <p:spPr bwMode="auto">
          <a:xfrm>
            <a:off x="346075"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689925399" name="Текст 6"/>
          <p:cNvSpPr>
            <a:spLocks noGrp="1"/>
          </p:cNvSpPr>
          <p:nvPr>
            <p:ph type="body" sz="quarter" idx="49" hasCustomPrompt="1"/>
          </p:nvPr>
        </p:nvSpPr>
        <p:spPr bwMode="auto">
          <a:xfrm>
            <a:off x="778492" y="1187988"/>
            <a:ext cx="771003" cy="423628"/>
          </a:xfrm>
        </p:spPr>
        <p:txBody>
          <a:bodyPr>
            <a:noAutofit/>
          </a:bodyPr>
          <a:lstStyle>
            <a:lvl1pPr marL="0" indent="0">
              <a:buNone/>
              <a:defRPr sz="2800" b="0">
                <a:solidFill>
                  <a:schemeClr val="accent2"/>
                </a:solidFill>
              </a:defRPr>
            </a:lvl1pPr>
          </a:lstStyle>
          <a:p>
            <a:pPr lvl="0">
              <a:defRPr/>
            </a:pPr>
            <a:r>
              <a:rPr lang="ru-RU"/>
              <a:t>01</a:t>
            </a:r>
            <a:endParaRPr/>
          </a:p>
        </p:txBody>
      </p:sp>
      <p:sp>
        <p:nvSpPr>
          <p:cNvPr id="256972101" name="Текст 6"/>
          <p:cNvSpPr>
            <a:spLocks noGrp="1"/>
          </p:cNvSpPr>
          <p:nvPr>
            <p:ph type="body" sz="quarter" idx="50" hasCustomPrompt="1"/>
          </p:nvPr>
        </p:nvSpPr>
        <p:spPr bwMode="auto">
          <a:xfrm>
            <a:off x="759137" y="2791972"/>
            <a:ext cx="771003" cy="403756"/>
          </a:xfrm>
        </p:spPr>
        <p:txBody>
          <a:bodyPr>
            <a:noAutofit/>
          </a:bodyPr>
          <a:lstStyle>
            <a:lvl1pPr marL="0" indent="0">
              <a:buNone/>
              <a:defRPr sz="2800" b="0">
                <a:solidFill>
                  <a:schemeClr val="accent2"/>
                </a:solidFill>
              </a:defRPr>
            </a:lvl1pPr>
          </a:lstStyle>
          <a:p>
            <a:pPr lvl="0">
              <a:defRPr/>
            </a:pPr>
            <a:r>
              <a:rPr lang="ru-RU"/>
              <a:t>02</a:t>
            </a:r>
            <a:endParaRPr/>
          </a:p>
        </p:txBody>
      </p:sp>
      <p:sp>
        <p:nvSpPr>
          <p:cNvPr id="1208148889" name="Текст 6"/>
          <p:cNvSpPr>
            <a:spLocks noGrp="1"/>
          </p:cNvSpPr>
          <p:nvPr>
            <p:ph type="body" sz="quarter" idx="51" hasCustomPrompt="1"/>
          </p:nvPr>
        </p:nvSpPr>
        <p:spPr bwMode="auto">
          <a:xfrm>
            <a:off x="759137" y="4376084"/>
            <a:ext cx="771003" cy="403913"/>
          </a:xfrm>
        </p:spPr>
        <p:txBody>
          <a:bodyPr>
            <a:noAutofit/>
          </a:bodyPr>
          <a:lstStyle>
            <a:lvl1pPr marL="0" indent="0">
              <a:buNone/>
              <a:defRPr sz="2800" b="0">
                <a:solidFill>
                  <a:schemeClr val="accent2"/>
                </a:solidFill>
              </a:defRPr>
            </a:lvl1pPr>
          </a:lstStyle>
          <a:p>
            <a:pPr lvl="0">
              <a:defRPr/>
            </a:pPr>
            <a:r>
              <a:rPr lang="ru-RU"/>
              <a:t>03</a:t>
            </a:r>
            <a:endParaRPr/>
          </a:p>
        </p:txBody>
      </p:sp>
      <p:sp>
        <p:nvSpPr>
          <p:cNvPr id="684210003" name="Текст 6"/>
          <p:cNvSpPr>
            <a:spLocks noGrp="1"/>
          </p:cNvSpPr>
          <p:nvPr>
            <p:ph type="body" sz="quarter" idx="52" hasCustomPrompt="1"/>
          </p:nvPr>
        </p:nvSpPr>
        <p:spPr bwMode="auto">
          <a:xfrm>
            <a:off x="6451600" y="1187988"/>
            <a:ext cx="771003" cy="423628"/>
          </a:xfrm>
        </p:spPr>
        <p:txBody>
          <a:bodyPr>
            <a:noAutofit/>
          </a:bodyPr>
          <a:lstStyle>
            <a:lvl1pPr marL="0" indent="0">
              <a:buNone/>
              <a:defRPr sz="2800" b="0">
                <a:solidFill>
                  <a:schemeClr val="accent2"/>
                </a:solidFill>
              </a:defRPr>
            </a:lvl1pPr>
          </a:lstStyle>
          <a:p>
            <a:pPr lvl="0">
              <a:defRPr/>
            </a:pPr>
            <a:r>
              <a:rPr lang="ru-RU"/>
              <a:t>04</a:t>
            </a:r>
            <a:endParaRPr/>
          </a:p>
        </p:txBody>
      </p:sp>
      <p:sp>
        <p:nvSpPr>
          <p:cNvPr id="12519466" name="Текст 6"/>
          <p:cNvSpPr>
            <a:spLocks noGrp="1"/>
          </p:cNvSpPr>
          <p:nvPr>
            <p:ph type="body" sz="quarter" idx="53" hasCustomPrompt="1"/>
          </p:nvPr>
        </p:nvSpPr>
        <p:spPr bwMode="auto">
          <a:xfrm>
            <a:off x="6432244" y="2791972"/>
            <a:ext cx="771003" cy="403756"/>
          </a:xfrm>
        </p:spPr>
        <p:txBody>
          <a:bodyPr>
            <a:noAutofit/>
          </a:bodyPr>
          <a:lstStyle>
            <a:lvl1pPr marL="0" indent="0">
              <a:buNone/>
              <a:defRPr sz="2800" b="0">
                <a:solidFill>
                  <a:schemeClr val="accent2"/>
                </a:solidFill>
              </a:defRPr>
            </a:lvl1pPr>
          </a:lstStyle>
          <a:p>
            <a:pPr lvl="0">
              <a:defRPr/>
            </a:pPr>
            <a:r>
              <a:rPr lang="ru-RU"/>
              <a:t>05</a:t>
            </a:r>
            <a:endParaRPr/>
          </a:p>
        </p:txBody>
      </p:sp>
      <p:sp>
        <p:nvSpPr>
          <p:cNvPr id="1969617493" name="Текст 6"/>
          <p:cNvSpPr>
            <a:spLocks noGrp="1"/>
          </p:cNvSpPr>
          <p:nvPr>
            <p:ph type="body" sz="quarter" idx="54" hasCustomPrompt="1"/>
          </p:nvPr>
        </p:nvSpPr>
        <p:spPr bwMode="auto">
          <a:xfrm>
            <a:off x="6432244" y="4376084"/>
            <a:ext cx="771003" cy="403913"/>
          </a:xfrm>
        </p:spPr>
        <p:txBody>
          <a:bodyPr>
            <a:noAutofit/>
          </a:bodyPr>
          <a:lstStyle>
            <a:lvl1pPr marL="0" indent="0">
              <a:buNone/>
              <a:defRPr sz="2800" b="0">
                <a:solidFill>
                  <a:schemeClr val="accent2"/>
                </a:solidFill>
              </a:defRPr>
            </a:lvl1pPr>
          </a:lstStyle>
          <a:p>
            <a:pPr lvl="0">
              <a:defRPr/>
            </a:pPr>
            <a:r>
              <a:rPr lang="ru-RU"/>
              <a:t>06</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Фотографии">
    <p:spTree>
      <p:nvGrpSpPr>
        <p:cNvPr id="1" name=""/>
        <p:cNvGrpSpPr/>
        <p:nvPr/>
      </p:nvGrpSpPr>
      <p:grpSpPr bwMode="auto">
        <a:xfrm>
          <a:off x="0" y="0"/>
          <a:ext cx="0" cy="0"/>
          <a:chOff x="0" y="0"/>
          <a:chExt cx="0" cy="0"/>
        </a:xfrm>
      </p:grpSpPr>
      <p:sp>
        <p:nvSpPr>
          <p:cNvPr id="135408475"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CAFA80CC-940E-479C-90C0-76DA923785E9}" type="datetime1">
              <a:rPr lang="ru-RU"/>
              <a:t>16.09.2026</a:t>
            </a:fld>
            <a:endParaRPr lang="ru-RU"/>
          </a:p>
        </p:txBody>
      </p:sp>
      <p:sp>
        <p:nvSpPr>
          <p:cNvPr id="2088193324"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675758961"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1177865552" name="Заголовок 1"/>
          <p:cNvSpPr>
            <a:spLocks noGrp="1"/>
          </p:cNvSpPr>
          <p:nvPr>
            <p:ph type="title"/>
          </p:nvPr>
        </p:nvSpPr>
        <p:spPr bwMode="auto">
          <a:xfrm>
            <a:off x="372682"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839753479" name="Рисунок 7"/>
          <p:cNvSpPr>
            <a:spLocks noGrp="1"/>
          </p:cNvSpPr>
          <p:nvPr>
            <p:ph type="pic" sz="quarter" idx="10"/>
          </p:nvPr>
        </p:nvSpPr>
        <p:spPr bwMode="auto">
          <a:xfrm>
            <a:off x="7440147" y="1016001"/>
            <a:ext cx="4405777" cy="3078479"/>
          </a:xfrm>
        </p:spPr>
        <p:txBody>
          <a:bodyPr/>
          <a:lstStyle/>
          <a:p>
            <a:pPr>
              <a:defRPr/>
            </a:pPr>
            <a:endParaRPr lang="ru-RU"/>
          </a:p>
        </p:txBody>
      </p:sp>
      <p:sp>
        <p:nvSpPr>
          <p:cNvPr id="967254588" name="Рисунок 9"/>
          <p:cNvSpPr>
            <a:spLocks noGrp="1"/>
          </p:cNvSpPr>
          <p:nvPr>
            <p:ph type="pic" sz="quarter" idx="11"/>
          </p:nvPr>
        </p:nvSpPr>
        <p:spPr bwMode="auto">
          <a:xfrm>
            <a:off x="7440149" y="4389108"/>
            <a:ext cx="4405775" cy="1811668"/>
          </a:xfrm>
        </p:spPr>
        <p:txBody>
          <a:bodyPr/>
          <a:lstStyle/>
          <a:p>
            <a:pPr>
              <a:defRPr/>
            </a:pPr>
            <a:endParaRPr lang="ru-RU"/>
          </a:p>
        </p:txBody>
      </p:sp>
      <p:sp>
        <p:nvSpPr>
          <p:cNvPr id="401935067" name="Рисунок 11"/>
          <p:cNvSpPr>
            <a:spLocks noGrp="1"/>
          </p:cNvSpPr>
          <p:nvPr>
            <p:ph type="pic" sz="quarter" idx="12"/>
          </p:nvPr>
        </p:nvSpPr>
        <p:spPr bwMode="auto">
          <a:xfrm>
            <a:off x="346075" y="3223948"/>
            <a:ext cx="6806142" cy="2976827"/>
          </a:xfrm>
        </p:spPr>
        <p:txBody>
          <a:bodyPr/>
          <a:lstStyle/>
          <a:p>
            <a:pPr>
              <a:defRPr/>
            </a:pPr>
            <a:endParaRPr lang="ru-RU"/>
          </a:p>
        </p:txBody>
      </p:sp>
      <p:sp>
        <p:nvSpPr>
          <p:cNvPr id="1620516688" name="Текст 15"/>
          <p:cNvSpPr>
            <a:spLocks noGrp="1"/>
          </p:cNvSpPr>
          <p:nvPr>
            <p:ph type="body" sz="quarter" idx="14"/>
          </p:nvPr>
        </p:nvSpPr>
        <p:spPr bwMode="auto">
          <a:xfrm>
            <a:off x="346075" y="1016001"/>
            <a:ext cx="6806142" cy="2029882"/>
          </a:xfrm>
        </p:spPr>
        <p:txBody>
          <a:bodyPr>
            <a:normAutofit/>
          </a:bodyPr>
          <a:lstStyle>
            <a:lvl1pPr>
              <a:defRPr sz="1400"/>
            </a:lvl1pPr>
          </a:lstStyle>
          <a:p>
            <a:pPr lvl="0">
              <a:defRPr/>
            </a:pPr>
            <a:r>
              <a:rPr lang="ru-RU"/>
              <a:t>Образец текста</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Пункты">
    <p:spTree>
      <p:nvGrpSpPr>
        <p:cNvPr id="1" name=""/>
        <p:cNvGrpSpPr/>
        <p:nvPr/>
      </p:nvGrpSpPr>
      <p:grpSpPr bwMode="auto">
        <a:xfrm>
          <a:off x="0" y="0"/>
          <a:ext cx="0" cy="0"/>
          <a:chOff x="0" y="0"/>
          <a:chExt cx="0" cy="0"/>
        </a:xfrm>
      </p:grpSpPr>
      <p:sp>
        <p:nvSpPr>
          <p:cNvPr id="676253298"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82A4DA7B-A7D8-4443-AD1C-4C7CDC678488}" type="datetime1">
              <a:rPr lang="ru-RU"/>
              <a:t>16.09.2026</a:t>
            </a:fld>
            <a:endParaRPr lang="ru-RU"/>
          </a:p>
        </p:txBody>
      </p:sp>
      <p:sp>
        <p:nvSpPr>
          <p:cNvPr id="1495724826"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884074013" name="Заголовок 1"/>
          <p:cNvSpPr>
            <a:spLocks noGrp="1"/>
          </p:cNvSpPr>
          <p:nvPr>
            <p:ph type="title"/>
          </p:nvPr>
        </p:nvSpPr>
        <p:spPr bwMode="auto">
          <a:xfrm>
            <a:off x="361107"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2103893195" name="Текст 101"/>
          <p:cNvSpPr>
            <a:spLocks noGrp="1"/>
          </p:cNvSpPr>
          <p:nvPr>
            <p:ph type="body" sz="quarter" idx="14" hasCustomPrompt="1"/>
          </p:nvPr>
        </p:nvSpPr>
        <p:spPr bwMode="auto">
          <a:xfrm>
            <a:off x="1994303" y="2973742"/>
            <a:ext cx="2190810" cy="910516"/>
          </a:xfrm>
        </p:spPr>
        <p:txBody>
          <a:bodyPr/>
          <a:lstStyle>
            <a:lvl1pPr marL="0" indent="0" algn="ctr">
              <a:buNone/>
              <a:defRPr lang="ru-RU"/>
            </a:lvl1pPr>
          </a:lstStyle>
          <a:p>
            <a:pPr lvl="0">
              <a:defRPr/>
            </a:pPr>
            <a:r>
              <a:rPr lang="ru-RU"/>
              <a:t>Текст</a:t>
            </a:r>
            <a:endParaRPr/>
          </a:p>
        </p:txBody>
      </p:sp>
      <p:sp>
        <p:nvSpPr>
          <p:cNvPr id="808292524" name="Текст 74"/>
          <p:cNvSpPr>
            <a:spLocks noGrp="1"/>
          </p:cNvSpPr>
          <p:nvPr>
            <p:ph type="body" sz="quarter" idx="15"/>
          </p:nvPr>
        </p:nvSpPr>
        <p:spPr bwMode="auto">
          <a:xfrm>
            <a:off x="6662923" y="1588128"/>
            <a:ext cx="4902200" cy="712587"/>
          </a:xfrm>
        </p:spPr>
        <p:txBody>
          <a:bodyPr/>
          <a:lstStyle>
            <a:lvl1pPr marL="0" indent="0">
              <a:buNone/>
              <a:defRPr/>
            </a:lvl1pPr>
          </a:lstStyle>
          <a:p>
            <a:pPr lvl="0">
              <a:defRPr/>
            </a:pPr>
            <a:r>
              <a:rPr lang="ru-RU"/>
              <a:t>Образец текста</a:t>
            </a:r>
            <a:endParaRPr/>
          </a:p>
        </p:txBody>
      </p:sp>
      <p:sp>
        <p:nvSpPr>
          <p:cNvPr id="2031151279" name="Текст 74"/>
          <p:cNvSpPr>
            <a:spLocks noGrp="1"/>
          </p:cNvSpPr>
          <p:nvPr>
            <p:ph type="body" sz="quarter" idx="16"/>
          </p:nvPr>
        </p:nvSpPr>
        <p:spPr bwMode="auto">
          <a:xfrm>
            <a:off x="6662923" y="2445138"/>
            <a:ext cx="4902200" cy="712587"/>
          </a:xfrm>
        </p:spPr>
        <p:txBody>
          <a:bodyPr/>
          <a:lstStyle>
            <a:lvl1pPr marL="0" indent="0">
              <a:buNone/>
              <a:defRPr/>
            </a:lvl1pPr>
          </a:lstStyle>
          <a:p>
            <a:pPr lvl="0">
              <a:defRPr/>
            </a:pPr>
            <a:r>
              <a:rPr lang="ru-RU"/>
              <a:t>Образец текста</a:t>
            </a:r>
            <a:endParaRPr/>
          </a:p>
        </p:txBody>
      </p:sp>
      <p:sp>
        <p:nvSpPr>
          <p:cNvPr id="1998998086" name="Текст 74"/>
          <p:cNvSpPr>
            <a:spLocks noGrp="1"/>
          </p:cNvSpPr>
          <p:nvPr>
            <p:ph type="body" sz="quarter" idx="17"/>
          </p:nvPr>
        </p:nvSpPr>
        <p:spPr bwMode="auto">
          <a:xfrm>
            <a:off x="6662923" y="3302147"/>
            <a:ext cx="4902200" cy="712587"/>
          </a:xfrm>
        </p:spPr>
        <p:txBody>
          <a:bodyPr/>
          <a:lstStyle>
            <a:lvl1pPr marL="0" indent="0">
              <a:buNone/>
              <a:defRPr/>
            </a:lvl1pPr>
          </a:lstStyle>
          <a:p>
            <a:pPr lvl="0">
              <a:defRPr/>
            </a:pPr>
            <a:r>
              <a:rPr lang="ru-RU"/>
              <a:t>Образец текста</a:t>
            </a:r>
            <a:endParaRPr/>
          </a:p>
        </p:txBody>
      </p:sp>
      <p:sp>
        <p:nvSpPr>
          <p:cNvPr id="741709136" name="Текст 74"/>
          <p:cNvSpPr>
            <a:spLocks noGrp="1"/>
          </p:cNvSpPr>
          <p:nvPr>
            <p:ph type="body" sz="quarter" idx="18"/>
          </p:nvPr>
        </p:nvSpPr>
        <p:spPr bwMode="auto">
          <a:xfrm>
            <a:off x="6662923" y="4159156"/>
            <a:ext cx="4902200" cy="712587"/>
          </a:xfrm>
        </p:spPr>
        <p:txBody>
          <a:bodyPr/>
          <a:lstStyle>
            <a:lvl1pPr marL="0" indent="0">
              <a:buNone/>
              <a:defRPr/>
            </a:lvl1pPr>
          </a:lstStyle>
          <a:p>
            <a:pPr lvl="0">
              <a:defRPr/>
            </a:pPr>
            <a:r>
              <a:rPr lang="ru-RU"/>
              <a:t>Образец текста</a:t>
            </a:r>
            <a:endParaRPr/>
          </a:p>
        </p:txBody>
      </p:sp>
      <p:sp>
        <p:nvSpPr>
          <p:cNvPr id="239403092" name="Текст 74"/>
          <p:cNvSpPr>
            <a:spLocks noGrp="1"/>
          </p:cNvSpPr>
          <p:nvPr>
            <p:ph type="body" sz="quarter" idx="19"/>
          </p:nvPr>
        </p:nvSpPr>
        <p:spPr bwMode="auto">
          <a:xfrm>
            <a:off x="6662923" y="5016166"/>
            <a:ext cx="4902200" cy="712587"/>
          </a:xfrm>
        </p:spPr>
        <p:txBody>
          <a:bodyPr/>
          <a:lstStyle>
            <a:lvl1pPr marL="0" indent="0">
              <a:buNone/>
              <a:defRPr/>
            </a:lvl1pPr>
          </a:lstStyle>
          <a:p>
            <a:pPr lvl="0">
              <a:defRPr/>
            </a:pPr>
            <a:r>
              <a:rPr lang="ru-RU"/>
              <a:t>Образец текста</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Статистика">
    <p:spTree>
      <p:nvGrpSpPr>
        <p:cNvPr id="1" name=""/>
        <p:cNvGrpSpPr/>
        <p:nvPr/>
      </p:nvGrpSpPr>
      <p:grpSpPr bwMode="auto">
        <a:xfrm>
          <a:off x="0" y="0"/>
          <a:ext cx="0" cy="0"/>
          <a:chOff x="0" y="0"/>
          <a:chExt cx="0" cy="0"/>
        </a:xfrm>
      </p:grpSpPr>
      <p:sp>
        <p:nvSpPr>
          <p:cNvPr id="134254082"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44E505DF-C567-47F2-9374-60838F800101}" type="datetime1">
              <a:rPr lang="ru-RU"/>
              <a:t>16.09.2026</a:t>
            </a:fld>
            <a:endParaRPr lang="ru-RU"/>
          </a:p>
        </p:txBody>
      </p:sp>
      <p:sp>
        <p:nvSpPr>
          <p:cNvPr id="1510793381"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1552299328"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337256866" name="Заголовок 1"/>
          <p:cNvSpPr>
            <a:spLocks noGrp="1"/>
          </p:cNvSpPr>
          <p:nvPr>
            <p:ph type="title"/>
          </p:nvPr>
        </p:nvSpPr>
        <p:spPr bwMode="auto">
          <a:xfrm>
            <a:off x="361107"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1868929240" name="Текст 35"/>
          <p:cNvSpPr>
            <a:spLocks noGrp="1"/>
          </p:cNvSpPr>
          <p:nvPr>
            <p:ph type="body" sz="quarter" idx="21"/>
          </p:nvPr>
        </p:nvSpPr>
        <p:spPr bwMode="auto">
          <a:xfrm>
            <a:off x="6683077" y="1026867"/>
            <a:ext cx="4790314" cy="1615356"/>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defRPr/>
            </a:pPr>
            <a:r>
              <a:rPr lang="ru-RU"/>
              <a:t>Образец текста</a:t>
            </a:r>
            <a:endParaRPr/>
          </a:p>
        </p:txBody>
      </p:sp>
      <p:sp>
        <p:nvSpPr>
          <p:cNvPr id="1938882151" name="Текст 35"/>
          <p:cNvSpPr>
            <a:spLocks noGrp="1"/>
          </p:cNvSpPr>
          <p:nvPr>
            <p:ph type="body" sz="quarter" idx="18"/>
          </p:nvPr>
        </p:nvSpPr>
        <p:spPr bwMode="auto">
          <a:xfrm>
            <a:off x="6683077" y="1626932"/>
            <a:ext cx="4790314" cy="1015291"/>
          </a:xfrm>
          <a:prstGeom prst="rect">
            <a:avLst/>
          </a:prstGeom>
        </p:spPr>
        <p:txBody>
          <a:bodyPr>
            <a:normAutofit/>
          </a:bodyPr>
          <a:lstStyle>
            <a:lvl1pPr>
              <a:defRPr sz="1400"/>
            </a:lvl1pPr>
          </a:lstStyle>
          <a:p>
            <a:pPr lvl="0">
              <a:defRPr/>
            </a:pPr>
            <a:r>
              <a:rPr lang="ru-RU"/>
              <a:t>Образец текста</a:t>
            </a:r>
            <a:endParaRPr/>
          </a:p>
        </p:txBody>
      </p:sp>
      <p:sp>
        <p:nvSpPr>
          <p:cNvPr id="1018155805" name="Текст 35"/>
          <p:cNvSpPr>
            <a:spLocks noGrp="1"/>
          </p:cNvSpPr>
          <p:nvPr>
            <p:ph type="body" sz="quarter" idx="22"/>
          </p:nvPr>
        </p:nvSpPr>
        <p:spPr bwMode="auto">
          <a:xfrm>
            <a:off x="6683077" y="2807582"/>
            <a:ext cx="4790314" cy="1615356"/>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defRPr/>
            </a:pPr>
            <a:r>
              <a:rPr lang="ru-RU"/>
              <a:t>Образец текста</a:t>
            </a:r>
            <a:endParaRPr/>
          </a:p>
        </p:txBody>
      </p:sp>
      <p:sp>
        <p:nvSpPr>
          <p:cNvPr id="1263972428" name="Текст 35"/>
          <p:cNvSpPr>
            <a:spLocks noGrp="1"/>
          </p:cNvSpPr>
          <p:nvPr>
            <p:ph type="body" sz="quarter" idx="23"/>
          </p:nvPr>
        </p:nvSpPr>
        <p:spPr bwMode="auto">
          <a:xfrm>
            <a:off x="6683077" y="3407647"/>
            <a:ext cx="4790314" cy="1015291"/>
          </a:xfrm>
          <a:prstGeom prst="rect">
            <a:avLst/>
          </a:prstGeom>
        </p:spPr>
        <p:txBody>
          <a:bodyPr>
            <a:normAutofit/>
          </a:bodyPr>
          <a:lstStyle>
            <a:lvl1pPr>
              <a:defRPr sz="1400"/>
            </a:lvl1pPr>
          </a:lstStyle>
          <a:p>
            <a:pPr lvl="0">
              <a:defRPr/>
            </a:pPr>
            <a:r>
              <a:rPr lang="ru-RU"/>
              <a:t>Образец текста</a:t>
            </a:r>
            <a:endParaRPr/>
          </a:p>
        </p:txBody>
      </p:sp>
      <p:sp>
        <p:nvSpPr>
          <p:cNvPr id="564720584" name="Текст 35"/>
          <p:cNvSpPr>
            <a:spLocks noGrp="1"/>
          </p:cNvSpPr>
          <p:nvPr>
            <p:ph type="body" sz="quarter" idx="24"/>
          </p:nvPr>
        </p:nvSpPr>
        <p:spPr bwMode="auto">
          <a:xfrm>
            <a:off x="6683077" y="4584029"/>
            <a:ext cx="4790314" cy="1615356"/>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defRPr/>
            </a:pPr>
            <a:r>
              <a:rPr lang="ru-RU"/>
              <a:t>Образец текста</a:t>
            </a:r>
            <a:endParaRPr/>
          </a:p>
        </p:txBody>
      </p:sp>
      <p:sp>
        <p:nvSpPr>
          <p:cNvPr id="722754983" name="Текст 35"/>
          <p:cNvSpPr>
            <a:spLocks noGrp="1"/>
          </p:cNvSpPr>
          <p:nvPr>
            <p:ph type="body" sz="quarter" idx="25"/>
          </p:nvPr>
        </p:nvSpPr>
        <p:spPr bwMode="auto">
          <a:xfrm>
            <a:off x="6683077" y="5184094"/>
            <a:ext cx="4790314" cy="1015291"/>
          </a:xfrm>
          <a:prstGeom prst="rect">
            <a:avLst/>
          </a:prstGeom>
        </p:spPr>
        <p:txBody>
          <a:bodyPr>
            <a:normAutofit/>
          </a:bodyPr>
          <a:lstStyle>
            <a:lvl1pPr>
              <a:defRPr sz="1400"/>
            </a:lvl1pPr>
          </a:lstStyle>
          <a:p>
            <a:pPr lvl="0">
              <a:defRPr/>
            </a:pPr>
            <a:r>
              <a:rPr lang="ru-RU"/>
              <a:t>Образец текста</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Статистика">
    <p:spTree>
      <p:nvGrpSpPr>
        <p:cNvPr id="1" name=""/>
        <p:cNvGrpSpPr/>
        <p:nvPr/>
      </p:nvGrpSpPr>
      <p:grpSpPr bwMode="auto">
        <a:xfrm>
          <a:off x="0" y="0"/>
          <a:ext cx="0" cy="0"/>
          <a:chOff x="0" y="0"/>
          <a:chExt cx="0" cy="0"/>
        </a:xfrm>
      </p:grpSpPr>
      <p:sp>
        <p:nvSpPr>
          <p:cNvPr id="1788581099"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2938A0C3-5C2F-47B8-B008-79A49A1195BA}" type="datetime1">
              <a:rPr lang="ru-RU"/>
              <a:t>16.09.2026</a:t>
            </a:fld>
            <a:endParaRPr lang="ru-RU"/>
          </a:p>
        </p:txBody>
      </p:sp>
      <p:sp>
        <p:nvSpPr>
          <p:cNvPr id="450794199"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1900815293"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597326524" name="Заголовок 1"/>
          <p:cNvSpPr>
            <a:spLocks noGrp="1"/>
          </p:cNvSpPr>
          <p:nvPr>
            <p:ph type="title"/>
          </p:nvPr>
        </p:nvSpPr>
        <p:spPr bwMode="auto">
          <a:xfrm>
            <a:off x="349532"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1691145851" name="Текст 35"/>
          <p:cNvSpPr>
            <a:spLocks noGrp="1"/>
          </p:cNvSpPr>
          <p:nvPr>
            <p:ph type="body" sz="quarter" idx="21"/>
          </p:nvPr>
        </p:nvSpPr>
        <p:spPr bwMode="auto">
          <a:xfrm>
            <a:off x="6683077" y="1016000"/>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1"/>
                </a:solidFill>
              </a:defRPr>
            </a:lvl1pPr>
          </a:lstStyle>
          <a:p>
            <a:pPr lvl="0">
              <a:defRPr/>
            </a:pPr>
            <a:r>
              <a:rPr lang="ru-RU"/>
              <a:t>Образец текста</a:t>
            </a:r>
            <a:endParaRPr/>
          </a:p>
        </p:txBody>
      </p:sp>
      <p:sp>
        <p:nvSpPr>
          <p:cNvPr id="41476688" name="Текст 35"/>
          <p:cNvSpPr>
            <a:spLocks noGrp="1"/>
          </p:cNvSpPr>
          <p:nvPr>
            <p:ph type="body" sz="quarter" idx="18"/>
          </p:nvPr>
        </p:nvSpPr>
        <p:spPr bwMode="auto">
          <a:xfrm>
            <a:off x="6683077" y="1395537"/>
            <a:ext cx="4790314" cy="642164"/>
          </a:xfrm>
          <a:prstGeom prst="rect">
            <a:avLst/>
          </a:prstGeom>
        </p:spPr>
        <p:txBody>
          <a:bodyPr>
            <a:normAutofit/>
          </a:bodyPr>
          <a:lstStyle>
            <a:lvl1pPr>
              <a:defRPr sz="1400"/>
            </a:lvl1pPr>
          </a:lstStyle>
          <a:p>
            <a:pPr lvl="0">
              <a:defRPr/>
            </a:pPr>
            <a:r>
              <a:rPr lang="ru-RU"/>
              <a:t>Образец текста</a:t>
            </a:r>
            <a:endParaRPr/>
          </a:p>
        </p:txBody>
      </p:sp>
      <p:sp>
        <p:nvSpPr>
          <p:cNvPr id="730660304" name="Текст 35"/>
          <p:cNvSpPr>
            <a:spLocks noGrp="1"/>
          </p:cNvSpPr>
          <p:nvPr>
            <p:ph type="body" sz="quarter" idx="22"/>
          </p:nvPr>
        </p:nvSpPr>
        <p:spPr bwMode="auto">
          <a:xfrm>
            <a:off x="6683077" y="2284561"/>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5">
                    <a:lumMod val="60000"/>
                    <a:lumOff val="40000"/>
                  </a:schemeClr>
                </a:solidFill>
              </a:defRPr>
            </a:lvl1pPr>
          </a:lstStyle>
          <a:p>
            <a:pPr lvl="0">
              <a:defRPr/>
            </a:pPr>
            <a:r>
              <a:rPr lang="ru-RU"/>
              <a:t>Образец текста</a:t>
            </a:r>
            <a:endParaRPr/>
          </a:p>
        </p:txBody>
      </p:sp>
      <p:sp>
        <p:nvSpPr>
          <p:cNvPr id="399164481" name="Текст 35"/>
          <p:cNvSpPr>
            <a:spLocks noGrp="1"/>
          </p:cNvSpPr>
          <p:nvPr>
            <p:ph type="body" sz="quarter" idx="23"/>
          </p:nvPr>
        </p:nvSpPr>
        <p:spPr bwMode="auto">
          <a:xfrm>
            <a:off x="6683077" y="2664098"/>
            <a:ext cx="4790314" cy="642164"/>
          </a:xfrm>
          <a:prstGeom prst="rect">
            <a:avLst/>
          </a:prstGeom>
        </p:spPr>
        <p:txBody>
          <a:bodyPr>
            <a:normAutofit/>
          </a:bodyPr>
          <a:lstStyle>
            <a:lvl1pPr>
              <a:defRPr sz="1400"/>
            </a:lvl1pPr>
          </a:lstStyle>
          <a:p>
            <a:pPr lvl="0">
              <a:defRPr/>
            </a:pPr>
            <a:r>
              <a:rPr lang="ru-RU"/>
              <a:t>Образец текста</a:t>
            </a:r>
            <a:endParaRPr/>
          </a:p>
        </p:txBody>
      </p:sp>
      <p:sp>
        <p:nvSpPr>
          <p:cNvPr id="1160248213" name="Текст 35"/>
          <p:cNvSpPr>
            <a:spLocks noGrp="1"/>
          </p:cNvSpPr>
          <p:nvPr>
            <p:ph type="body" sz="quarter" idx="24"/>
          </p:nvPr>
        </p:nvSpPr>
        <p:spPr bwMode="auto">
          <a:xfrm>
            <a:off x="6683077" y="3553122"/>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4"/>
                </a:solidFill>
              </a:defRPr>
            </a:lvl1pPr>
          </a:lstStyle>
          <a:p>
            <a:pPr lvl="0">
              <a:defRPr/>
            </a:pPr>
            <a:r>
              <a:rPr lang="ru-RU"/>
              <a:t>Образец текста</a:t>
            </a:r>
            <a:endParaRPr/>
          </a:p>
        </p:txBody>
      </p:sp>
      <p:sp>
        <p:nvSpPr>
          <p:cNvPr id="41652764" name="Текст 35"/>
          <p:cNvSpPr>
            <a:spLocks noGrp="1"/>
          </p:cNvSpPr>
          <p:nvPr>
            <p:ph type="body" sz="quarter" idx="25"/>
          </p:nvPr>
        </p:nvSpPr>
        <p:spPr bwMode="auto">
          <a:xfrm>
            <a:off x="6683077" y="3932658"/>
            <a:ext cx="4790314" cy="642164"/>
          </a:xfrm>
          <a:prstGeom prst="rect">
            <a:avLst/>
          </a:prstGeom>
        </p:spPr>
        <p:txBody>
          <a:bodyPr>
            <a:normAutofit/>
          </a:bodyPr>
          <a:lstStyle>
            <a:lvl1pPr>
              <a:defRPr sz="1400"/>
            </a:lvl1pPr>
          </a:lstStyle>
          <a:p>
            <a:pPr lvl="0">
              <a:defRPr/>
            </a:pPr>
            <a:r>
              <a:rPr lang="ru-RU"/>
              <a:t>Образец текста</a:t>
            </a:r>
            <a:endParaRPr/>
          </a:p>
        </p:txBody>
      </p:sp>
      <p:sp>
        <p:nvSpPr>
          <p:cNvPr id="969505246" name="Текст 35"/>
          <p:cNvSpPr>
            <a:spLocks noGrp="1"/>
          </p:cNvSpPr>
          <p:nvPr>
            <p:ph type="body" sz="quarter" idx="26"/>
          </p:nvPr>
        </p:nvSpPr>
        <p:spPr bwMode="auto">
          <a:xfrm>
            <a:off x="6683077" y="4821684"/>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defRPr/>
            </a:pPr>
            <a:r>
              <a:rPr lang="ru-RU"/>
              <a:t>Образец текста</a:t>
            </a:r>
            <a:endParaRPr/>
          </a:p>
        </p:txBody>
      </p:sp>
      <p:sp>
        <p:nvSpPr>
          <p:cNvPr id="469304354" name="Текст 35"/>
          <p:cNvSpPr>
            <a:spLocks noGrp="1"/>
          </p:cNvSpPr>
          <p:nvPr>
            <p:ph type="body" sz="quarter" idx="27"/>
          </p:nvPr>
        </p:nvSpPr>
        <p:spPr bwMode="auto">
          <a:xfrm>
            <a:off x="6683077" y="5201221"/>
            <a:ext cx="4790314" cy="642164"/>
          </a:xfrm>
          <a:prstGeom prst="rect">
            <a:avLst/>
          </a:prstGeom>
        </p:spPr>
        <p:txBody>
          <a:bodyPr>
            <a:normAutofit/>
          </a:bodyPr>
          <a:lstStyle>
            <a:lvl1pPr>
              <a:defRPr sz="1400"/>
            </a:lvl1pPr>
          </a:lstStyle>
          <a:p>
            <a:pPr lvl="0">
              <a:defRPr/>
            </a:pPr>
            <a:r>
              <a:rPr lang="ru-RU"/>
              <a:t>Образец текста</a:t>
            </a:r>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Статистика">
    <p:spTree>
      <p:nvGrpSpPr>
        <p:cNvPr id="1" name=""/>
        <p:cNvGrpSpPr/>
        <p:nvPr/>
      </p:nvGrpSpPr>
      <p:grpSpPr bwMode="auto">
        <a:xfrm>
          <a:off x="0" y="0"/>
          <a:ext cx="0" cy="0"/>
          <a:chOff x="0" y="0"/>
          <a:chExt cx="0" cy="0"/>
        </a:xfrm>
      </p:grpSpPr>
      <p:sp>
        <p:nvSpPr>
          <p:cNvPr id="1536669273"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BF4F29EB-DFD0-428E-8E89-ED117A3553E3}" type="datetime1">
              <a:rPr lang="ru-RU"/>
              <a:t>16.09.2026</a:t>
            </a:fld>
            <a:endParaRPr lang="ru-RU"/>
          </a:p>
        </p:txBody>
      </p:sp>
      <p:sp>
        <p:nvSpPr>
          <p:cNvPr id="343755584"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971522661"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1245142924" name="Заголовок 1"/>
          <p:cNvSpPr>
            <a:spLocks noGrp="1"/>
          </p:cNvSpPr>
          <p:nvPr>
            <p:ph type="title"/>
          </p:nvPr>
        </p:nvSpPr>
        <p:spPr bwMode="auto">
          <a:xfrm>
            <a:off x="367721"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1632442884" name="Текст 35"/>
          <p:cNvSpPr>
            <a:spLocks noGrp="1"/>
          </p:cNvSpPr>
          <p:nvPr>
            <p:ph type="body" sz="quarter" idx="21"/>
          </p:nvPr>
        </p:nvSpPr>
        <p:spPr bwMode="auto">
          <a:xfrm>
            <a:off x="6683077" y="1016000"/>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1"/>
                </a:solidFill>
              </a:defRPr>
            </a:lvl1pPr>
          </a:lstStyle>
          <a:p>
            <a:pPr lvl="0">
              <a:defRPr/>
            </a:pPr>
            <a:r>
              <a:rPr lang="ru-RU"/>
              <a:t>Образец текста</a:t>
            </a:r>
            <a:endParaRPr/>
          </a:p>
        </p:txBody>
      </p:sp>
      <p:sp>
        <p:nvSpPr>
          <p:cNvPr id="1491519423" name="Текст 35"/>
          <p:cNvSpPr>
            <a:spLocks noGrp="1"/>
          </p:cNvSpPr>
          <p:nvPr>
            <p:ph type="body" sz="quarter" idx="18"/>
          </p:nvPr>
        </p:nvSpPr>
        <p:spPr bwMode="auto">
          <a:xfrm>
            <a:off x="6683077" y="1395537"/>
            <a:ext cx="4790314" cy="642164"/>
          </a:xfrm>
          <a:prstGeom prst="rect">
            <a:avLst/>
          </a:prstGeom>
        </p:spPr>
        <p:txBody>
          <a:bodyPr>
            <a:normAutofit/>
          </a:bodyPr>
          <a:lstStyle>
            <a:lvl1pPr>
              <a:defRPr sz="1400"/>
            </a:lvl1pPr>
          </a:lstStyle>
          <a:p>
            <a:pPr lvl="0">
              <a:defRPr/>
            </a:pPr>
            <a:r>
              <a:rPr lang="ru-RU"/>
              <a:t>Образец текста</a:t>
            </a:r>
            <a:endParaRPr/>
          </a:p>
        </p:txBody>
      </p:sp>
      <p:sp>
        <p:nvSpPr>
          <p:cNvPr id="2018792073" name="Текст 35"/>
          <p:cNvSpPr>
            <a:spLocks noGrp="1"/>
          </p:cNvSpPr>
          <p:nvPr>
            <p:ph type="body" sz="quarter" idx="22"/>
          </p:nvPr>
        </p:nvSpPr>
        <p:spPr bwMode="auto">
          <a:xfrm>
            <a:off x="6683077" y="2284561"/>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5">
                    <a:lumMod val="60000"/>
                    <a:lumOff val="40000"/>
                  </a:schemeClr>
                </a:solidFill>
              </a:defRPr>
            </a:lvl1pPr>
          </a:lstStyle>
          <a:p>
            <a:pPr lvl="0">
              <a:defRPr/>
            </a:pPr>
            <a:r>
              <a:rPr lang="ru-RU"/>
              <a:t>Образец текста</a:t>
            </a:r>
            <a:endParaRPr/>
          </a:p>
        </p:txBody>
      </p:sp>
      <p:sp>
        <p:nvSpPr>
          <p:cNvPr id="1982414852" name="Текст 35"/>
          <p:cNvSpPr>
            <a:spLocks noGrp="1"/>
          </p:cNvSpPr>
          <p:nvPr>
            <p:ph type="body" sz="quarter" idx="23"/>
          </p:nvPr>
        </p:nvSpPr>
        <p:spPr bwMode="auto">
          <a:xfrm>
            <a:off x="6683077" y="2664098"/>
            <a:ext cx="4790314" cy="642164"/>
          </a:xfrm>
          <a:prstGeom prst="rect">
            <a:avLst/>
          </a:prstGeom>
        </p:spPr>
        <p:txBody>
          <a:bodyPr>
            <a:normAutofit/>
          </a:bodyPr>
          <a:lstStyle>
            <a:lvl1pPr>
              <a:defRPr sz="1400"/>
            </a:lvl1pPr>
          </a:lstStyle>
          <a:p>
            <a:pPr lvl="0">
              <a:defRPr/>
            </a:pPr>
            <a:r>
              <a:rPr lang="ru-RU"/>
              <a:t>Образец текста</a:t>
            </a:r>
            <a:endParaRPr/>
          </a:p>
        </p:txBody>
      </p:sp>
      <p:sp>
        <p:nvSpPr>
          <p:cNvPr id="1654076117" name="Текст 35"/>
          <p:cNvSpPr>
            <a:spLocks noGrp="1"/>
          </p:cNvSpPr>
          <p:nvPr>
            <p:ph type="body" sz="quarter" idx="24"/>
          </p:nvPr>
        </p:nvSpPr>
        <p:spPr bwMode="auto">
          <a:xfrm>
            <a:off x="6683077" y="3553122"/>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4"/>
                </a:solidFill>
              </a:defRPr>
            </a:lvl1pPr>
          </a:lstStyle>
          <a:p>
            <a:pPr lvl="0">
              <a:defRPr/>
            </a:pPr>
            <a:r>
              <a:rPr lang="ru-RU"/>
              <a:t>Образец текста</a:t>
            </a:r>
            <a:endParaRPr/>
          </a:p>
        </p:txBody>
      </p:sp>
      <p:sp>
        <p:nvSpPr>
          <p:cNvPr id="1562832623" name="Текст 35"/>
          <p:cNvSpPr>
            <a:spLocks noGrp="1"/>
          </p:cNvSpPr>
          <p:nvPr>
            <p:ph type="body" sz="quarter" idx="25"/>
          </p:nvPr>
        </p:nvSpPr>
        <p:spPr bwMode="auto">
          <a:xfrm>
            <a:off x="6683077" y="3932658"/>
            <a:ext cx="4790314" cy="642164"/>
          </a:xfrm>
          <a:prstGeom prst="rect">
            <a:avLst/>
          </a:prstGeom>
        </p:spPr>
        <p:txBody>
          <a:bodyPr>
            <a:normAutofit/>
          </a:bodyPr>
          <a:lstStyle>
            <a:lvl1pPr>
              <a:defRPr sz="1400"/>
            </a:lvl1pPr>
          </a:lstStyle>
          <a:p>
            <a:pPr lvl="0">
              <a:defRPr/>
            </a:pPr>
            <a:r>
              <a:rPr lang="ru-RU"/>
              <a:t>Образец текста</a:t>
            </a:r>
            <a:endParaRPr/>
          </a:p>
        </p:txBody>
      </p:sp>
      <p:sp>
        <p:nvSpPr>
          <p:cNvPr id="1206192035" name="Текст 35"/>
          <p:cNvSpPr>
            <a:spLocks noGrp="1"/>
          </p:cNvSpPr>
          <p:nvPr>
            <p:ph type="body" sz="quarter" idx="26"/>
          </p:nvPr>
        </p:nvSpPr>
        <p:spPr bwMode="auto">
          <a:xfrm>
            <a:off x="6683077" y="4821684"/>
            <a:ext cx="4790314" cy="1021701"/>
          </a:xfrm>
          <a:prstGeom prst="roundRect">
            <a:avLst>
              <a:gd name="adj" fmla="val 1666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defRPr/>
            </a:pPr>
            <a:r>
              <a:rPr lang="ru-RU"/>
              <a:t>Образец текста</a:t>
            </a:r>
            <a:endParaRPr/>
          </a:p>
        </p:txBody>
      </p:sp>
      <p:sp>
        <p:nvSpPr>
          <p:cNvPr id="1154626048" name="Текст 35"/>
          <p:cNvSpPr>
            <a:spLocks noGrp="1"/>
          </p:cNvSpPr>
          <p:nvPr>
            <p:ph type="body" sz="quarter" idx="27"/>
          </p:nvPr>
        </p:nvSpPr>
        <p:spPr bwMode="auto">
          <a:xfrm>
            <a:off x="6683077" y="5201221"/>
            <a:ext cx="4790314" cy="642164"/>
          </a:xfrm>
          <a:prstGeom prst="rect">
            <a:avLst/>
          </a:prstGeom>
        </p:spPr>
        <p:txBody>
          <a:bodyPr>
            <a:normAutofit/>
          </a:bodyPr>
          <a:lstStyle>
            <a:lvl1pPr>
              <a:defRPr sz="1400"/>
            </a:lvl1pPr>
          </a:lstStyle>
          <a:p>
            <a:pPr lvl="0">
              <a:defRPr/>
            </a:pPr>
            <a:r>
              <a:rPr lang="ru-RU"/>
              <a:t>Образец текста</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Стадии">
    <p:spTree>
      <p:nvGrpSpPr>
        <p:cNvPr id="1" name=""/>
        <p:cNvGrpSpPr/>
        <p:nvPr/>
      </p:nvGrpSpPr>
      <p:grpSpPr bwMode="auto">
        <a:xfrm>
          <a:off x="0" y="0"/>
          <a:ext cx="0" cy="0"/>
          <a:chOff x="0" y="0"/>
          <a:chExt cx="0" cy="0"/>
        </a:xfrm>
      </p:grpSpPr>
      <p:sp>
        <p:nvSpPr>
          <p:cNvPr id="1148498588"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D52F0272-0FEA-44CE-966E-3D169B2F53D4}" type="datetime1">
              <a:rPr lang="ru-RU"/>
              <a:t>16.09.2026</a:t>
            </a:fld>
            <a:endParaRPr lang="ru-RU"/>
          </a:p>
        </p:txBody>
      </p:sp>
      <p:sp>
        <p:nvSpPr>
          <p:cNvPr id="1448452554"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233109929"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1124927468" name="Текст 35"/>
          <p:cNvSpPr>
            <a:spLocks noGrp="1"/>
          </p:cNvSpPr>
          <p:nvPr>
            <p:ph type="body" sz="quarter" idx="26"/>
          </p:nvPr>
        </p:nvSpPr>
        <p:spPr bwMode="auto">
          <a:xfrm>
            <a:off x="346075"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defRPr/>
            </a:pPr>
            <a:r>
              <a:rPr lang="ru-RU"/>
              <a:t>Образец текста</a:t>
            </a:r>
            <a:endParaRPr/>
          </a:p>
        </p:txBody>
      </p:sp>
      <p:sp>
        <p:nvSpPr>
          <p:cNvPr id="1413225624" name="Текст 35"/>
          <p:cNvSpPr>
            <a:spLocks noGrp="1"/>
          </p:cNvSpPr>
          <p:nvPr>
            <p:ph type="body" sz="quarter" idx="27"/>
          </p:nvPr>
        </p:nvSpPr>
        <p:spPr bwMode="auto">
          <a:xfrm>
            <a:off x="346075" y="1380939"/>
            <a:ext cx="2526079" cy="1120685"/>
          </a:xfrm>
          <a:prstGeom prst="rect">
            <a:avLst/>
          </a:prstGeom>
        </p:spPr>
        <p:txBody>
          <a:bodyPr>
            <a:normAutofit/>
          </a:bodyPr>
          <a:lstStyle>
            <a:lvl1pPr>
              <a:defRPr sz="1400"/>
            </a:lvl1pPr>
          </a:lstStyle>
          <a:p>
            <a:pPr lvl="0">
              <a:defRPr/>
            </a:pPr>
            <a:r>
              <a:rPr lang="ru-RU"/>
              <a:t>Образец текста</a:t>
            </a:r>
            <a:endParaRPr/>
          </a:p>
        </p:txBody>
      </p:sp>
      <p:sp>
        <p:nvSpPr>
          <p:cNvPr id="1376240833" name="Текст 35"/>
          <p:cNvSpPr>
            <a:spLocks noGrp="1"/>
          </p:cNvSpPr>
          <p:nvPr>
            <p:ph type="body" sz="quarter" idx="28"/>
          </p:nvPr>
        </p:nvSpPr>
        <p:spPr bwMode="auto">
          <a:xfrm>
            <a:off x="4832960"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defRPr/>
            </a:pPr>
            <a:r>
              <a:rPr lang="ru-RU"/>
              <a:t>Образец текста</a:t>
            </a:r>
            <a:endParaRPr/>
          </a:p>
        </p:txBody>
      </p:sp>
      <p:sp>
        <p:nvSpPr>
          <p:cNvPr id="876004260" name="Текст 35"/>
          <p:cNvSpPr>
            <a:spLocks noGrp="1"/>
          </p:cNvSpPr>
          <p:nvPr>
            <p:ph type="body" sz="quarter" idx="29"/>
          </p:nvPr>
        </p:nvSpPr>
        <p:spPr bwMode="auto">
          <a:xfrm>
            <a:off x="4832960" y="1380939"/>
            <a:ext cx="2526079" cy="1120685"/>
          </a:xfrm>
          <a:prstGeom prst="rect">
            <a:avLst/>
          </a:prstGeom>
        </p:spPr>
        <p:txBody>
          <a:bodyPr>
            <a:normAutofit/>
          </a:bodyPr>
          <a:lstStyle>
            <a:lvl1pPr>
              <a:defRPr sz="1400"/>
            </a:lvl1pPr>
          </a:lstStyle>
          <a:p>
            <a:pPr lvl="0">
              <a:defRPr/>
            </a:pPr>
            <a:r>
              <a:rPr lang="ru-RU"/>
              <a:t>Образец текста</a:t>
            </a:r>
            <a:endParaRPr/>
          </a:p>
        </p:txBody>
      </p:sp>
      <p:sp>
        <p:nvSpPr>
          <p:cNvPr id="1977609924" name="Текст 35"/>
          <p:cNvSpPr>
            <a:spLocks noGrp="1"/>
          </p:cNvSpPr>
          <p:nvPr>
            <p:ph type="body" sz="quarter" idx="30"/>
          </p:nvPr>
        </p:nvSpPr>
        <p:spPr bwMode="auto">
          <a:xfrm>
            <a:off x="9330862"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defRPr/>
            </a:pPr>
            <a:r>
              <a:rPr lang="ru-RU"/>
              <a:t>Образец текста</a:t>
            </a:r>
            <a:endParaRPr/>
          </a:p>
        </p:txBody>
      </p:sp>
      <p:sp>
        <p:nvSpPr>
          <p:cNvPr id="199710853" name="Текст 35"/>
          <p:cNvSpPr>
            <a:spLocks noGrp="1"/>
          </p:cNvSpPr>
          <p:nvPr>
            <p:ph type="body" sz="quarter" idx="31"/>
          </p:nvPr>
        </p:nvSpPr>
        <p:spPr bwMode="auto">
          <a:xfrm>
            <a:off x="9330862" y="1380939"/>
            <a:ext cx="2526079" cy="1120685"/>
          </a:xfrm>
          <a:prstGeom prst="rect">
            <a:avLst/>
          </a:prstGeom>
        </p:spPr>
        <p:txBody>
          <a:bodyPr>
            <a:normAutofit/>
          </a:bodyPr>
          <a:lstStyle>
            <a:lvl1pPr>
              <a:defRPr sz="1400"/>
            </a:lvl1pPr>
          </a:lstStyle>
          <a:p>
            <a:pPr lvl="0">
              <a:defRPr/>
            </a:pPr>
            <a:r>
              <a:rPr lang="ru-RU"/>
              <a:t>Образец текста</a:t>
            </a:r>
            <a:endParaRPr/>
          </a:p>
        </p:txBody>
      </p:sp>
      <p:sp>
        <p:nvSpPr>
          <p:cNvPr id="1949188184" name="Текст 35"/>
          <p:cNvSpPr>
            <a:spLocks noGrp="1"/>
          </p:cNvSpPr>
          <p:nvPr>
            <p:ph type="body" sz="quarter" idx="32"/>
          </p:nvPr>
        </p:nvSpPr>
        <p:spPr bwMode="auto">
          <a:xfrm>
            <a:off x="2593517" y="4358152"/>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defRPr/>
            </a:pPr>
            <a:r>
              <a:rPr lang="ru-RU"/>
              <a:t>Образец текста</a:t>
            </a:r>
            <a:endParaRPr/>
          </a:p>
        </p:txBody>
      </p:sp>
      <p:sp>
        <p:nvSpPr>
          <p:cNvPr id="1268968598" name="Текст 35"/>
          <p:cNvSpPr>
            <a:spLocks noGrp="1"/>
          </p:cNvSpPr>
          <p:nvPr>
            <p:ph type="body" sz="quarter" idx="33"/>
          </p:nvPr>
        </p:nvSpPr>
        <p:spPr bwMode="auto">
          <a:xfrm>
            <a:off x="2593517" y="4714154"/>
            <a:ext cx="2526079" cy="1120685"/>
          </a:xfrm>
          <a:prstGeom prst="rect">
            <a:avLst/>
          </a:prstGeom>
        </p:spPr>
        <p:txBody>
          <a:bodyPr>
            <a:normAutofit/>
          </a:bodyPr>
          <a:lstStyle>
            <a:lvl1pPr>
              <a:defRPr sz="1400"/>
            </a:lvl1pPr>
          </a:lstStyle>
          <a:p>
            <a:pPr lvl="0">
              <a:defRPr/>
            </a:pPr>
            <a:r>
              <a:rPr lang="ru-RU"/>
              <a:t>Образец текста</a:t>
            </a:r>
            <a:endParaRPr/>
          </a:p>
        </p:txBody>
      </p:sp>
      <p:sp>
        <p:nvSpPr>
          <p:cNvPr id="595903953" name="Текст 35"/>
          <p:cNvSpPr>
            <a:spLocks noGrp="1"/>
          </p:cNvSpPr>
          <p:nvPr>
            <p:ph type="body" sz="quarter" idx="34"/>
          </p:nvPr>
        </p:nvSpPr>
        <p:spPr bwMode="auto">
          <a:xfrm>
            <a:off x="7080402" y="4358152"/>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defRPr/>
            </a:pPr>
            <a:r>
              <a:rPr lang="ru-RU"/>
              <a:t>Образец текста</a:t>
            </a:r>
            <a:endParaRPr/>
          </a:p>
        </p:txBody>
      </p:sp>
      <p:sp>
        <p:nvSpPr>
          <p:cNvPr id="410288170" name="Текст 35"/>
          <p:cNvSpPr>
            <a:spLocks noGrp="1"/>
          </p:cNvSpPr>
          <p:nvPr>
            <p:ph type="body" sz="quarter" idx="35"/>
          </p:nvPr>
        </p:nvSpPr>
        <p:spPr bwMode="auto">
          <a:xfrm>
            <a:off x="7080402" y="4714154"/>
            <a:ext cx="2526079" cy="1120685"/>
          </a:xfrm>
          <a:prstGeom prst="rect">
            <a:avLst/>
          </a:prstGeom>
        </p:spPr>
        <p:txBody>
          <a:bodyPr>
            <a:normAutofit/>
          </a:bodyPr>
          <a:lstStyle>
            <a:lvl1pPr>
              <a:defRPr sz="1400"/>
            </a:lvl1pPr>
          </a:lstStyle>
          <a:p>
            <a:pPr lvl="0">
              <a:defRPr/>
            </a:pPr>
            <a:r>
              <a:rPr lang="ru-RU"/>
              <a:t>Образец текста</a:t>
            </a:r>
            <a:endParaRPr/>
          </a:p>
        </p:txBody>
      </p:sp>
      <p:sp>
        <p:nvSpPr>
          <p:cNvPr id="74155163" name="Заголовок 1"/>
          <p:cNvSpPr>
            <a:spLocks noGrp="1"/>
          </p:cNvSpPr>
          <p:nvPr>
            <p:ph type="title"/>
          </p:nvPr>
        </p:nvSpPr>
        <p:spPr bwMode="auto">
          <a:xfrm>
            <a:off x="384256"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Проблема и решение">
    <p:spTree>
      <p:nvGrpSpPr>
        <p:cNvPr id="1" name=""/>
        <p:cNvGrpSpPr/>
        <p:nvPr/>
      </p:nvGrpSpPr>
      <p:grpSpPr bwMode="auto">
        <a:xfrm>
          <a:off x="0" y="0"/>
          <a:ext cx="0" cy="0"/>
          <a:chOff x="0" y="0"/>
          <a:chExt cx="0" cy="0"/>
        </a:xfrm>
      </p:grpSpPr>
      <p:sp>
        <p:nvSpPr>
          <p:cNvPr id="649579838"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062B0DBE-B5A9-470E-85A9-7CC062D5339A}" type="datetime1">
              <a:rPr lang="ru-RU"/>
              <a:t>16.09.2026</a:t>
            </a:fld>
            <a:endParaRPr lang="ru-RU"/>
          </a:p>
        </p:txBody>
      </p:sp>
      <p:sp>
        <p:nvSpPr>
          <p:cNvPr id="1675805337"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314337200"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560885061" name="Заголовок 1"/>
          <p:cNvSpPr>
            <a:spLocks noGrp="1"/>
          </p:cNvSpPr>
          <p:nvPr>
            <p:ph type="title"/>
          </p:nvPr>
        </p:nvSpPr>
        <p:spPr bwMode="auto">
          <a:xfrm>
            <a:off x="357650"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1122197277" name="Текст 35"/>
          <p:cNvSpPr>
            <a:spLocks noGrp="1"/>
          </p:cNvSpPr>
          <p:nvPr>
            <p:ph type="body" sz="quarter" idx="26" hasCustomPrompt="1"/>
          </p:nvPr>
        </p:nvSpPr>
        <p:spPr bwMode="auto">
          <a:xfrm>
            <a:off x="517027"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defRPr/>
            </a:pPr>
            <a:r>
              <a:rPr lang="ru-RU"/>
              <a:t>Описание проблемы </a:t>
            </a:r>
            <a:endParaRPr/>
          </a:p>
        </p:txBody>
      </p:sp>
      <p:sp>
        <p:nvSpPr>
          <p:cNvPr id="116118850" name="Текст 35"/>
          <p:cNvSpPr>
            <a:spLocks noGrp="1"/>
          </p:cNvSpPr>
          <p:nvPr>
            <p:ph type="body" sz="quarter" idx="31" hasCustomPrompt="1"/>
          </p:nvPr>
        </p:nvSpPr>
        <p:spPr bwMode="auto">
          <a:xfrm>
            <a:off x="4464542"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defRPr/>
            </a:pPr>
            <a:r>
              <a:rPr lang="ru-RU"/>
              <a:t>Примеры уже имеющихся способов решения данной проблемы</a:t>
            </a:r>
            <a:endParaRPr/>
          </a:p>
        </p:txBody>
      </p:sp>
      <p:sp>
        <p:nvSpPr>
          <p:cNvPr id="1428729295" name="Текст 35"/>
          <p:cNvSpPr>
            <a:spLocks noGrp="1"/>
          </p:cNvSpPr>
          <p:nvPr>
            <p:ph type="body" sz="quarter" idx="32" hasCustomPrompt="1"/>
          </p:nvPr>
        </p:nvSpPr>
        <p:spPr bwMode="auto">
          <a:xfrm>
            <a:off x="8385481"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defRPr/>
            </a:pPr>
            <a:r>
              <a:rPr lang="ru-RU"/>
              <a:t>Ваше предложение решения данной проблемы</a:t>
            </a:r>
            <a:endParaRPr/>
          </a:p>
        </p:txBody>
      </p:sp>
      <p:sp>
        <p:nvSpPr>
          <p:cNvPr id="856443119" name="Текст 35"/>
          <p:cNvSpPr>
            <a:spLocks noGrp="1"/>
          </p:cNvSpPr>
          <p:nvPr>
            <p:ph type="body" sz="quarter" idx="33" hasCustomPrompt="1"/>
          </p:nvPr>
        </p:nvSpPr>
        <p:spPr bwMode="auto">
          <a:xfrm>
            <a:off x="517027"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defRPr/>
            </a:pPr>
            <a:r>
              <a:rPr lang="ru-RU"/>
              <a:t>Проблема</a:t>
            </a:r>
            <a:endParaRPr/>
          </a:p>
        </p:txBody>
      </p:sp>
      <p:sp>
        <p:nvSpPr>
          <p:cNvPr id="1922520453" name="Текст 35"/>
          <p:cNvSpPr>
            <a:spLocks noGrp="1"/>
          </p:cNvSpPr>
          <p:nvPr>
            <p:ph type="body" sz="quarter" idx="34" hasCustomPrompt="1"/>
          </p:nvPr>
        </p:nvSpPr>
        <p:spPr bwMode="auto">
          <a:xfrm>
            <a:off x="4464542"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defRPr/>
            </a:pPr>
            <a:r>
              <a:rPr lang="ru-RU"/>
              <a:t>Альтернативные решения</a:t>
            </a:r>
            <a:endParaRPr/>
          </a:p>
        </p:txBody>
      </p:sp>
      <p:sp>
        <p:nvSpPr>
          <p:cNvPr id="1034779806" name="Текст 35"/>
          <p:cNvSpPr>
            <a:spLocks noGrp="1"/>
          </p:cNvSpPr>
          <p:nvPr>
            <p:ph type="body" sz="quarter" idx="35" hasCustomPrompt="1"/>
          </p:nvPr>
        </p:nvSpPr>
        <p:spPr bwMode="auto">
          <a:xfrm>
            <a:off x="8385481"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defRPr/>
            </a:pPr>
            <a:r>
              <a:rPr lang="ru-RU"/>
              <a:t>Решение</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Демо_1">
    <p:spTree>
      <p:nvGrpSpPr>
        <p:cNvPr id="1" name=""/>
        <p:cNvGrpSpPr/>
        <p:nvPr/>
      </p:nvGrpSpPr>
      <p:grpSpPr bwMode="auto">
        <a:xfrm>
          <a:off x="0" y="0"/>
          <a:ext cx="0" cy="0"/>
          <a:chOff x="0" y="0"/>
          <a:chExt cx="0" cy="0"/>
        </a:xfrm>
      </p:grpSpPr>
      <p:sp>
        <p:nvSpPr>
          <p:cNvPr id="1085086165" name="Picture Placeholder 1"/>
          <p:cNvSpPr>
            <a:spLocks noGrp="1"/>
          </p:cNvSpPr>
          <p:nvPr>
            <p:ph type="pic" sz="quarter" idx="14"/>
          </p:nvPr>
        </p:nvSpPr>
        <p:spPr bwMode="auto">
          <a:xfrm>
            <a:off x="4162940" y="1264478"/>
            <a:ext cx="3866121" cy="2436377"/>
          </a:xfrm>
        </p:spPr>
      </p:sp>
      <p:sp>
        <p:nvSpPr>
          <p:cNvPr id="896489918"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4D396B86-640F-4AD1-BBB2-E085B6CD8771}" type="datetime1">
              <a:rPr lang="ru-RU"/>
              <a:t>16.09.2026</a:t>
            </a:fld>
            <a:endParaRPr lang="ru-RU"/>
          </a:p>
        </p:txBody>
      </p:sp>
      <p:sp>
        <p:nvSpPr>
          <p:cNvPr id="378127741"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1938890696"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347150518" name="Заголовок 1"/>
          <p:cNvSpPr>
            <a:spLocks noGrp="1"/>
          </p:cNvSpPr>
          <p:nvPr>
            <p:ph type="title"/>
          </p:nvPr>
        </p:nvSpPr>
        <p:spPr bwMode="auto">
          <a:xfrm>
            <a:off x="346075"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2021024583" name="Текст 7"/>
          <p:cNvSpPr>
            <a:spLocks noGrp="1"/>
          </p:cNvSpPr>
          <p:nvPr>
            <p:ph type="body" sz="quarter" idx="15"/>
          </p:nvPr>
        </p:nvSpPr>
        <p:spPr bwMode="auto">
          <a:xfrm>
            <a:off x="346075" y="4656083"/>
            <a:ext cx="3626835" cy="1544692"/>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320280167" name="Текст 7"/>
          <p:cNvSpPr>
            <a:spLocks noGrp="1"/>
          </p:cNvSpPr>
          <p:nvPr>
            <p:ph type="body" sz="quarter" idx="16"/>
          </p:nvPr>
        </p:nvSpPr>
        <p:spPr bwMode="auto">
          <a:xfrm>
            <a:off x="4240502" y="4656083"/>
            <a:ext cx="3626835" cy="1544692"/>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604478788" name="Текст 7"/>
          <p:cNvSpPr>
            <a:spLocks noGrp="1"/>
          </p:cNvSpPr>
          <p:nvPr>
            <p:ph type="body" sz="quarter" idx="17"/>
          </p:nvPr>
        </p:nvSpPr>
        <p:spPr bwMode="auto">
          <a:xfrm>
            <a:off x="8230203" y="4656083"/>
            <a:ext cx="3626835" cy="1544692"/>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Демо_1">
    <p:spTree>
      <p:nvGrpSpPr>
        <p:cNvPr id="1" name=""/>
        <p:cNvGrpSpPr/>
        <p:nvPr/>
      </p:nvGrpSpPr>
      <p:grpSpPr bwMode="auto">
        <a:xfrm>
          <a:off x="0" y="0"/>
          <a:ext cx="0" cy="0"/>
          <a:chOff x="0" y="0"/>
          <a:chExt cx="0" cy="0"/>
        </a:xfrm>
      </p:grpSpPr>
      <p:sp>
        <p:nvSpPr>
          <p:cNvPr id="58123572"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93AF0E63-1EB1-47F5-B09E-CA3E5DE528F3}" type="datetime1">
              <a:rPr lang="ru-RU"/>
              <a:t>16.09.2026</a:t>
            </a:fld>
            <a:endParaRPr lang="ru-RU"/>
          </a:p>
        </p:txBody>
      </p:sp>
      <p:sp>
        <p:nvSpPr>
          <p:cNvPr id="1147169938"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630368713"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1259102376" name="Заголовок 1"/>
          <p:cNvSpPr>
            <a:spLocks noGrp="1"/>
          </p:cNvSpPr>
          <p:nvPr>
            <p:ph type="title"/>
          </p:nvPr>
        </p:nvSpPr>
        <p:spPr bwMode="auto">
          <a:xfrm>
            <a:off x="353289"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93639810" name="Текст 7"/>
          <p:cNvSpPr>
            <a:spLocks noGrp="1"/>
          </p:cNvSpPr>
          <p:nvPr>
            <p:ph type="body" sz="quarter" idx="15"/>
          </p:nvPr>
        </p:nvSpPr>
        <p:spPr bwMode="auto">
          <a:xfrm>
            <a:off x="1210643" y="4324451"/>
            <a:ext cx="4121687" cy="1612262"/>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99722443" name="Текст 7"/>
          <p:cNvSpPr>
            <a:spLocks noGrp="1"/>
          </p:cNvSpPr>
          <p:nvPr>
            <p:ph type="body" sz="quarter" idx="16"/>
          </p:nvPr>
        </p:nvSpPr>
        <p:spPr bwMode="auto">
          <a:xfrm>
            <a:off x="6857950" y="4324451"/>
            <a:ext cx="4121687" cy="1612262"/>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525584501" name="Picture Placeholder 1"/>
          <p:cNvSpPr>
            <a:spLocks noGrp="1"/>
          </p:cNvSpPr>
          <p:nvPr>
            <p:ph type="pic" sz="quarter" idx="14"/>
          </p:nvPr>
        </p:nvSpPr>
        <p:spPr bwMode="auto">
          <a:xfrm>
            <a:off x="1210642" y="1577998"/>
            <a:ext cx="4121688" cy="2283975"/>
          </a:xfrm>
        </p:spPr>
      </p:sp>
      <p:sp>
        <p:nvSpPr>
          <p:cNvPr id="823724485" name="Picture Placeholder 1"/>
          <p:cNvSpPr>
            <a:spLocks noGrp="1"/>
          </p:cNvSpPr>
          <p:nvPr>
            <p:ph type="pic" sz="quarter" idx="18"/>
          </p:nvPr>
        </p:nvSpPr>
        <p:spPr bwMode="auto">
          <a:xfrm>
            <a:off x="6855540" y="1577998"/>
            <a:ext cx="4121688" cy="2283975"/>
          </a:xfrm>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Демо_1">
    <p:spTree>
      <p:nvGrpSpPr>
        <p:cNvPr id="1" name=""/>
        <p:cNvGrpSpPr/>
        <p:nvPr/>
      </p:nvGrpSpPr>
      <p:grpSpPr bwMode="auto">
        <a:xfrm>
          <a:off x="0" y="0"/>
          <a:ext cx="0" cy="0"/>
          <a:chOff x="0" y="0"/>
          <a:chExt cx="0" cy="0"/>
        </a:xfrm>
      </p:grpSpPr>
      <p:sp>
        <p:nvSpPr>
          <p:cNvPr id="2145624748" name="Picture Placeholder 1"/>
          <p:cNvSpPr>
            <a:spLocks noGrp="1"/>
          </p:cNvSpPr>
          <p:nvPr>
            <p:ph type="pic" sz="quarter" idx="14"/>
          </p:nvPr>
        </p:nvSpPr>
        <p:spPr bwMode="auto">
          <a:xfrm>
            <a:off x="5009872" y="1235915"/>
            <a:ext cx="2172255" cy="4602697"/>
          </a:xfrm>
          <a:prstGeom prst="roundRect">
            <a:avLst>
              <a:gd name="adj" fmla="val 12528"/>
            </a:avLst>
          </a:prstGeom>
          <a:noFill/>
        </p:spPr>
      </p:sp>
      <p:sp>
        <p:nvSpPr>
          <p:cNvPr id="1906666371" name="Текст 35"/>
          <p:cNvSpPr>
            <a:spLocks noGrp="1"/>
          </p:cNvSpPr>
          <p:nvPr>
            <p:ph type="body" sz="quarter" idx="21"/>
          </p:nvPr>
        </p:nvSpPr>
        <p:spPr bwMode="auto">
          <a:xfrm>
            <a:off x="356349" y="1641283"/>
            <a:ext cx="3812931" cy="1021701"/>
          </a:xfrm>
          <a:prstGeom prst="roundRect">
            <a:avLst>
              <a:gd name="adj" fmla="val 16667"/>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1"/>
                </a:solidFill>
              </a:defRPr>
            </a:lvl1pPr>
          </a:lstStyle>
          <a:p>
            <a:pPr lvl="0">
              <a:defRPr/>
            </a:pPr>
            <a:r>
              <a:rPr lang="ru-RU"/>
              <a:t>Образец текста</a:t>
            </a:r>
            <a:endParaRPr/>
          </a:p>
        </p:txBody>
      </p:sp>
      <p:sp>
        <p:nvSpPr>
          <p:cNvPr id="1661976731" name="Текст 35"/>
          <p:cNvSpPr>
            <a:spLocks noGrp="1"/>
          </p:cNvSpPr>
          <p:nvPr>
            <p:ph type="body" sz="quarter" idx="18"/>
          </p:nvPr>
        </p:nvSpPr>
        <p:spPr bwMode="auto">
          <a:xfrm>
            <a:off x="356349" y="2020820"/>
            <a:ext cx="3812931" cy="1290596"/>
          </a:xfrm>
          <a:prstGeom prst="rect">
            <a:avLst/>
          </a:prstGeom>
        </p:spPr>
        <p:txBody>
          <a:bodyPr>
            <a:normAutofit/>
          </a:bodyPr>
          <a:lstStyle>
            <a:lvl1pPr>
              <a:defRPr sz="1400"/>
            </a:lvl1pPr>
          </a:lstStyle>
          <a:p>
            <a:pPr lvl="0">
              <a:defRPr/>
            </a:pPr>
            <a:r>
              <a:rPr lang="ru-RU"/>
              <a:t>Образец текста</a:t>
            </a:r>
            <a:endParaRPr/>
          </a:p>
        </p:txBody>
      </p:sp>
      <p:sp>
        <p:nvSpPr>
          <p:cNvPr id="690673764" name="Текст 35"/>
          <p:cNvSpPr>
            <a:spLocks noGrp="1"/>
          </p:cNvSpPr>
          <p:nvPr>
            <p:ph type="body" sz="quarter" idx="22"/>
          </p:nvPr>
        </p:nvSpPr>
        <p:spPr bwMode="auto">
          <a:xfrm>
            <a:off x="8040020" y="1641283"/>
            <a:ext cx="3812931" cy="1021701"/>
          </a:xfrm>
          <a:prstGeom prst="roundRect">
            <a:avLst>
              <a:gd name="adj" fmla="val 16667"/>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5">
                    <a:lumMod val="20000"/>
                    <a:lumOff val="80000"/>
                  </a:schemeClr>
                </a:solidFill>
              </a:defRPr>
            </a:lvl1pPr>
          </a:lstStyle>
          <a:p>
            <a:pPr lvl="0">
              <a:defRPr/>
            </a:pPr>
            <a:r>
              <a:rPr lang="ru-RU"/>
              <a:t>Образец текста</a:t>
            </a:r>
            <a:endParaRPr/>
          </a:p>
        </p:txBody>
      </p:sp>
      <p:sp>
        <p:nvSpPr>
          <p:cNvPr id="1078948986" name="Текст 35"/>
          <p:cNvSpPr>
            <a:spLocks noGrp="1"/>
          </p:cNvSpPr>
          <p:nvPr>
            <p:ph type="body" sz="quarter" idx="23"/>
          </p:nvPr>
        </p:nvSpPr>
        <p:spPr bwMode="auto">
          <a:xfrm>
            <a:off x="8040020" y="2020820"/>
            <a:ext cx="3812931" cy="1290596"/>
          </a:xfrm>
          <a:prstGeom prst="rect">
            <a:avLst/>
          </a:prstGeom>
        </p:spPr>
        <p:txBody>
          <a:bodyPr>
            <a:normAutofit/>
          </a:bodyPr>
          <a:lstStyle>
            <a:lvl1pPr>
              <a:defRPr sz="1400"/>
            </a:lvl1pPr>
          </a:lstStyle>
          <a:p>
            <a:pPr lvl="0">
              <a:defRPr/>
            </a:pPr>
            <a:r>
              <a:rPr lang="ru-RU"/>
              <a:t>Образец текста</a:t>
            </a:r>
            <a:endParaRPr/>
          </a:p>
        </p:txBody>
      </p:sp>
      <p:sp>
        <p:nvSpPr>
          <p:cNvPr id="658611594" name="Текст 35"/>
          <p:cNvSpPr>
            <a:spLocks noGrp="1"/>
          </p:cNvSpPr>
          <p:nvPr>
            <p:ph type="body" sz="quarter" idx="24"/>
          </p:nvPr>
        </p:nvSpPr>
        <p:spPr bwMode="auto">
          <a:xfrm>
            <a:off x="356349" y="3864598"/>
            <a:ext cx="3812931" cy="1021701"/>
          </a:xfrm>
          <a:prstGeom prst="roundRect">
            <a:avLst>
              <a:gd name="adj" fmla="val 16667"/>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4"/>
                </a:solidFill>
              </a:defRPr>
            </a:lvl1pPr>
          </a:lstStyle>
          <a:p>
            <a:pPr lvl="0">
              <a:defRPr/>
            </a:pPr>
            <a:r>
              <a:rPr lang="ru-RU"/>
              <a:t>Образец текста</a:t>
            </a:r>
            <a:endParaRPr/>
          </a:p>
        </p:txBody>
      </p:sp>
      <p:sp>
        <p:nvSpPr>
          <p:cNvPr id="1445328777" name="Текст 35"/>
          <p:cNvSpPr>
            <a:spLocks noGrp="1"/>
          </p:cNvSpPr>
          <p:nvPr>
            <p:ph type="body" sz="quarter" idx="25"/>
          </p:nvPr>
        </p:nvSpPr>
        <p:spPr bwMode="auto">
          <a:xfrm>
            <a:off x="356349" y="4244135"/>
            <a:ext cx="3812931" cy="1290596"/>
          </a:xfrm>
          <a:prstGeom prst="rect">
            <a:avLst/>
          </a:prstGeom>
        </p:spPr>
        <p:txBody>
          <a:bodyPr>
            <a:normAutofit/>
          </a:bodyPr>
          <a:lstStyle>
            <a:lvl1pPr>
              <a:defRPr sz="1400"/>
            </a:lvl1pPr>
          </a:lstStyle>
          <a:p>
            <a:pPr lvl="0">
              <a:defRPr/>
            </a:pPr>
            <a:r>
              <a:rPr lang="ru-RU"/>
              <a:t>Образец текста</a:t>
            </a:r>
            <a:endParaRPr/>
          </a:p>
        </p:txBody>
      </p:sp>
      <p:sp>
        <p:nvSpPr>
          <p:cNvPr id="100255233" name="Текст 35"/>
          <p:cNvSpPr>
            <a:spLocks noGrp="1"/>
          </p:cNvSpPr>
          <p:nvPr>
            <p:ph type="body" sz="quarter" idx="26"/>
          </p:nvPr>
        </p:nvSpPr>
        <p:spPr bwMode="auto">
          <a:xfrm>
            <a:off x="8040020" y="3864598"/>
            <a:ext cx="3812931" cy="1021701"/>
          </a:xfrm>
          <a:prstGeom prst="roundRect">
            <a:avLst>
              <a:gd name="adj" fmla="val 16667"/>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2"/>
                </a:solidFill>
              </a:defRPr>
            </a:lvl1pPr>
          </a:lstStyle>
          <a:p>
            <a:pPr lvl="0">
              <a:defRPr/>
            </a:pPr>
            <a:r>
              <a:rPr lang="ru-RU"/>
              <a:t>Образец текста</a:t>
            </a:r>
            <a:endParaRPr/>
          </a:p>
        </p:txBody>
      </p:sp>
      <p:sp>
        <p:nvSpPr>
          <p:cNvPr id="1200879656" name="Текст 35"/>
          <p:cNvSpPr>
            <a:spLocks noGrp="1"/>
          </p:cNvSpPr>
          <p:nvPr>
            <p:ph type="body" sz="quarter" idx="27"/>
          </p:nvPr>
        </p:nvSpPr>
        <p:spPr bwMode="auto">
          <a:xfrm>
            <a:off x="8040020" y="4244135"/>
            <a:ext cx="3812931" cy="1290596"/>
          </a:xfrm>
          <a:prstGeom prst="rect">
            <a:avLst/>
          </a:prstGeom>
        </p:spPr>
        <p:txBody>
          <a:bodyPr>
            <a:normAutofit/>
          </a:bodyPr>
          <a:lstStyle>
            <a:lvl1pPr>
              <a:defRPr sz="1400"/>
            </a:lvl1pPr>
          </a:lstStyle>
          <a:p>
            <a:pPr lvl="0">
              <a:defRPr/>
            </a:pPr>
            <a:r>
              <a:rPr lang="ru-RU"/>
              <a:t>Образец текста</a:t>
            </a:r>
            <a:endParaRPr/>
          </a:p>
        </p:txBody>
      </p:sp>
      <p:cxnSp>
        <p:nvCxnSpPr>
          <p:cNvPr id="589614520" name="Google Shape;2799;p94"/>
          <p:cNvCxnSpPr/>
          <p:nvPr userDrawn="1"/>
        </p:nvCxnSpPr>
        <p:spPr bwMode="auto">
          <a:xfrm>
            <a:off x="4244694" y="1870413"/>
            <a:ext cx="686698" cy="0"/>
          </a:xfrm>
          <a:prstGeom prst="straightConnector1">
            <a:avLst/>
          </a:prstGeom>
          <a:noFill/>
          <a:ln w="25400" cap="flat" cmpd="sng">
            <a:solidFill>
              <a:schemeClr val="accent1"/>
            </a:solidFill>
            <a:prstDash val="solid"/>
            <a:round/>
            <a:headEnd type="none" w="med" len="med"/>
            <a:tailEnd type="none" w="med" len="med"/>
          </a:ln>
        </p:spPr>
      </p:cxnSp>
      <p:cxnSp>
        <p:nvCxnSpPr>
          <p:cNvPr id="481545724" name="Google Shape;2799;p94"/>
          <p:cNvCxnSpPr/>
          <p:nvPr userDrawn="1"/>
        </p:nvCxnSpPr>
        <p:spPr bwMode="auto">
          <a:xfrm>
            <a:off x="4244694" y="4094630"/>
            <a:ext cx="686698" cy="0"/>
          </a:xfrm>
          <a:prstGeom prst="straightConnector1">
            <a:avLst/>
          </a:prstGeom>
          <a:noFill/>
          <a:ln w="25400" cap="flat" cmpd="sng">
            <a:solidFill>
              <a:schemeClr val="accent5"/>
            </a:solidFill>
            <a:prstDash val="solid"/>
            <a:round/>
            <a:headEnd type="none" w="med" len="med"/>
            <a:tailEnd type="none" w="med" len="med"/>
          </a:ln>
        </p:spPr>
      </p:cxnSp>
      <p:cxnSp>
        <p:nvCxnSpPr>
          <p:cNvPr id="70625227" name="Google Shape;2799;p94"/>
          <p:cNvCxnSpPr/>
          <p:nvPr userDrawn="1"/>
        </p:nvCxnSpPr>
        <p:spPr bwMode="auto">
          <a:xfrm>
            <a:off x="7250583" y="1870413"/>
            <a:ext cx="686698" cy="0"/>
          </a:xfrm>
          <a:prstGeom prst="straightConnector1">
            <a:avLst/>
          </a:prstGeom>
          <a:noFill/>
          <a:ln w="25400" cap="flat" cmpd="sng">
            <a:solidFill>
              <a:schemeClr val="accent5">
                <a:lumMod val="20000"/>
                <a:lumOff val="80000"/>
              </a:schemeClr>
            </a:solidFill>
            <a:prstDash val="solid"/>
            <a:round/>
            <a:headEnd type="none" w="med" len="med"/>
            <a:tailEnd type="none" w="med" len="med"/>
          </a:ln>
        </p:spPr>
      </p:cxnSp>
      <p:cxnSp>
        <p:nvCxnSpPr>
          <p:cNvPr id="1767509977" name="Google Shape;2799;p94"/>
          <p:cNvCxnSpPr/>
          <p:nvPr userDrawn="1"/>
        </p:nvCxnSpPr>
        <p:spPr bwMode="auto">
          <a:xfrm>
            <a:off x="7250583" y="4094630"/>
            <a:ext cx="686698" cy="0"/>
          </a:xfrm>
          <a:prstGeom prst="straightConnector1">
            <a:avLst/>
          </a:prstGeom>
          <a:noFill/>
          <a:ln w="25400" cap="flat" cmpd="sng">
            <a:solidFill>
              <a:schemeClr val="accent3"/>
            </a:solidFill>
            <a:prstDash val="solid"/>
            <a:round/>
            <a:headEnd type="none" w="med" len="med"/>
            <a:tailEnd type="none" w="med" len="med"/>
          </a:ln>
        </p:spPr>
      </p:cxnSp>
      <p:sp>
        <p:nvSpPr>
          <p:cNvPr id="1411619468" name="Заголовок 3"/>
          <p:cNvSpPr>
            <a:spLocks noGrp="1"/>
          </p:cNvSpPr>
          <p:nvPr>
            <p:ph type="title"/>
          </p:nvPr>
        </p:nvSpPr>
        <p:spPr bwMode="auto"/>
        <p:txBody>
          <a:bodyPr/>
          <a:lstStyle/>
          <a:p>
            <a:pPr>
              <a:defRPr/>
            </a:pPr>
            <a:r>
              <a:rPr lang="ru-RU"/>
              <a:t>Образец заголовка</a:t>
            </a:r>
            <a:endParaRPr/>
          </a:p>
        </p:txBody>
      </p:sp>
      <p:sp>
        <p:nvSpPr>
          <p:cNvPr id="318129555" name="Дата 8"/>
          <p:cNvSpPr>
            <a:spLocks noGrp="1"/>
          </p:cNvSpPr>
          <p:nvPr>
            <p:ph type="dt" sz="half" idx="28"/>
          </p:nvPr>
        </p:nvSpPr>
        <p:spPr bwMode="auto"/>
        <p:txBody>
          <a:bodyPr/>
          <a:lstStyle/>
          <a:p>
            <a:pPr>
              <a:defRPr/>
            </a:pPr>
            <a:fld id="{9D490EE5-ED7D-46E8-8345-A78A0CB0F4A4}" type="datetime1">
              <a:rPr lang="ru-RU"/>
              <a:t>16.09.2026</a:t>
            </a:fld>
            <a:endParaRPr lang="ru-RU"/>
          </a:p>
        </p:txBody>
      </p:sp>
      <p:sp>
        <p:nvSpPr>
          <p:cNvPr id="2139654067" name="Нижний колонтитул 9"/>
          <p:cNvSpPr>
            <a:spLocks noGrp="1"/>
          </p:cNvSpPr>
          <p:nvPr>
            <p:ph type="ftr" sz="quarter" idx="29"/>
          </p:nvPr>
        </p:nvSpPr>
        <p:spPr bwMode="auto"/>
        <p:txBody>
          <a:bodyPr/>
          <a:lstStyle/>
          <a:p>
            <a:pPr>
              <a:defRPr/>
            </a:pPr>
            <a:endParaRPr lang="ru-RU"/>
          </a:p>
        </p:txBody>
      </p:sp>
      <p:sp>
        <p:nvSpPr>
          <p:cNvPr id="287854632" name="Номер слайда 10"/>
          <p:cNvSpPr>
            <a:spLocks noGrp="1"/>
          </p:cNvSpPr>
          <p:nvPr>
            <p:ph type="sldNum" sz="quarter" idx="30"/>
          </p:nvPr>
        </p:nvSpPr>
        <p:spPr bwMode="auto"/>
        <p:txBody>
          <a:bodyPr/>
          <a:lstStyle/>
          <a:p>
            <a:pPr>
              <a:defRPr/>
            </a:pPr>
            <a:fld id="{52DCC5B9-D646-4B76-891F-6FF4E74E9CB4}" type="slidenum">
              <a:rPr lang="ru-RU"/>
              <a:t>&lt;#&gt;</a:t>
            </a:fld>
            <a:endParaRPr lang="ru-RU"/>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Демо_1">
    <p:spTree>
      <p:nvGrpSpPr>
        <p:cNvPr id="1" name=""/>
        <p:cNvGrpSpPr/>
        <p:nvPr/>
      </p:nvGrpSpPr>
      <p:grpSpPr bwMode="auto">
        <a:xfrm>
          <a:off x="0" y="0"/>
          <a:ext cx="0" cy="0"/>
          <a:chOff x="0" y="0"/>
          <a:chExt cx="0" cy="0"/>
        </a:xfrm>
      </p:grpSpPr>
      <p:sp>
        <p:nvSpPr>
          <p:cNvPr id="544939360" name="Picture Placeholder 1"/>
          <p:cNvSpPr>
            <a:spLocks noGrp="1"/>
          </p:cNvSpPr>
          <p:nvPr>
            <p:ph type="pic" sz="quarter" idx="14"/>
          </p:nvPr>
        </p:nvSpPr>
        <p:spPr bwMode="auto">
          <a:xfrm>
            <a:off x="1001459" y="1038224"/>
            <a:ext cx="1726214" cy="3657600"/>
          </a:xfrm>
          <a:prstGeom prst="roundRect">
            <a:avLst>
              <a:gd name="adj" fmla="val 12528"/>
            </a:avLst>
          </a:prstGeom>
          <a:noFill/>
        </p:spPr>
      </p:sp>
      <p:sp>
        <p:nvSpPr>
          <p:cNvPr id="1580386608" name="Picture Placeholder 1"/>
          <p:cNvSpPr>
            <a:spLocks noGrp="1"/>
          </p:cNvSpPr>
          <p:nvPr>
            <p:ph type="pic" sz="quarter" idx="15"/>
          </p:nvPr>
        </p:nvSpPr>
        <p:spPr bwMode="auto">
          <a:xfrm>
            <a:off x="3831097" y="1038224"/>
            <a:ext cx="1726214" cy="3657600"/>
          </a:xfrm>
          <a:prstGeom prst="roundRect">
            <a:avLst>
              <a:gd name="adj" fmla="val 12528"/>
            </a:avLst>
          </a:prstGeom>
          <a:noFill/>
        </p:spPr>
      </p:sp>
      <p:sp>
        <p:nvSpPr>
          <p:cNvPr id="1399003789" name="Picture Placeholder 1"/>
          <p:cNvSpPr>
            <a:spLocks noGrp="1"/>
          </p:cNvSpPr>
          <p:nvPr>
            <p:ph type="pic" sz="quarter" idx="16"/>
          </p:nvPr>
        </p:nvSpPr>
        <p:spPr bwMode="auto">
          <a:xfrm>
            <a:off x="6660734" y="1038224"/>
            <a:ext cx="1726214" cy="3657600"/>
          </a:xfrm>
          <a:prstGeom prst="roundRect">
            <a:avLst>
              <a:gd name="adj" fmla="val 12528"/>
            </a:avLst>
          </a:prstGeom>
          <a:noFill/>
        </p:spPr>
      </p:sp>
      <p:sp>
        <p:nvSpPr>
          <p:cNvPr id="1668171859" name="Picture Placeholder 1"/>
          <p:cNvSpPr>
            <a:spLocks noGrp="1"/>
          </p:cNvSpPr>
          <p:nvPr>
            <p:ph type="pic" sz="quarter" idx="17"/>
          </p:nvPr>
        </p:nvSpPr>
        <p:spPr bwMode="auto">
          <a:xfrm>
            <a:off x="9490368" y="1038224"/>
            <a:ext cx="1726214" cy="3657600"/>
          </a:xfrm>
          <a:prstGeom prst="roundRect">
            <a:avLst>
              <a:gd name="adj" fmla="val 12528"/>
            </a:avLst>
          </a:prstGeom>
          <a:noFill/>
        </p:spPr>
      </p:sp>
      <p:sp>
        <p:nvSpPr>
          <p:cNvPr id="932505230"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DC8C16AD-D907-4463-BE30-FCBB33ACAE3F}" type="datetime1">
              <a:rPr lang="ru-RU"/>
              <a:t>16.09.2026</a:t>
            </a:fld>
            <a:endParaRPr lang="ru-RU"/>
          </a:p>
        </p:txBody>
      </p:sp>
      <p:sp>
        <p:nvSpPr>
          <p:cNvPr id="792600989"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650504692"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
        <p:nvSpPr>
          <p:cNvPr id="164420842" name="Текст 7"/>
          <p:cNvSpPr>
            <a:spLocks noGrp="1"/>
          </p:cNvSpPr>
          <p:nvPr>
            <p:ph type="body" sz="quarter" idx="18"/>
          </p:nvPr>
        </p:nvSpPr>
        <p:spPr bwMode="auto">
          <a:xfrm>
            <a:off x="346076" y="4929435"/>
            <a:ext cx="2739248" cy="1271340"/>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656314850" name="Текст 7"/>
          <p:cNvSpPr>
            <a:spLocks noGrp="1"/>
          </p:cNvSpPr>
          <p:nvPr>
            <p:ph type="body" sz="quarter" idx="19"/>
          </p:nvPr>
        </p:nvSpPr>
        <p:spPr bwMode="auto">
          <a:xfrm>
            <a:off x="3269562" y="4929435"/>
            <a:ext cx="2739248" cy="1271340"/>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554257058" name="Текст 7"/>
          <p:cNvSpPr>
            <a:spLocks noGrp="1"/>
          </p:cNvSpPr>
          <p:nvPr>
            <p:ph type="body" sz="quarter" idx="20"/>
          </p:nvPr>
        </p:nvSpPr>
        <p:spPr bwMode="auto">
          <a:xfrm>
            <a:off x="6193048" y="4929435"/>
            <a:ext cx="2739248" cy="1271340"/>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990252769" name="Текст 7"/>
          <p:cNvSpPr>
            <a:spLocks noGrp="1"/>
          </p:cNvSpPr>
          <p:nvPr>
            <p:ph type="body" sz="quarter" idx="21"/>
          </p:nvPr>
        </p:nvSpPr>
        <p:spPr bwMode="auto">
          <a:xfrm>
            <a:off x="9116535" y="4929435"/>
            <a:ext cx="2739248" cy="1271340"/>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2026721607" name="Заголовок 1"/>
          <p:cNvSpPr>
            <a:spLocks noGrp="1"/>
          </p:cNvSpPr>
          <p:nvPr>
            <p:ph type="title"/>
          </p:nvPr>
        </p:nvSpPr>
        <p:spPr bwMode="auto"/>
        <p:txBody>
          <a:bodyPr/>
          <a:lstStyle/>
          <a:p>
            <a:pPr>
              <a:defRPr/>
            </a:pPr>
            <a:r>
              <a:rPr lang="ru-RU"/>
              <a:t>Образец заголовка</a:t>
            </a: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Пустой">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 Id="rId2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blipFill rotWithShape="1">
          <a:blip r:embed="rId25">
            <a:lum/>
          </a:blip>
          <a:stretch/>
        </a:blipFill>
      </p:bgPr>
    </p:bg>
    <p:spTree>
      <p:nvGrpSpPr>
        <p:cNvPr id="1" name=""/>
        <p:cNvGrpSpPr/>
        <p:nvPr/>
      </p:nvGrpSpPr>
      <p:grpSpPr bwMode="auto">
        <a:xfrm>
          <a:off x="0" y="0"/>
          <a:ext cx="0" cy="0"/>
          <a:chOff x="0" y="0"/>
          <a:chExt cx="0" cy="0"/>
        </a:xfrm>
      </p:grpSpPr>
      <p:sp>
        <p:nvSpPr>
          <p:cNvPr id="727097445" name="Заголовок 1"/>
          <p:cNvSpPr>
            <a:spLocks noGrp="1"/>
          </p:cNvSpPr>
          <p:nvPr>
            <p:ph type="title"/>
          </p:nvPr>
        </p:nvSpPr>
        <p:spPr bwMode="auto">
          <a:xfrm>
            <a:off x="346075" y="421226"/>
            <a:ext cx="9862734" cy="376138"/>
          </a:xfrm>
          <a:prstGeom prst="rect">
            <a:avLst/>
          </a:prstGeom>
        </p:spPr>
        <p:txBody>
          <a:bodyPr vert="horz" lIns="91440" tIns="45720" rIns="91440" bIns="45720" rtlCol="0" anchor="b" anchorCtr="0">
            <a:noAutofit/>
          </a:bodyPr>
          <a:lstStyle/>
          <a:p>
            <a:pPr>
              <a:defRPr/>
            </a:pPr>
            <a:r>
              <a:rPr lang="ru-RU"/>
              <a:t>ОБРАЗЕЦ ЗАГОЛОВКА</a:t>
            </a:r>
            <a:endParaRPr/>
          </a:p>
        </p:txBody>
      </p:sp>
      <p:sp>
        <p:nvSpPr>
          <p:cNvPr id="1903902632" name="Текст 2"/>
          <p:cNvSpPr>
            <a:spLocks noGrp="1"/>
          </p:cNvSpPr>
          <p:nvPr>
            <p:ph type="body" idx="1"/>
          </p:nvPr>
        </p:nvSpPr>
        <p:spPr bwMode="auto">
          <a:xfrm>
            <a:off x="315392" y="1016177"/>
            <a:ext cx="11561229" cy="5160793"/>
          </a:xfrm>
          <a:prstGeom prst="rect">
            <a:avLst/>
          </a:prstGeom>
        </p:spPr>
        <p:txBody>
          <a:bodyPr vert="horz" lIns="91440" tIns="45720" rIns="91440" bIns="45720" rtlCol="0">
            <a:normAutofit/>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a:p>
        </p:txBody>
      </p:sp>
      <p:sp>
        <p:nvSpPr>
          <p:cNvPr id="1317792352" name="Дата 3"/>
          <p:cNvSpPr>
            <a:spLocks noGrp="1"/>
          </p:cNvSpPr>
          <p:nvPr>
            <p:ph type="dt" sz="half" idx="2"/>
          </p:nvPr>
        </p:nvSpPr>
        <p:spPr bwMode="auto">
          <a:xfrm>
            <a:off x="306390" y="6356362"/>
            <a:ext cx="1047663" cy="365125"/>
          </a:xfrm>
          <a:prstGeom prst="rect">
            <a:avLst/>
          </a:prstGeom>
        </p:spPr>
        <p:txBody>
          <a:bodyPr vert="horz" lIns="91440" tIns="45720" rIns="91440" bIns="45720" rtlCol="0" anchor="ctr"/>
          <a:lstStyle>
            <a:lvl1pPr algn="l">
              <a:defRPr sz="750">
                <a:solidFill>
                  <a:schemeClr val="bg1">
                    <a:lumMod val="95000"/>
                  </a:schemeClr>
                </a:solidFill>
              </a:defRPr>
            </a:lvl1pPr>
          </a:lstStyle>
          <a:p>
            <a:pPr>
              <a:defRPr/>
            </a:pPr>
            <a:fld id="{9D490EE5-ED7D-46E8-8345-A78A0CB0F4A4}" type="datetime1">
              <a:rPr lang="ru-RU"/>
              <a:t>16.09.2026</a:t>
            </a:fld>
            <a:endParaRPr lang="ru-RU"/>
          </a:p>
        </p:txBody>
      </p:sp>
      <p:sp>
        <p:nvSpPr>
          <p:cNvPr id="1926070673" name="Нижний колонтитул 4"/>
          <p:cNvSpPr>
            <a:spLocks noGrp="1"/>
          </p:cNvSpPr>
          <p:nvPr>
            <p:ph type="ftr" sz="quarter" idx="3"/>
          </p:nvPr>
        </p:nvSpPr>
        <p:spPr bwMode="auto">
          <a:xfrm>
            <a:off x="1459571" y="6356362"/>
            <a:ext cx="9574782" cy="365125"/>
          </a:xfrm>
          <a:prstGeom prst="rect">
            <a:avLst/>
          </a:prstGeom>
        </p:spPr>
        <p:txBody>
          <a:bodyPr vert="horz" lIns="91440" tIns="45720" rIns="91440" bIns="45720" rtlCol="0" anchor="ctr"/>
          <a:lstStyle>
            <a:lvl1pPr algn="ctr">
              <a:defRPr sz="750">
                <a:solidFill>
                  <a:schemeClr val="bg1">
                    <a:lumMod val="95000"/>
                  </a:schemeClr>
                </a:solidFill>
              </a:defRPr>
            </a:lvl1pPr>
          </a:lstStyle>
          <a:p>
            <a:pPr>
              <a:defRPr/>
            </a:pPr>
            <a:endParaRPr lang="ru-RU"/>
          </a:p>
        </p:txBody>
      </p:sp>
      <p:sp>
        <p:nvSpPr>
          <p:cNvPr id="1282487685" name="Номер слайда 5"/>
          <p:cNvSpPr>
            <a:spLocks noGrp="1"/>
          </p:cNvSpPr>
          <p:nvPr>
            <p:ph type="sldNum" sz="quarter" idx="4"/>
          </p:nvPr>
        </p:nvSpPr>
        <p:spPr bwMode="auto">
          <a:xfrm>
            <a:off x="11413507" y="6356357"/>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pPr>
              <a:defRPr/>
            </a:pPr>
            <a:fld id="{52DCC5B9-D646-4B76-891F-6FF4E74E9CB4}" type="slidenum">
              <a:rPr lang="ru-RU"/>
              <a:t>&lt;#&gt;</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Lst>
  <p:hf dt="0" ftr="0" hdr="0" sldNum="1"/>
  <p:txStyles>
    <p:titleStyle>
      <a:lvl1pPr algn="l" defTabSz="578755" rtl="0">
        <a:lnSpc>
          <a:spcPct val="90000"/>
        </a:lnSpc>
        <a:spcBef>
          <a:spcPts val="0"/>
        </a:spcBef>
        <a:buNone/>
        <a:defRPr sz="2000" b="1">
          <a:solidFill>
            <a:schemeClr val="bg1">
              <a:lumMod val="95000"/>
            </a:schemeClr>
          </a:solidFill>
          <a:latin typeface="+mj-lt"/>
          <a:ea typeface="+mj-ea"/>
          <a:cs typeface="Amatic SC"/>
        </a:defRPr>
      </a:lvl1pPr>
    </p:titleStyle>
    <p:bodyStyle>
      <a:lvl1pPr marL="144688" indent="-144688" algn="l" defTabSz="578755" rtl="0">
        <a:lnSpc>
          <a:spcPct val="90000"/>
        </a:lnSpc>
        <a:spcBef>
          <a:spcPts val="631"/>
        </a:spcBef>
        <a:buFont typeface="Arial"/>
        <a:buChar char="•"/>
        <a:defRPr sz="145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p:bodyStyle>
    <p:otherStyle>
      <a:defPPr>
        <a:defRPr lang="ru-RU"/>
      </a:defPPr>
      <a:lvl1pPr marL="0" algn="l" defTabSz="578755" rtl="0">
        <a:defRPr sz="1150">
          <a:solidFill>
            <a:schemeClr val="tx1"/>
          </a:solidFill>
          <a:latin typeface="+mn-lt"/>
          <a:ea typeface="+mn-ea"/>
          <a:cs typeface="+mn-cs"/>
        </a:defRPr>
      </a:lvl1pPr>
      <a:lvl2pPr marL="289378" algn="l" defTabSz="578755" rtl="0">
        <a:defRPr sz="1150">
          <a:solidFill>
            <a:schemeClr val="tx1"/>
          </a:solidFill>
          <a:latin typeface="+mn-lt"/>
          <a:ea typeface="+mn-ea"/>
          <a:cs typeface="+mn-cs"/>
        </a:defRPr>
      </a:lvl2pPr>
      <a:lvl3pPr marL="578755" algn="l" defTabSz="578755" rtl="0">
        <a:defRPr sz="1150">
          <a:solidFill>
            <a:schemeClr val="tx1"/>
          </a:solidFill>
          <a:latin typeface="+mn-lt"/>
          <a:ea typeface="+mn-ea"/>
          <a:cs typeface="+mn-cs"/>
        </a:defRPr>
      </a:lvl3pPr>
      <a:lvl4pPr marL="868132" algn="l" defTabSz="578755" rtl="0">
        <a:defRPr sz="1150">
          <a:solidFill>
            <a:schemeClr val="tx1"/>
          </a:solidFill>
          <a:latin typeface="+mn-lt"/>
          <a:ea typeface="+mn-ea"/>
          <a:cs typeface="+mn-cs"/>
        </a:defRPr>
      </a:lvl4pPr>
      <a:lvl5pPr marL="1157510" algn="l" defTabSz="578755" rtl="0">
        <a:defRPr sz="1150">
          <a:solidFill>
            <a:schemeClr val="tx1"/>
          </a:solidFill>
          <a:latin typeface="+mn-lt"/>
          <a:ea typeface="+mn-ea"/>
          <a:cs typeface="+mn-cs"/>
        </a:defRPr>
      </a:lvl5pPr>
      <a:lvl6pPr marL="1446887" algn="l" defTabSz="578755" rtl="0">
        <a:defRPr sz="1150">
          <a:solidFill>
            <a:schemeClr val="tx1"/>
          </a:solidFill>
          <a:latin typeface="+mn-lt"/>
          <a:ea typeface="+mn-ea"/>
          <a:cs typeface="+mn-cs"/>
        </a:defRPr>
      </a:lvl6pPr>
      <a:lvl7pPr marL="1736266" algn="l" defTabSz="578755" rtl="0">
        <a:defRPr sz="1150">
          <a:solidFill>
            <a:schemeClr val="tx1"/>
          </a:solidFill>
          <a:latin typeface="+mn-lt"/>
          <a:ea typeface="+mn-ea"/>
          <a:cs typeface="+mn-cs"/>
        </a:defRPr>
      </a:lvl7pPr>
      <a:lvl8pPr marL="2025644" algn="l" defTabSz="578755" rtl="0">
        <a:defRPr sz="1150">
          <a:solidFill>
            <a:schemeClr val="tx1"/>
          </a:solidFill>
          <a:latin typeface="+mn-lt"/>
          <a:ea typeface="+mn-ea"/>
          <a:cs typeface="+mn-cs"/>
        </a:defRPr>
      </a:lvl8pPr>
      <a:lvl9pPr marL="2315021" algn="l" defTabSz="578755" rtl="0">
        <a:defRPr sz="11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imur713/hf_2026"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40199916" name="Заголовок 2"/>
          <p:cNvSpPr>
            <a:spLocks noGrp="1"/>
          </p:cNvSpPr>
          <p:nvPr>
            <p:ph type="ctrTitle"/>
          </p:nvPr>
        </p:nvSpPr>
        <p:spPr bwMode="auto">
          <a:xfrm>
            <a:off x="1" y="3894513"/>
            <a:ext cx="6271845" cy="1706743"/>
          </a:xfrm>
        </p:spPr>
        <p:txBody>
          <a:bodyPr wrap="square" lIns="406400" rIns="0" tIns="254000" bIns="0" anchor="t">
            <a:noAutofit/>
          </a:bodyPr>
          <a:lstStyle/>
          <a:p>
            <a:pPr marL="0" indent="0" algn="l">
              <a:lnSpc>
                <a:spcPct val="112000"/>
              </a:lnSpc>
              <a:spcBef>
                <a:spcPts val="0"/>
              </a:spcBef>
              <a:spcAft>
                <a:spcPts val="600"/>
              </a:spcAft>
              <a:buNone/>
              <a:defRPr/>
            </a:pPr>
            <a:r>
              <a:rPr sz="4200" b="1">
                <a:solidFill>
                  <a:srgbClr val="FFFFFF"/>
                </a:solidFill>
                <a:latin typeface="Montserrat"/>
              </a:rPr>
              <a:t>FALCON ReID</a:t>
            </a:r>
            <a:endParaRPr lang="ru-RU" sz="4800"/>
          </a:p>
        </p:txBody>
      </p:sp>
      <p:sp>
        <p:nvSpPr>
          <p:cNvPr id="757351073" name="Текст 4"/>
          <p:cNvSpPr>
            <a:spLocks noGrp="1"/>
          </p:cNvSpPr>
          <p:nvPr>
            <p:ph type="body" sz="quarter" idx="12"/>
          </p:nvPr>
        </p:nvSpPr>
        <p:spPr bwMode="auto">
          <a:xfrm>
            <a:off x="0" y="5659501"/>
            <a:ext cx="8930641" cy="757174"/>
          </a:xfrm>
        </p:spPr>
        <p:txBody>
          <a:bodyPr anchor="t" wrap="square" lIns="406400" rIns="0" tIns="0" bIns="0">
            <a:noAutofit/>
          </a:bodyPr>
          <a:lstStyle/>
          <a:p>
            <a:pPr indent="0" algn="l" marL="0">
              <a:lnSpc>
                <a:spcPct val="112000"/>
              </a:lnSpc>
              <a:spcBef>
                <a:spcPts val="0"/>
              </a:spcBef>
              <a:spcAft>
                <a:spcPts val="0"/>
              </a:spcAft>
              <a:buNone/>
              <a:defRPr/>
            </a:pPr>
            <a:r>
              <a:rPr sz="1700" b="0">
                <a:solidFill>
                  <a:srgbClr val="FFFFFF"/>
                </a:solidFill>
                <a:latin typeface="Montserrat"/>
              </a:rPr>
              <a:t>Сервис формирования цифрового признака транспортного средства</a:t>
            </a:r>
            <a:endParaRPr lang="ru-RU"/>
          </a:p>
          <a:p>
            <a:pPr algn="l" marL="0" indent="0">
              <a:lnSpc>
                <a:spcPct val="112000"/>
              </a:lnSpc>
              <a:spcBef>
                <a:spcPts val="0"/>
              </a:spcBef>
              <a:spcAft>
                <a:spcPts val="0"/>
              </a:spcAft>
              <a:buNone/>
            </a:pPr>
            <a:r>
              <a:rPr sz="1700" b="0">
                <a:solidFill>
                  <a:srgbClr val="FFFFFF"/>
                </a:solidFill>
                <a:latin typeface="Montserrat"/>
              </a:rPr>
              <a:t>для сопоставления снимков одного автомобиля из разных локаций</a:t>
            </a:r>
          </a:p>
          <a:p>
            <a:pPr algn="l" marL="0" indent="0">
              <a:lnSpc>
                <a:spcPct val="112000"/>
              </a:lnSpc>
              <a:spcBef>
                <a:spcPts val="0"/>
              </a:spcBef>
              <a:spcAft>
                <a:spcPts val="0"/>
              </a:spcAft>
              <a:buNone/>
            </a:pPr>
            <a:r>
              <a:rPr sz="1700" b="0">
                <a:solidFill>
                  <a:srgbClr val="FFFFFF"/>
                </a:solidFill>
                <a:latin typeface="Montserrat"/>
              </a:rPr>
              <a:t>без использования государственного номера</a:t>
            </a:r>
          </a:p>
        </p:txBody>
      </p:sp>
      <p:sp>
        <p:nvSpPr>
          <p:cNvPr id="1091804844" name="Скругленный прямоугольник 1"/>
          <p:cNvSpPr/>
          <p:nvPr/>
        </p:nvSpPr>
        <p:spPr bwMode="auto">
          <a:xfrm>
            <a:off x="-296709" y="-313993"/>
            <a:ext cx="6125156" cy="2285622"/>
          </a:xfrm>
          <a:prstGeom prst="roundRect">
            <a:avLst>
              <a:gd name="adj" fmla="val 9821"/>
            </a:avLst>
          </a:prstGeom>
          <a:noFill/>
          <a:ln w="9525" cap="flat" cmpd="sng" algn="ctr">
            <a:solidFill>
              <a:schemeClr val="accent2"/>
            </a:solidFill>
            <a:prstDash val="solid"/>
            <a:round/>
            <a:headEnd type="none" w="med" len="med"/>
            <a:tailEnd type="none" w="med" len="med"/>
          </a:ln>
        </p:spPr>
        <p:style>
          <a:lnRef idx="0">
            <a:srgbClr val="000000"/>
          </a:lnRef>
          <a:fillRef idx="0">
            <a:srgbClr val="000000"/>
          </a:fillRef>
          <a:effectRef idx="0">
            <a:srgbClr val="000000"/>
          </a:effectRef>
          <a:fontRef idx="minor">
            <a:schemeClr val="accent2"/>
          </a:fontRef>
        </p:style>
        <p:txBody>
          <a:bodyPr rtlCol="0" anchor="t"/>
          <a:lstStyle/>
          <a:p>
            <a:pPr algn="ctr">
              <a:defRPr/>
            </a:pPr>
            <a:endParaRPr lang="ru-RU" b="1">
              <a:solidFill>
                <a:schemeClr val="accent2"/>
              </a:solidFill>
            </a:endParaRPr>
          </a:p>
        </p:txBody>
      </p:sp>
      <p:pic>
        <p:nvPicPr>
          <p:cNvPr id="1091804845" name="Picture 1091804844" descr="falcon_tech_logo.png"/>
          <p:cNvPicPr>
            <a:picLocks noChangeAspect="1"/>
          </p:cNvPicPr>
          <p:nvPr/>
        </p:nvPicPr>
        <p:blipFill>
          <a:blip r:embed="rId3"/>
          <a:stretch>
            <a:fillRect/>
          </a:stretch>
        </p:blipFill>
        <p:spPr>
          <a:xfrm>
            <a:off x="495300" y="562247"/>
            <a:ext cx="4254500" cy="437605"/>
          </a:xfrm>
          <a:prstGeom prst="rect">
            <a:avLst/>
          </a:prstGeom>
        </p:spPr>
      </p:pic>
      <p:sp>
        <p:nvSpPr>
          <p:cNvPr id="1091804846" name="TextBox 1091804845"/>
          <p:cNvSpPr txBox="1"/>
          <p:nvPr/>
        </p:nvSpPr>
        <p:spPr>
          <a:xfrm>
            <a:off x="508000" y="1219200"/>
            <a:ext cx="4660900" cy="609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0">
                <a:solidFill>
                  <a:srgbClr val="FFFFFF"/>
                </a:solidFill>
                <a:latin typeface="Montserrat"/>
              </a:rPr>
              <a:t>DeepTech AI · ЛЦТ 2026</a:t>
            </a:r>
          </a:p>
          <a:p>
            <a:pPr algn="l" marL="0" indent="0">
              <a:lnSpc>
                <a:spcPct val="112000"/>
              </a:lnSpc>
              <a:spcBef>
                <a:spcPts val="0"/>
              </a:spcBef>
              <a:spcAft>
                <a:spcPts val="600"/>
              </a:spcAft>
              <a:buNone/>
            </a:pPr>
            <a:r>
              <a:rPr sz="1400" b="0">
                <a:solidFill>
                  <a:srgbClr val="FFFFFF"/>
                </a:solidFill>
                <a:latin typeface="Montserrat"/>
              </a:rPr>
              <a:t>Задача №7 «Фалькон Тех»</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blipFill rotWithShape="1">
          <a:blip r:embed="rId3">
            <a:lum/>
          </a:blip>
          <a:stretch/>
        </a:blipFill>
      </p:bgPr>
    </p:bg>
    <p:spTree>
      <p:nvGrpSpPr>
        <p:cNvPr id="1" name=""/>
        <p:cNvGrpSpPr/>
        <p:nvPr/>
      </p:nvGrpSpPr>
      <p:grpSpPr bwMode="auto">
        <a:xfrm>
          <a:off x="0" y="0"/>
          <a:ext cx="0" cy="0"/>
          <a:chOff x="0" y="0"/>
          <a:chExt cx="0" cy="0"/>
        </a:xfrm>
      </p:grpSpPr>
      <p:sp>
        <p:nvSpPr>
          <p:cNvPr id="966098921" name="Прямоугольник 2"/>
          <p:cNvSpPr/>
          <p:nvPr/>
        </p:nvSpPr>
        <p:spPr bwMode="auto">
          <a:xfrm>
            <a:off x="0" y="2971800"/>
            <a:ext cx="6456363" cy="3886200"/>
          </a:xfrm>
          <a:prstGeom prst="rect">
            <a:avLst/>
          </a:prstGeom>
          <a:solidFill>
            <a:srgbClr val="DCCEE4">
              <a:alpha val="49804"/>
            </a:srgbClr>
          </a:solidFill>
          <a:ln>
            <a:noFill/>
          </a:ln>
        </p:spPr>
        <p:style>
          <a:lnRef idx="0">
            <a:srgbClr val="000000"/>
          </a:lnRef>
          <a:fillRef idx="0">
            <a:srgbClr val="000000"/>
          </a:fillRef>
          <a:effectRef idx="0">
            <a:srgbClr val="000000"/>
          </a:effectRef>
          <a:fontRef idx="minor">
            <a:schemeClr val="lt1"/>
          </a:fontRef>
        </p:style>
        <p:txBody>
          <a:bodyPr rtlCol="0" anchor="t"/>
          <a:lstStyle/>
          <a:p>
            <a:pPr algn="ctr">
              <a:defRPr/>
            </a:pPr>
            <a:endParaRPr lang="ru-RU"/>
          </a:p>
        </p:txBody>
      </p:sp>
      <p:sp>
        <p:nvSpPr>
          <p:cNvPr id="1609484257" name="Рисунок 1"/>
          <p:cNvSpPr>
            <a:spLocks noGrp="1"/>
          </p:cNvSpPr>
          <p:nvPr>
            <p:ph type="pic" sz="quarter" idx="10"/>
          </p:nvPr>
        </p:nvSpPr>
        <p:spPr bwMode="auto">
          <a:xfrm>
            <a:off x="0" y="335267"/>
            <a:ext cx="6456363" cy="2971784"/>
          </a:xfrm>
        </p:spPr>
      </p:sp>
      <p:sp>
        <p:nvSpPr>
          <p:cNvPr id="1143600250" name="Текст 8"/>
          <p:cNvSpPr txBox="1"/>
          <p:nvPr/>
        </p:nvSpPr>
        <p:spPr bwMode="auto">
          <a:xfrm>
            <a:off x="6819904" y="2303118"/>
            <a:ext cx="4945564" cy="668667"/>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600"/>
              </a:spcAft>
              <a:buNone/>
              <a:defRPr/>
            </a:pPr>
            <a:r>
              <a:rPr sz="1600" b="1">
                <a:solidFill>
                  <a:srgbClr val="310F53"/>
                </a:solidFill>
                <a:latin typeface="Montserrat"/>
              </a:rPr>
              <a:t>Краткое описание решения</a:t>
            </a:r>
            <a:endParaRPr/>
          </a:p>
        </p:txBody>
      </p:sp>
      <p:sp>
        <p:nvSpPr>
          <p:cNvPr id="441518184" name="Текст 8"/>
          <p:cNvSpPr txBox="1"/>
          <p:nvPr/>
        </p:nvSpPr>
        <p:spPr bwMode="auto">
          <a:xfrm>
            <a:off x="6836606" y="4876070"/>
            <a:ext cx="4945565" cy="890039"/>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400"/>
              </a:spcAft>
              <a:buNone/>
              <a:defRPr/>
            </a:pPr>
            <a:r>
              <a:rPr sz="1500" b="0">
                <a:solidFill>
                  <a:srgbClr val="1C1D22"/>
                </a:solidFill>
                <a:latin typeface="Montserrat"/>
              </a:rPr>
              <a:t>Сравниваем сходство пары с обычным уровнем</a:t>
            </a:r>
            <a:endParaRPr/>
          </a:p>
          <a:p>
            <a:pPr algn="l" marL="0" indent="0">
              <a:lnSpc>
                <a:spcPct val="112000"/>
              </a:lnSpc>
              <a:spcBef>
                <a:spcPts val="0"/>
              </a:spcBef>
              <a:spcAft>
                <a:spcPts val="400"/>
              </a:spcAft>
              <a:buNone/>
            </a:pPr>
            <a:r>
              <a:rPr sz="1500" b="0">
                <a:solidFill>
                  <a:srgbClr val="1C1D22"/>
                </a:solidFill>
                <a:latin typeface="Montserrat"/>
              </a:rPr>
              <a:t>сходства снимков в базе. Это позволяет</a:t>
            </a:r>
          </a:p>
          <a:p>
            <a:pPr algn="l" marL="0" indent="0">
              <a:lnSpc>
                <a:spcPct val="112000"/>
              </a:lnSpc>
              <a:spcBef>
                <a:spcPts val="0"/>
              </a:spcBef>
              <a:spcAft>
                <a:spcPts val="400"/>
              </a:spcAft>
              <a:buNone/>
            </a:pPr>
            <a:r>
              <a:rPr sz="1500" b="0">
                <a:solidFill>
                  <a:srgbClr val="1C1D22"/>
                </a:solidFill>
                <a:latin typeface="Montserrat"/>
              </a:rPr>
              <a:t>отказаться, когда убедительного совпадения нет.</a:t>
            </a:r>
          </a:p>
        </p:txBody>
      </p:sp>
      <p:sp>
        <p:nvSpPr>
          <p:cNvPr id="661119785" name="Текст 8"/>
          <p:cNvSpPr txBox="1"/>
          <p:nvPr/>
        </p:nvSpPr>
        <p:spPr bwMode="auto">
          <a:xfrm>
            <a:off x="334962" y="3883009"/>
            <a:ext cx="5629858" cy="2399033"/>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rtl="0" algn="l" marL="0" indent="0">
              <a:lnSpc>
                <a:spcPct val="112000"/>
              </a:lnSpc>
              <a:spcBef>
                <a:spcPts val="0"/>
              </a:spcBef>
              <a:spcAft>
                <a:spcPts val="700"/>
              </a:spcAft>
              <a:buNone/>
              <a:defRPr/>
            </a:pPr>
            <a:r>
              <a:rPr sz="1500" b="0">
                <a:solidFill>
                  <a:srgbClr val="310F53"/>
                </a:solidFill>
                <a:latin typeface="Montserrat"/>
              </a:rPr>
              <a:t>DeepTech AI · 2 участника</a:t>
            </a:r>
            <a:endParaRPr/>
          </a:p>
          <a:p>
            <a:pPr algn="l" marL="0" indent="0">
              <a:lnSpc>
                <a:spcPct val="112000"/>
              </a:lnSpc>
              <a:spcBef>
                <a:spcPts val="0"/>
              </a:spcBef>
              <a:spcAft>
                <a:spcPts val="700"/>
              </a:spcAft>
              <a:buNone/>
            </a:pPr>
            <a:r>
              <a:rPr sz="1500" b="0">
                <a:solidFill>
                  <a:srgbClr val="310F53"/>
                </a:solidFill>
                <a:latin typeface="Montserrat"/>
              </a:rPr>
              <a:t>Капитан: Исанбирдин Тимур Рустамович</a:t>
            </a:r>
          </a:p>
          <a:p>
            <a:pPr algn="l" marL="0" indent="0">
              <a:lnSpc>
                <a:spcPct val="112000"/>
              </a:lnSpc>
              <a:spcBef>
                <a:spcPts val="0"/>
              </a:spcBef>
              <a:spcAft>
                <a:spcPts val="700"/>
              </a:spcAft>
              <a:buNone/>
            </a:pPr>
            <a:r>
              <a:rPr sz="1500" b="0">
                <a:solidFill>
                  <a:srgbClr val="310F53"/>
                </a:solidFill>
                <a:latin typeface="Montserrat"/>
              </a:rPr>
              <a:t>ML Engineers · НИУ ВШЭ</a:t>
            </a:r>
          </a:p>
          <a:p>
            <a:pPr algn="l" marL="0" indent="0">
              <a:lnSpc>
                <a:spcPct val="112000"/>
              </a:lnSpc>
              <a:spcBef>
                <a:spcPts val="0"/>
              </a:spcBef>
              <a:spcAft>
                <a:spcPts val="700"/>
              </a:spcAft>
              <a:buNone/>
            </a:pPr>
            <a:r>
              <a:rPr sz="1500" b="0">
                <a:solidFill>
                  <a:srgbClr val="310F53"/>
                </a:solidFill>
                <a:latin typeface="Montserrat"/>
              </a:rPr>
              <a:t>Data Science и Бизнес-информатика</a:t>
            </a:r>
          </a:p>
          <a:p>
            <a:pPr algn="l" marL="0" indent="0">
              <a:lnSpc>
                <a:spcPct val="112000"/>
              </a:lnSpc>
              <a:spcBef>
                <a:spcPts val="0"/>
              </a:spcBef>
              <a:spcAft>
                <a:spcPts val="700"/>
              </a:spcAft>
              <a:buNone/>
            </a:pPr>
            <a:r>
              <a:rPr sz="1500" b="0">
                <a:solidFill>
                  <a:srgbClr val="310F53"/>
                </a:solidFill>
                <a:latin typeface="Montserrat"/>
              </a:rPr>
              <a:t>Развиваем компанию DeepTech AI</a:t>
            </a:r>
          </a:p>
          <a:p>
            <a:pPr algn="l" marL="0" indent="0">
              <a:lnSpc>
                <a:spcPct val="112000"/>
              </a:lnSpc>
              <a:spcBef>
                <a:spcPts val="0"/>
              </a:spcBef>
              <a:spcAft>
                <a:spcPts val="700"/>
              </a:spcAft>
              <a:buNone/>
            </a:pPr>
            <a:r>
              <a:rPr sz="1500" b="0">
                <a:solidFill>
                  <a:srgbClr val="310F53"/>
                </a:solidFill>
                <a:latin typeface="Montserrat"/>
              </a:rPr>
              <a:t>Москва</a:t>
            </a:r>
          </a:p>
        </p:txBody>
      </p:sp>
      <p:sp>
        <p:nvSpPr>
          <p:cNvPr id="648121520" name="Текст 8"/>
          <p:cNvSpPr txBox="1"/>
          <p:nvPr/>
        </p:nvSpPr>
        <p:spPr bwMode="auto">
          <a:xfrm>
            <a:off x="334962" y="3484785"/>
            <a:ext cx="2990173" cy="353935"/>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600"/>
              </a:spcAft>
              <a:buNone/>
              <a:defRPr/>
            </a:pPr>
            <a:r>
              <a:rPr sz="1700" b="1">
                <a:solidFill>
                  <a:srgbClr val="310F53"/>
                </a:solidFill>
                <a:latin typeface="Montserrat"/>
              </a:rPr>
              <a:t>О команде</a:t>
            </a:r>
            <a:endParaRPr/>
          </a:p>
        </p:txBody>
      </p:sp>
      <p:sp>
        <p:nvSpPr>
          <p:cNvPr id="328740113" name="Заголовок 6"/>
          <p:cNvSpPr>
            <a:spLocks noGrp="1"/>
          </p:cNvSpPr>
          <p:nvPr>
            <p:ph type="title"/>
          </p:nvPr>
        </p:nvSpPr>
        <p:spPr bwMode="auto">
          <a:xfrm>
            <a:off x="6819903" y="1039236"/>
            <a:ext cx="3636703" cy="1015128"/>
          </a:xfrm>
        </p:spPr>
        <p:txBody>
          <a:bodyPr wrap="square" lIns="0" rIns="0" tIns="0" bIns="0" anchor="t">
            <a:noAutofit/>
          </a:bodyPr>
          <a:lstStyle/>
          <a:p>
            <a:pPr algn="l" marL="0" indent="0">
              <a:lnSpc>
                <a:spcPct val="112000"/>
              </a:lnSpc>
              <a:spcBef>
                <a:spcPts val="0"/>
              </a:spcBef>
              <a:spcAft>
                <a:spcPts val="600"/>
              </a:spcAft>
              <a:buNone/>
              <a:defRPr/>
            </a:pPr>
            <a:r>
              <a:rPr sz="2600" b="1">
                <a:solidFill>
                  <a:srgbClr val="310F53"/>
                </a:solidFill>
                <a:latin typeface="Montserrat"/>
              </a:rPr>
              <a:t>Команда</a:t>
            </a:r>
            <a:endParaRPr lang="ru-RU" sz="2400">
              <a:solidFill>
                <a:schemeClr val="accent5"/>
              </a:solidFill>
              <a:latin typeface="Montserrat"/>
            </a:endParaRPr>
          </a:p>
          <a:p>
            <a:pPr algn="l" marL="0" indent="0">
              <a:lnSpc>
                <a:spcPct val="112000"/>
              </a:lnSpc>
              <a:spcBef>
                <a:spcPts val="0"/>
              </a:spcBef>
              <a:spcAft>
                <a:spcPts val="600"/>
              </a:spcAft>
              <a:buNone/>
            </a:pPr>
            <a:r>
              <a:rPr sz="2600" b="1">
                <a:solidFill>
                  <a:srgbClr val="310F53"/>
                </a:solidFill>
                <a:latin typeface="Montserrat"/>
              </a:rPr>
              <a:t>и решение</a:t>
            </a:r>
          </a:p>
        </p:txBody>
      </p:sp>
      <p:cxnSp>
        <p:nvCxnSpPr>
          <p:cNvPr id="1478954076" name="Прямая соединительная линия 6"/>
          <p:cNvCxnSpPr/>
          <p:nvPr/>
        </p:nvCxnSpPr>
        <p:spPr bwMode="auto">
          <a:xfrm>
            <a:off x="6880774" y="2240031"/>
            <a:ext cx="4884824"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1216552124" name="Прямая соединительная линия 15"/>
          <p:cNvCxnSpPr/>
          <p:nvPr/>
        </p:nvCxnSpPr>
        <p:spPr bwMode="auto">
          <a:xfrm>
            <a:off x="6897347" y="4437879"/>
            <a:ext cx="4884824"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331184900" name="Прямая соединительная линия 16"/>
          <p:cNvCxnSpPr/>
          <p:nvPr/>
        </p:nvCxnSpPr>
        <p:spPr bwMode="auto">
          <a:xfrm>
            <a:off x="395833" y="3448639"/>
            <a:ext cx="5700167" cy="0"/>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sp>
        <p:nvSpPr>
          <p:cNvPr id="1503619342" name="Текст 8"/>
          <p:cNvSpPr txBox="1"/>
          <p:nvPr/>
        </p:nvSpPr>
        <p:spPr bwMode="auto">
          <a:xfrm>
            <a:off x="6819904" y="4541737"/>
            <a:ext cx="4945564" cy="668667"/>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600"/>
              </a:spcAft>
              <a:buNone/>
              <a:defRPr/>
            </a:pPr>
            <a:r>
              <a:rPr sz="1600" b="1">
                <a:solidFill>
                  <a:srgbClr val="310F53"/>
                </a:solidFill>
                <a:latin typeface="Montserrat"/>
              </a:rPr>
              <a:t>Уникальность решения</a:t>
            </a:r>
            <a:endParaRPr/>
          </a:p>
        </p:txBody>
      </p:sp>
      <p:sp>
        <p:nvSpPr>
          <p:cNvPr id="1075761414" name="Текст 8"/>
          <p:cNvSpPr txBox="1"/>
          <p:nvPr/>
        </p:nvSpPr>
        <p:spPr bwMode="auto">
          <a:xfrm>
            <a:off x="6808027" y="2619903"/>
            <a:ext cx="4945565" cy="890039"/>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400"/>
              </a:spcAft>
              <a:buNone/>
              <a:defRPr/>
            </a:pPr>
            <a:r>
              <a:rPr sz="1500" b="0">
                <a:solidFill>
                  <a:srgbClr val="1C1D22"/>
                </a:solidFill>
                <a:latin typeface="Montserrat"/>
              </a:rPr>
              <a:t>DINO и CLIP дополняют друг друга в поиске.</a:t>
            </a:r>
            <a:endParaRPr/>
          </a:p>
          <a:p>
            <a:pPr algn="l" marL="0" indent="0">
              <a:lnSpc>
                <a:spcPct val="112000"/>
              </a:lnSpc>
              <a:spcBef>
                <a:spcPts val="0"/>
              </a:spcBef>
              <a:spcAft>
                <a:spcPts val="400"/>
              </a:spcAft>
              <a:buNone/>
            </a:pPr>
            <a:r>
              <a:rPr sz="1500" b="0">
                <a:solidFill>
                  <a:srgbClr val="1C1D22"/>
                </a:solidFill>
                <a:latin typeface="Montserrat"/>
              </a:rPr>
              <a:t>Отдельная модель заново оценивает пары</a:t>
            </a:r>
          </a:p>
          <a:p>
            <a:pPr algn="l" marL="0" indent="0">
              <a:lnSpc>
                <a:spcPct val="112000"/>
              </a:lnSpc>
              <a:spcBef>
                <a:spcPts val="0"/>
              </a:spcBef>
              <a:spcAft>
                <a:spcPts val="400"/>
              </a:spcAft>
              <a:buNone/>
            </a:pPr>
            <a:r>
              <a:rPr sz="1500" b="0">
                <a:solidFill>
                  <a:srgbClr val="1C1D22"/>
                </a:solidFill>
                <a:latin typeface="Montserrat"/>
              </a:rPr>
              <a:t>машин одной модели, цвета и оклейки.</a:t>
            </a:r>
          </a:p>
        </p:txBody>
      </p:sp>
      <p:sp>
        <p:nvSpPr>
          <p:cNvPr id="2108767591" name="Номер слайда 35"/>
          <p:cNvSpPr txBox="1"/>
          <p:nvPr/>
        </p:nvSpPr>
        <p:spPr bwMode="auto">
          <a:xfrm>
            <a:off x="11413507" y="6356357"/>
            <a:ext cx="559119" cy="365125"/>
          </a:xfrm>
          <a:prstGeom prst="rect">
            <a:avLst/>
          </a:prstGeom>
        </p:spPr>
        <p:txBody>
          <a:bodyPr wrap="square" lIns="0" rIns="0" tIns="0" bIns="0" anchor="t">
            <a:noAutofit/>
          </a:bodyPr>
          <a:lstStyle>
            <a:defPPr>
              <a:defRPr lang="ru-RU"/>
            </a:defPPr>
            <a:lvl1pPr marL="0" algn="l" defTabSz="914220" rtl="0">
              <a:defRPr sz="1800">
                <a:solidFill>
                  <a:schemeClr val="tx1"/>
                </a:solidFill>
                <a:latin typeface="+mn-lt"/>
                <a:ea typeface="+mn-ea"/>
                <a:cs typeface="+mn-cs"/>
              </a:defRPr>
            </a:lvl1pPr>
            <a:lvl2pPr marL="457110" algn="l" defTabSz="914220" rtl="0">
              <a:defRPr sz="1800">
                <a:solidFill>
                  <a:schemeClr val="tx1"/>
                </a:solidFill>
                <a:latin typeface="+mn-lt"/>
                <a:ea typeface="+mn-ea"/>
                <a:cs typeface="+mn-cs"/>
              </a:defRPr>
            </a:lvl2pPr>
            <a:lvl3pPr marL="914220" algn="l" defTabSz="914220" rtl="0">
              <a:defRPr sz="1800">
                <a:solidFill>
                  <a:schemeClr val="tx1"/>
                </a:solidFill>
                <a:latin typeface="+mn-lt"/>
                <a:ea typeface="+mn-ea"/>
                <a:cs typeface="+mn-cs"/>
              </a:defRPr>
            </a:lvl3pPr>
            <a:lvl4pPr marL="1371329" algn="l" defTabSz="914220" rtl="0">
              <a:defRPr sz="1800">
                <a:solidFill>
                  <a:schemeClr val="tx1"/>
                </a:solidFill>
                <a:latin typeface="+mn-lt"/>
                <a:ea typeface="+mn-ea"/>
                <a:cs typeface="+mn-cs"/>
              </a:defRPr>
            </a:lvl4pPr>
            <a:lvl5pPr marL="1828439" algn="l" defTabSz="914220" rtl="0">
              <a:defRPr sz="1800">
                <a:solidFill>
                  <a:schemeClr val="tx1"/>
                </a:solidFill>
                <a:latin typeface="+mn-lt"/>
                <a:ea typeface="+mn-ea"/>
                <a:cs typeface="+mn-cs"/>
              </a:defRPr>
            </a:lvl5pPr>
            <a:lvl6pPr marL="2285549" algn="l" defTabSz="914220" rtl="0">
              <a:defRPr sz="1800">
                <a:solidFill>
                  <a:schemeClr val="tx1"/>
                </a:solidFill>
                <a:latin typeface="+mn-lt"/>
                <a:ea typeface="+mn-ea"/>
                <a:cs typeface="+mn-cs"/>
              </a:defRPr>
            </a:lvl6pPr>
            <a:lvl7pPr marL="2742658" algn="l" defTabSz="914220" rtl="0">
              <a:defRPr sz="1800">
                <a:solidFill>
                  <a:schemeClr val="tx1"/>
                </a:solidFill>
                <a:latin typeface="+mn-lt"/>
                <a:ea typeface="+mn-ea"/>
                <a:cs typeface="+mn-cs"/>
              </a:defRPr>
            </a:lvl7pPr>
            <a:lvl8pPr marL="3199765" algn="l" defTabSz="914220" rtl="0">
              <a:defRPr sz="1800">
                <a:solidFill>
                  <a:schemeClr val="tx1"/>
                </a:solidFill>
                <a:latin typeface="+mn-lt"/>
                <a:ea typeface="+mn-ea"/>
                <a:cs typeface="+mn-cs"/>
              </a:defRPr>
            </a:lvl8pPr>
            <a:lvl9pPr marL="3656877" algn="l" defTabSz="914220" rtl="0">
              <a:defRPr sz="1800">
                <a:solidFill>
                  <a:schemeClr val="tx1"/>
                </a:solidFill>
                <a:latin typeface="+mn-lt"/>
                <a:ea typeface="+mn-ea"/>
                <a:cs typeface="+mn-cs"/>
              </a:defRPr>
            </a:lvl9pPr>
          </a:lstStyle>
          <a:p>
            <a:pPr algn="l" marL="0" indent="0">
              <a:lnSpc>
                <a:spcPct val="112000"/>
              </a:lnSpc>
              <a:spcBef>
                <a:spcPts val="0"/>
              </a:spcBef>
              <a:spcAft>
                <a:spcPts val="600"/>
              </a:spcAft>
              <a:buNone/>
              <a:defRPr/>
            </a:pPr>
            <a:r>
              <a:rPr sz="1100" b="0">
                <a:solidFill>
                  <a:srgbClr val="310F53"/>
                </a:solidFill>
                <a:latin typeface="Montserrat"/>
              </a:rPr>
              <a:t>02</a:t>
            </a:r>
            <a:endParaRPr lang="ru-RU" sz="1200">
              <a:solidFill>
                <a:schemeClr val="accent5"/>
              </a:solidFill>
            </a:endParaRPr>
          </a:p>
        </p:txBody>
      </p:sp>
      <p:pic>
        <p:nvPicPr>
          <p:cNvPr id="2108767592" name="Picture 2108767591" descr="team.png"/>
          <p:cNvPicPr>
            <a:picLocks noChangeAspect="1"/>
          </p:cNvPicPr>
          <p:nvPr/>
        </p:nvPicPr>
        <p:blipFill>
          <a:blip r:embed="rId4"/>
          <a:stretch>
            <a:fillRect/>
          </a:stretch>
        </p:blipFill>
        <p:spPr>
          <a:xfrm>
            <a:off x="886011" y="335280"/>
            <a:ext cx="4684656" cy="263652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blipFill rotWithShape="1">
          <a:blip r:embed="rId3">
            <a:lum/>
          </a:blip>
          <a:stretch/>
        </a:blipFill>
      </p:bgPr>
    </p:bg>
    <p:spTree>
      <p:nvGrpSpPr>
        <p:cNvPr id="1" name=""/>
        <p:cNvGrpSpPr/>
        <p:nvPr/>
      </p:nvGrpSpPr>
      <p:grpSpPr bwMode="auto">
        <a:xfrm>
          <a:off x="0" y="0"/>
          <a:ext cx="0" cy="0"/>
          <a:chOff x="0" y="0"/>
          <a:chExt cx="0" cy="0"/>
        </a:xfrm>
      </p:grpSpPr>
      <p:sp>
        <p:nvSpPr>
          <p:cNvPr id="1919445992" name="Скругленный прямоугольник 55"/>
          <p:cNvSpPr/>
          <p:nvPr/>
        </p:nvSpPr>
        <p:spPr bwMode="auto">
          <a:xfrm>
            <a:off x="2651394" y="1522006"/>
            <a:ext cx="2192713" cy="4834351"/>
          </a:xfrm>
          <a:prstGeom prst="roundRect">
            <a:avLst>
              <a:gd name="adj" fmla="val 9821"/>
            </a:avLst>
          </a:prstGeom>
          <a:solidFill>
            <a:schemeClr val="bg1"/>
          </a:solidFill>
          <a:ln w="9525" cap="flat" cmpd="sng" algn="ctr">
            <a:noFill/>
            <a:prstDash val="solid"/>
            <a:round/>
            <a:headEnd type="none" w="med" len="med"/>
            <a:tailEnd type="none" w="med" len="med"/>
          </a:ln>
        </p:spPr>
        <p:style>
          <a:lnRef idx="0">
            <a:srgbClr val="000000"/>
          </a:lnRef>
          <a:fillRef idx="0">
            <a:srgbClr val="000000"/>
          </a:fillRef>
          <a:effectRef idx="0">
            <a:srgbClr val="000000"/>
          </a:effectRef>
          <a:fontRef idx="minor">
            <a:schemeClr val="accent2"/>
          </a:fontRef>
        </p:style>
        <p:txBody>
          <a:bodyPr rtlCol="0" anchor="t"/>
          <a:lstStyle/>
          <a:p>
            <a:pPr algn="ctr">
              <a:defRPr/>
            </a:pPr>
            <a:endParaRPr lang="ru-RU" b="1">
              <a:solidFill>
                <a:schemeClr val="accent2"/>
              </a:solidFill>
            </a:endParaRPr>
          </a:p>
        </p:txBody>
      </p:sp>
      <p:sp>
        <p:nvSpPr>
          <p:cNvPr id="990223453" name="Текст 8"/>
          <p:cNvSpPr txBox="1"/>
          <p:nvPr/>
        </p:nvSpPr>
        <p:spPr bwMode="auto">
          <a:xfrm>
            <a:off x="2823678" y="4250028"/>
            <a:ext cx="1894354" cy="1624612"/>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algn="l" marL="0" indent="0">
              <a:lnSpc>
                <a:spcPct val="112000"/>
              </a:lnSpc>
              <a:spcBef>
                <a:spcPts val="0"/>
              </a:spcBef>
              <a:spcAft>
                <a:spcPts val="700"/>
              </a:spcAft>
              <a:buNone/>
              <a:defRPr/>
            </a:pPr>
            <a:r>
              <a:rPr sz="1200" b="0">
                <a:solidFill>
                  <a:srgbClr val="310F53"/>
                </a:solidFill>
                <a:latin typeface="Montserrat"/>
              </a:rPr>
              <a:t>ML Engineer</a:t>
            </a:r>
            <a:endParaRPr/>
          </a:p>
          <a:p>
            <a:pPr algn="l" marL="0" indent="0">
              <a:lnSpc>
                <a:spcPct val="112000"/>
              </a:lnSpc>
              <a:spcBef>
                <a:spcPts val="0"/>
              </a:spcBef>
              <a:spcAft>
                <a:spcPts val="700"/>
              </a:spcAft>
              <a:buNone/>
            </a:pPr>
            <a:r>
              <a:rPr sz="1200" b="0">
                <a:solidFill>
                  <a:srgbClr val="310F53"/>
                </a:solidFill>
                <a:latin typeface="Montserrat"/>
              </a:rPr>
              <a:t>@Timurisan</a:t>
            </a:r>
          </a:p>
          <a:p>
            <a:pPr algn="l" marL="0" indent="0">
              <a:lnSpc>
                <a:spcPct val="112000"/>
              </a:lnSpc>
              <a:spcBef>
                <a:spcPts val="0"/>
              </a:spcBef>
              <a:spcAft>
                <a:spcPts val="700"/>
              </a:spcAft>
              <a:buNone/>
            </a:pPr>
            <a:r>
              <a:rPr sz="1200" b="0">
                <a:solidFill>
                  <a:srgbClr val="310F53"/>
                </a:solidFill>
                <a:latin typeface="Montserrat"/>
              </a:rPr>
              <a:t>НИУ ВШЭ</a:t>
            </a:r>
          </a:p>
          <a:p>
            <a:pPr algn="l" marL="0" indent="0">
              <a:lnSpc>
                <a:spcPct val="112000"/>
              </a:lnSpc>
              <a:spcBef>
                <a:spcPts val="0"/>
              </a:spcBef>
              <a:spcAft>
                <a:spcPts val="700"/>
              </a:spcAft>
              <a:buNone/>
            </a:pPr>
            <a:r>
              <a:rPr sz="1200" b="0">
                <a:solidFill>
                  <a:srgbClr val="310F53"/>
                </a:solidFill>
                <a:latin typeface="Montserrat"/>
              </a:rPr>
              <a:t>Data Science</a:t>
            </a:r>
          </a:p>
          <a:p>
            <a:pPr algn="l" marL="0" indent="0">
              <a:lnSpc>
                <a:spcPct val="112000"/>
              </a:lnSpc>
              <a:spcBef>
                <a:spcPts val="0"/>
              </a:spcBef>
              <a:spcAft>
                <a:spcPts val="700"/>
              </a:spcAft>
              <a:buNone/>
            </a:pPr>
            <a:r>
              <a:rPr sz="1200" b="0">
                <a:solidFill>
                  <a:srgbClr val="310F53"/>
                </a:solidFill>
                <a:latin typeface="Montserrat"/>
              </a:rPr>
              <a:t>Москва</a:t>
            </a:r>
          </a:p>
        </p:txBody>
      </p:sp>
      <p:sp>
        <p:nvSpPr>
          <p:cNvPr id="1259743807" name="Текст 8"/>
          <p:cNvSpPr txBox="1"/>
          <p:nvPr/>
        </p:nvSpPr>
        <p:spPr bwMode="auto">
          <a:xfrm>
            <a:off x="2823677" y="3622118"/>
            <a:ext cx="1722566" cy="627910"/>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0"/>
              </a:spcAft>
              <a:buNone/>
              <a:defRPr/>
            </a:pPr>
            <a:r>
              <a:rPr sz="1320" b="1">
                <a:solidFill>
                  <a:srgbClr val="310F53"/>
                </a:solidFill>
                <a:latin typeface="Montserrat"/>
              </a:rPr>
              <a:t>Исанбирдин</a:t>
            </a:r>
            <a:endParaRPr/>
          </a:p>
          <a:p>
            <a:pPr algn="l" marL="0" indent="0">
              <a:lnSpc>
                <a:spcPct val="112000"/>
              </a:lnSpc>
              <a:spcBef>
                <a:spcPts val="0"/>
              </a:spcBef>
              <a:spcAft>
                <a:spcPts val="0"/>
              </a:spcAft>
              <a:buNone/>
            </a:pPr>
            <a:r>
              <a:rPr sz="1320" b="1">
                <a:solidFill>
                  <a:srgbClr val="310F53"/>
                </a:solidFill>
                <a:latin typeface="Montserrat"/>
              </a:rPr>
              <a:t>Тимур Рустамович</a:t>
            </a:r>
          </a:p>
        </p:txBody>
      </p:sp>
      <p:sp>
        <p:nvSpPr>
          <p:cNvPr id="651037677" name="Скругленный прямоугольник 61"/>
          <p:cNvSpPr/>
          <p:nvPr/>
        </p:nvSpPr>
        <p:spPr bwMode="auto">
          <a:xfrm>
            <a:off x="7262031" y="1522006"/>
            <a:ext cx="2192713" cy="4834351"/>
          </a:xfrm>
          <a:prstGeom prst="roundRect">
            <a:avLst>
              <a:gd name="adj" fmla="val 9821"/>
            </a:avLst>
          </a:prstGeom>
          <a:solidFill>
            <a:schemeClr val="bg1"/>
          </a:solidFill>
          <a:ln w="9525" cap="flat" cmpd="sng" algn="ctr">
            <a:noFill/>
            <a:prstDash val="solid"/>
            <a:round/>
            <a:headEnd type="none" w="med" len="med"/>
            <a:tailEnd type="none" w="med" len="med"/>
          </a:ln>
        </p:spPr>
        <p:style>
          <a:lnRef idx="0">
            <a:srgbClr val="000000"/>
          </a:lnRef>
          <a:fillRef idx="0">
            <a:srgbClr val="000000"/>
          </a:fillRef>
          <a:effectRef idx="0">
            <a:srgbClr val="000000"/>
          </a:effectRef>
          <a:fontRef idx="minor">
            <a:schemeClr val="accent2"/>
          </a:fontRef>
        </p:style>
        <p:txBody>
          <a:bodyPr rtlCol="0" anchor="t"/>
          <a:lstStyle/>
          <a:p>
            <a:pPr algn="ctr">
              <a:defRPr/>
            </a:pPr>
            <a:endParaRPr lang="ru-RU" b="1">
              <a:solidFill>
                <a:schemeClr val="accent2"/>
              </a:solidFill>
            </a:endParaRPr>
          </a:p>
        </p:txBody>
      </p:sp>
      <p:sp>
        <p:nvSpPr>
          <p:cNvPr id="499875170" name="Текст 8"/>
          <p:cNvSpPr txBox="1"/>
          <p:nvPr/>
        </p:nvSpPr>
        <p:spPr bwMode="auto">
          <a:xfrm>
            <a:off x="7434315" y="4250028"/>
            <a:ext cx="1894354" cy="1624612"/>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algn="l" marL="0" indent="0">
              <a:lnSpc>
                <a:spcPct val="112000"/>
              </a:lnSpc>
              <a:spcBef>
                <a:spcPts val="0"/>
              </a:spcBef>
              <a:spcAft>
                <a:spcPts val="700"/>
              </a:spcAft>
              <a:buNone/>
              <a:defRPr/>
            </a:pPr>
            <a:r>
              <a:rPr sz="1200" b="0">
                <a:solidFill>
                  <a:srgbClr val="310F53"/>
                </a:solidFill>
                <a:latin typeface="Montserrat"/>
              </a:rPr>
              <a:t>ML Engineer</a:t>
            </a:r>
            <a:endParaRPr/>
          </a:p>
          <a:p>
            <a:pPr algn="l" marL="0" indent="0">
              <a:lnSpc>
                <a:spcPct val="112000"/>
              </a:lnSpc>
              <a:spcBef>
                <a:spcPts val="0"/>
              </a:spcBef>
              <a:spcAft>
                <a:spcPts val="700"/>
              </a:spcAft>
              <a:buNone/>
            </a:pPr>
            <a:r>
              <a:rPr sz="1200" b="0">
                <a:solidFill>
                  <a:srgbClr val="310F53"/>
                </a:solidFill>
                <a:latin typeface="Montserrat"/>
              </a:rPr>
              <a:t>@cart_math</a:t>
            </a:r>
          </a:p>
          <a:p>
            <a:pPr algn="l" marL="0" indent="0">
              <a:lnSpc>
                <a:spcPct val="112000"/>
              </a:lnSpc>
              <a:spcBef>
                <a:spcPts val="0"/>
              </a:spcBef>
              <a:spcAft>
                <a:spcPts val="700"/>
              </a:spcAft>
              <a:buNone/>
            </a:pPr>
            <a:r>
              <a:rPr sz="1200" b="0">
                <a:solidFill>
                  <a:srgbClr val="310F53"/>
                </a:solidFill>
                <a:latin typeface="Montserrat"/>
              </a:rPr>
              <a:t>НИУ ВШЭ</a:t>
            </a:r>
          </a:p>
          <a:p>
            <a:pPr algn="l" marL="0" indent="0">
              <a:lnSpc>
                <a:spcPct val="112000"/>
              </a:lnSpc>
              <a:spcBef>
                <a:spcPts val="0"/>
              </a:spcBef>
              <a:spcAft>
                <a:spcPts val="700"/>
              </a:spcAft>
              <a:buNone/>
            </a:pPr>
            <a:r>
              <a:rPr sz="1200" b="0">
                <a:solidFill>
                  <a:srgbClr val="310F53"/>
                </a:solidFill>
                <a:latin typeface="Montserrat"/>
              </a:rPr>
              <a:t>Бизнес-информатика</a:t>
            </a:r>
          </a:p>
          <a:p>
            <a:pPr algn="l" marL="0" indent="0">
              <a:lnSpc>
                <a:spcPct val="112000"/>
              </a:lnSpc>
              <a:spcBef>
                <a:spcPts val="0"/>
              </a:spcBef>
              <a:spcAft>
                <a:spcPts val="700"/>
              </a:spcAft>
              <a:buNone/>
            </a:pPr>
            <a:r>
              <a:rPr sz="1200" b="0">
                <a:solidFill>
                  <a:srgbClr val="310F53"/>
                </a:solidFill>
                <a:latin typeface="Montserrat"/>
              </a:rPr>
              <a:t>Москва</a:t>
            </a:r>
          </a:p>
        </p:txBody>
      </p:sp>
      <p:sp>
        <p:nvSpPr>
          <p:cNvPr id="1054387886" name="Текст 8"/>
          <p:cNvSpPr txBox="1"/>
          <p:nvPr/>
        </p:nvSpPr>
        <p:spPr bwMode="auto">
          <a:xfrm>
            <a:off x="7434314" y="3622118"/>
            <a:ext cx="1722566" cy="627910"/>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0"/>
              </a:spcAft>
              <a:buNone/>
              <a:defRPr/>
            </a:pPr>
            <a:r>
              <a:rPr sz="1320" b="1">
                <a:solidFill>
                  <a:srgbClr val="310F53"/>
                </a:solidFill>
                <a:latin typeface="Montserrat"/>
              </a:rPr>
              <a:t>Дармограй Макар</a:t>
            </a:r>
            <a:endParaRPr/>
          </a:p>
          <a:p>
            <a:pPr algn="l" marL="0" indent="0">
              <a:lnSpc>
                <a:spcPct val="112000"/>
              </a:lnSpc>
              <a:spcBef>
                <a:spcPts val="0"/>
              </a:spcBef>
              <a:spcAft>
                <a:spcPts val="0"/>
              </a:spcAft>
              <a:buNone/>
            </a:pPr>
            <a:r>
              <a:rPr sz="1320" b="1">
                <a:solidFill>
                  <a:srgbClr val="310F53"/>
                </a:solidFill>
                <a:latin typeface="Montserrat"/>
              </a:rPr>
              <a:t>Хаетуллович</a:t>
            </a:r>
          </a:p>
        </p:txBody>
      </p:sp>
      <p:sp>
        <p:nvSpPr>
          <p:cNvPr id="662366709" name="Скругленный прямоугольник 12"/>
          <p:cNvSpPr/>
          <p:nvPr/>
        </p:nvSpPr>
        <p:spPr bwMode="auto">
          <a:xfrm>
            <a:off x="346075" y="324562"/>
            <a:ext cx="3952656" cy="620919"/>
          </a:xfrm>
          <a:prstGeom prst="roundRect">
            <a:avLst>
              <a:gd name="adj" fmla="val 18706"/>
            </a:avLst>
          </a:prstGeom>
          <a:solidFill>
            <a:schemeClr val="accent1"/>
          </a:solidFill>
          <a:ln>
            <a:noFill/>
          </a:ln>
        </p:spPr>
        <p:style>
          <a:lnRef idx="0">
            <a:srgbClr val="000000"/>
          </a:lnRef>
          <a:fillRef idx="0">
            <a:srgbClr val="000000"/>
          </a:fillRef>
          <a:effectRef idx="0">
            <a:srgbClr val="000000"/>
          </a:effectRef>
          <a:fontRef idx="minor">
            <a:schemeClr val="lt1"/>
          </a:fontRef>
        </p:style>
        <p:txBody>
          <a:bodyPr rtlCol="0" anchor="t"/>
          <a:lstStyle/>
          <a:p>
            <a:pPr algn="ctr">
              <a:defRPr/>
            </a:pPr>
            <a:endParaRPr lang="ru-RU" b="1">
              <a:solidFill>
                <a:schemeClr val="accent2"/>
              </a:solidFill>
            </a:endParaRPr>
          </a:p>
        </p:txBody>
      </p:sp>
      <p:sp>
        <p:nvSpPr>
          <p:cNvPr id="1493695819" name="Номер слайда 17"/>
          <p:cNvSpPr>
            <a:spLocks noGrp="1"/>
          </p:cNvSpPr>
          <p:nvPr>
            <p:ph type="sldNum" sz="quarter" idx="4"/>
          </p:nvPr>
        </p:nvSpPr>
        <p:spPr bwMode="auto"/>
        <p:txBody>
          <a:bodyPr wrap="square" lIns="0" rIns="0" tIns="0" bIns="0" anchor="t">
            <a:noAutofit/>
          </a:bodyPr>
          <a:lstStyle/>
          <a:p>
            <a:pPr algn="l" marL="0" indent="0">
              <a:lnSpc>
                <a:spcPct val="112000"/>
              </a:lnSpc>
              <a:spcBef>
                <a:spcPts val="0"/>
              </a:spcBef>
              <a:spcAft>
                <a:spcPts val="600"/>
              </a:spcAft>
              <a:buNone/>
              <a:defRPr/>
            </a:pPr>
            <a:r>
              <a:rPr sz="1100" b="0">
                <a:solidFill>
                  <a:srgbClr val="FFFFFF"/>
                </a:solidFill>
                <a:latin typeface="Montserrat"/>
              </a:rPr>
              <a:t>03</a:t>
            </a:r>
            <a:endParaRPr lang="ru-RU">
              <a:solidFill>
                <a:schemeClr val="bg1"/>
              </a:solidFill>
            </a:endParaRPr>
          </a:p>
        </p:txBody>
      </p:sp>
      <p:sp>
        <p:nvSpPr>
          <p:cNvPr id="415042907" name="Заголовок 6"/>
          <p:cNvSpPr>
            <a:spLocks noGrp="1"/>
          </p:cNvSpPr>
          <p:nvPr>
            <p:ph type="title"/>
          </p:nvPr>
        </p:nvSpPr>
        <p:spPr bwMode="auto">
          <a:xfrm>
            <a:off x="518359" y="449787"/>
            <a:ext cx="9862734" cy="376138"/>
          </a:xfrm>
        </p:spPr>
        <p:txBody>
          <a:bodyPr wrap="square" lIns="0" rIns="0" tIns="0" bIns="0" anchor="t">
            <a:noAutofit/>
          </a:bodyPr>
          <a:lstStyle/>
          <a:p>
            <a:pPr algn="l" marL="0" indent="0">
              <a:lnSpc>
                <a:spcPct val="112000"/>
              </a:lnSpc>
              <a:spcBef>
                <a:spcPts val="0"/>
              </a:spcBef>
              <a:spcAft>
                <a:spcPts val="600"/>
              </a:spcAft>
              <a:buNone/>
              <a:defRPr/>
            </a:pPr>
            <a:r>
              <a:rPr sz="1900" b="1">
                <a:solidFill>
                  <a:srgbClr val="FFFFFF"/>
                </a:solidFill>
                <a:latin typeface="Montserrat"/>
              </a:rPr>
              <a:t>КОМАНДА DEEPTECH AI</a:t>
            </a:r>
            <a:endParaRPr lang="ru-RU">
              <a:latin typeface="Montserrat"/>
            </a:endParaRPr>
          </a:p>
        </p:txBody>
      </p:sp>
      <p:pic>
        <p:nvPicPr>
          <p:cNvPr id="1919445993" name="Picture 1919445992" descr="image.png"/>
          <p:cNvPicPr>
            <a:picLocks noChangeAspect="1"/>
          </p:cNvPicPr>
          <p:nvPr/>
        </p:nvPicPr>
        <p:blipFill>
          <a:blip r:embed="rId4"/>
          <a:stretch>
            <a:fillRect/>
          </a:stretch>
        </p:blipFill>
        <p:spPr>
          <a:xfrm>
            <a:off x="2886467" y="1826554"/>
            <a:ext cx="1722566" cy="1542401"/>
          </a:xfrm>
          <a:prstGeom prst="rect">
            <a:avLst/>
          </a:prstGeom>
        </p:spPr>
      </p:pic>
      <p:pic>
        <p:nvPicPr>
          <p:cNvPr id="1919445994" name="Picture 1919445993" descr="image.png"/>
          <p:cNvPicPr>
            <a:picLocks noChangeAspect="1"/>
          </p:cNvPicPr>
          <p:nvPr/>
        </p:nvPicPr>
        <p:blipFill>
          <a:blip r:embed="rId5"/>
          <a:stretch>
            <a:fillRect/>
          </a:stretch>
        </p:blipFill>
        <p:spPr>
          <a:xfrm>
            <a:off x="7520208" y="1809238"/>
            <a:ext cx="1722567" cy="155971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blipFill rotWithShape="1">
          <a:blip r:embed="rId3">
            <a:lum/>
          </a:blip>
          <a:stretch/>
        </a:blipFill>
      </p:bgPr>
    </p:bg>
    <p:spTree>
      <p:nvGrpSpPr>
        <p:cNvPr id="1" name=""/>
        <p:cNvGrpSpPr/>
        <p:nvPr/>
      </p:nvGrpSpPr>
      <p:grpSpPr bwMode="auto">
        <a:xfrm>
          <a:off x="0" y="0"/>
          <a:ext cx="0" cy="0"/>
          <a:chOff x="0" y="0"/>
          <a:chExt cx="0" cy="0"/>
        </a:xfrm>
      </p:grpSpPr>
      <p:sp>
        <p:nvSpPr>
          <p:cNvPr id="1401463204" name="Скругленный прямоугольник 1"/>
          <p:cNvSpPr/>
          <p:nvPr/>
        </p:nvSpPr>
        <p:spPr bwMode="auto">
          <a:xfrm>
            <a:off x="346075" y="324562"/>
            <a:ext cx="3952656" cy="620919"/>
          </a:xfrm>
          <a:prstGeom prst="roundRect">
            <a:avLst>
              <a:gd name="adj" fmla="val 18706"/>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endParaRPr lang="ru-RU" b="1">
              <a:solidFill>
                <a:schemeClr val="accent2"/>
              </a:solidFill>
            </a:endParaRPr>
          </a:p>
        </p:txBody>
      </p:sp>
      <p:sp>
        <p:nvSpPr>
          <p:cNvPr id="17240408" name="Номер слайда 17"/>
          <p:cNvSpPr>
            <a:spLocks noGrp="1"/>
          </p:cNvSpPr>
          <p:nvPr>
            <p:ph type="sldNum" sz="quarter" idx="4"/>
          </p:nvPr>
        </p:nvSpPr>
        <p:spPr bwMode="auto"/>
        <p:txBody>
          <a:bodyPr wrap="square" lIns="0" rIns="0" tIns="0" bIns="0" anchor="t">
            <a:noAutofit/>
          </a:bodyPr>
          <a:lstStyle/>
          <a:p>
            <a:pPr algn="l" marL="0" indent="0">
              <a:lnSpc>
                <a:spcPct val="112000"/>
              </a:lnSpc>
              <a:spcBef>
                <a:spcPts val="0"/>
              </a:spcBef>
              <a:spcAft>
                <a:spcPts val="600"/>
              </a:spcAft>
              <a:buNone/>
              <a:defRPr/>
            </a:pPr>
            <a:r>
              <a:rPr sz="1100" b="0">
                <a:solidFill>
                  <a:srgbClr val="310F53"/>
                </a:solidFill>
                <a:latin typeface="Montserrat"/>
              </a:rPr>
              <a:t>04</a:t>
            </a:r>
            <a:endParaRPr lang="ru-RU">
              <a:solidFill>
                <a:schemeClr val="accent5"/>
              </a:solidFill>
            </a:endParaRPr>
          </a:p>
        </p:txBody>
      </p:sp>
      <p:sp>
        <p:nvSpPr>
          <p:cNvPr id="865297653" name="Заголовок 6"/>
          <p:cNvSpPr>
            <a:spLocks noGrp="1"/>
          </p:cNvSpPr>
          <p:nvPr>
            <p:ph type="title"/>
          </p:nvPr>
        </p:nvSpPr>
        <p:spPr bwMode="auto">
          <a:xfrm>
            <a:off x="507849" y="449787"/>
            <a:ext cx="9862734" cy="376138"/>
          </a:xfrm>
        </p:spPr>
        <p:txBody>
          <a:bodyPr wrap="square" lIns="0" rIns="0" tIns="0" bIns="0" anchor="t">
            <a:noAutofit/>
          </a:bodyPr>
          <a:lstStyle/>
          <a:p>
            <a:pPr algn="l" marL="0" indent="0">
              <a:lnSpc>
                <a:spcPct val="112000"/>
              </a:lnSpc>
              <a:spcBef>
                <a:spcPts val="0"/>
              </a:spcBef>
              <a:spcAft>
                <a:spcPts val="600"/>
              </a:spcAft>
              <a:buNone/>
              <a:defRPr/>
            </a:pPr>
            <a:r>
              <a:rPr sz="1900" b="1">
                <a:solidFill>
                  <a:srgbClr val="FFFFFF"/>
                </a:solidFill>
                <a:latin typeface="Montserrat"/>
              </a:rPr>
              <a:t>О КОМПАНИИ И РАБОТЕ</a:t>
            </a:r>
            <a:endParaRPr lang="ru-RU">
              <a:latin typeface="Montserrat"/>
            </a:endParaRPr>
          </a:p>
        </p:txBody>
      </p:sp>
      <p:sp>
        <p:nvSpPr>
          <p:cNvPr id="1588890124" name="Текст 8"/>
          <p:cNvSpPr>
            <a:spLocks noGrp="1"/>
          </p:cNvSpPr>
          <p:nvPr>
            <p:ph type="body" sz="quarter" idx="27"/>
          </p:nvPr>
        </p:nvSpPr>
        <p:spPr bwMode="auto">
          <a:xfrm>
            <a:off x="533607" y="1602273"/>
            <a:ext cx="4425822" cy="934263"/>
          </a:xfrm>
        </p:spPr>
        <p:txBody>
          <a:bodyPr wrap="square" lIns="0" rIns="0" tIns="0" bIns="0" anchor="t">
            <a:noAutofit/>
          </a:bodyPr>
          <a:lstStyle/>
          <a:p>
            <a:pPr marL="0" indent="0" algn="l">
              <a:lnSpc>
                <a:spcPct val="112000"/>
              </a:lnSpc>
              <a:spcBef>
                <a:spcPts val="0"/>
              </a:spcBef>
              <a:spcAft>
                <a:spcPts val="300"/>
              </a:spcAft>
              <a:buNone/>
              <a:defRPr/>
            </a:pPr>
            <a:r>
              <a:rPr sz="1500" b="0">
                <a:solidFill>
                  <a:srgbClr val="1C1D22"/>
                </a:solidFill>
                <a:latin typeface="Montserrat"/>
              </a:rPr>
              <a:t>Мы учимся в НИУ ВШЭ и вместе</a:t>
            </a:r>
            <a:endParaRPr/>
          </a:p>
          <a:p>
            <a:pPr algn="l" marL="0" indent="0">
              <a:lnSpc>
                <a:spcPct val="112000"/>
              </a:lnSpc>
              <a:spcBef>
                <a:spcPts val="0"/>
              </a:spcBef>
              <a:spcAft>
                <a:spcPts val="300"/>
              </a:spcAft>
              <a:buNone/>
            </a:pPr>
            <a:r>
              <a:rPr sz="1500" b="0">
                <a:solidFill>
                  <a:srgbClr val="1C1D22"/>
                </a:solidFill>
                <a:latin typeface="Montserrat"/>
              </a:rPr>
              <a:t>развиваем компанию DeepTech AI.</a:t>
            </a:r>
          </a:p>
        </p:txBody>
      </p:sp>
      <p:sp>
        <p:nvSpPr>
          <p:cNvPr id="493921390" name="Текст 8"/>
          <p:cNvSpPr txBox="1"/>
          <p:nvPr/>
        </p:nvSpPr>
        <p:spPr bwMode="auto">
          <a:xfrm>
            <a:off x="533607" y="1279645"/>
            <a:ext cx="2990173" cy="353935"/>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600"/>
              </a:spcAft>
              <a:buNone/>
              <a:defRPr/>
            </a:pPr>
            <a:r>
              <a:rPr sz="1500" b="1">
                <a:solidFill>
                  <a:srgbClr val="310F53"/>
                </a:solidFill>
                <a:latin typeface="Montserrat"/>
              </a:rPr>
              <a:t>Краткая история компании</a:t>
            </a:r>
            <a:endParaRPr/>
          </a:p>
        </p:txBody>
      </p:sp>
      <p:sp>
        <p:nvSpPr>
          <p:cNvPr id="243118211" name="Текст 8"/>
          <p:cNvSpPr txBox="1"/>
          <p:nvPr/>
        </p:nvSpPr>
        <p:spPr bwMode="auto">
          <a:xfrm>
            <a:off x="533607" y="5139255"/>
            <a:ext cx="7318749" cy="1055362"/>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200"/>
              </a:spcAft>
              <a:buNone/>
              <a:defRPr/>
            </a:pPr>
            <a:r>
              <a:rPr sz="1500" b="0">
                <a:solidFill>
                  <a:srgbClr val="1C1D22"/>
                </a:solidFill>
                <a:latin typeface="Montserrat"/>
              </a:rPr>
              <a:t>Без дообучения модель выбирала похожий фон.</a:t>
            </a:r>
            <a:endParaRPr lang="en-US">
              <a:solidFill>
                <a:schemeClr val="tx1"/>
              </a:solidFill>
            </a:endParaRPr>
          </a:p>
          <a:p>
            <a:pPr algn="l" marL="0" indent="0">
              <a:lnSpc>
                <a:spcPct val="112000"/>
              </a:lnSpc>
              <a:spcBef>
                <a:spcPts val="0"/>
              </a:spcBef>
              <a:spcAft>
                <a:spcPts val="200"/>
              </a:spcAft>
              <a:buNone/>
            </a:pPr>
            <a:r>
              <a:rPr sz="1500" b="0">
                <a:solidFill>
                  <a:srgbClr val="1C1D22"/>
                </a:solidFill>
                <a:latin typeface="Montserrat"/>
              </a:rPr>
              <a:t>Обучали на снимках одной машины с разных камер.</a:t>
            </a:r>
          </a:p>
          <a:p>
            <a:pPr algn="l" marL="0" indent="0">
              <a:lnSpc>
                <a:spcPct val="112000"/>
              </a:lnSpc>
              <a:spcBef>
                <a:spcPts val="0"/>
              </a:spcBef>
              <a:spcAft>
                <a:spcPts val="200"/>
              </a:spcAft>
              <a:buNone/>
            </a:pPr>
            <a:r>
              <a:rPr sz="1500" b="0">
                <a:solidFill>
                  <a:srgbClr val="1C1D22"/>
                </a:solidFill>
                <a:latin typeface="Montserrat"/>
              </a:rPr>
              <a:t>Парная модель выдавала одинаковые оценки всем парам.</a:t>
            </a:r>
          </a:p>
          <a:p>
            <a:pPr algn="l" marL="0" indent="0">
              <a:lnSpc>
                <a:spcPct val="112000"/>
              </a:lnSpc>
              <a:spcBef>
                <a:spcPts val="0"/>
              </a:spcBef>
              <a:spcAft>
                <a:spcPts val="200"/>
              </a:spcAft>
              <a:buNone/>
            </a:pPr>
            <a:r>
              <a:rPr sz="1500" b="0">
                <a:solidFill>
                  <a:srgbClr val="1C1D22"/>
                </a:solidFill>
                <a:latin typeface="Montserrat"/>
              </a:rPr>
              <a:t>Зафиксировали базовую сеть и обучили блок сравнения.</a:t>
            </a:r>
          </a:p>
        </p:txBody>
      </p:sp>
      <p:sp>
        <p:nvSpPr>
          <p:cNvPr id="765507967" name="Текст 8"/>
          <p:cNvSpPr txBox="1"/>
          <p:nvPr/>
        </p:nvSpPr>
        <p:spPr bwMode="auto">
          <a:xfrm>
            <a:off x="533608" y="4571473"/>
            <a:ext cx="6438692" cy="629056"/>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600"/>
              </a:spcAft>
              <a:buNone/>
              <a:defRPr/>
            </a:pPr>
            <a:r>
              <a:rPr sz="1600" b="1">
                <a:solidFill>
                  <a:srgbClr val="310F53"/>
                </a:solidFill>
                <a:latin typeface="Montserrat"/>
              </a:rPr>
              <a:t>Сложности и принятые решения</a:t>
            </a:r>
            <a:endParaRPr/>
          </a:p>
        </p:txBody>
      </p:sp>
      <p:sp>
        <p:nvSpPr>
          <p:cNvPr id="1574440249" name="Текст 8"/>
          <p:cNvSpPr txBox="1"/>
          <p:nvPr/>
        </p:nvSpPr>
        <p:spPr bwMode="auto">
          <a:xfrm>
            <a:off x="533607" y="3429000"/>
            <a:ext cx="4945565" cy="1078529"/>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300"/>
              </a:spcAft>
              <a:buNone/>
              <a:defRPr/>
            </a:pPr>
            <a:r>
              <a:rPr sz="1400" b="0">
                <a:solidFill>
                  <a:srgbClr val="1C1D22"/>
                </a:solidFill>
                <a:latin typeface="Montserrat"/>
              </a:rPr>
              <a:t>Нам интересно компьютерное зрение. Эта задача —</a:t>
            </a:r>
            <a:endParaRPr/>
          </a:p>
          <a:p>
            <a:pPr algn="l" marL="0" indent="0">
              <a:lnSpc>
                <a:spcPct val="112000"/>
              </a:lnSpc>
              <a:spcBef>
                <a:spcPts val="0"/>
              </a:spcBef>
              <a:spcAft>
                <a:spcPts val="300"/>
              </a:spcAft>
              <a:buNone/>
            </a:pPr>
            <a:r>
              <a:rPr sz="1400" b="0">
                <a:solidFill>
                  <a:srgbClr val="1C1D22"/>
                </a:solidFill>
                <a:latin typeface="Montserrat"/>
              </a:rPr>
              <a:t>возможность углубиться в поиск по изображениям</a:t>
            </a:r>
          </a:p>
          <a:p>
            <a:pPr algn="l" marL="0" indent="0">
              <a:lnSpc>
                <a:spcPct val="112000"/>
              </a:lnSpc>
              <a:spcBef>
                <a:spcPts val="0"/>
              </a:spcBef>
              <a:spcAft>
                <a:spcPts val="300"/>
              </a:spcAft>
              <a:buNone/>
            </a:pPr>
            <a:r>
              <a:rPr sz="1400" b="0">
                <a:solidFill>
                  <a:srgbClr val="1C1D22"/>
                </a:solidFill>
                <a:latin typeface="Montserrat"/>
              </a:rPr>
              <a:t>и развивать это направление в DeepTech AI.</a:t>
            </a:r>
          </a:p>
        </p:txBody>
      </p:sp>
      <p:sp>
        <p:nvSpPr>
          <p:cNvPr id="1790469585" name="Текст 8"/>
          <p:cNvSpPr txBox="1"/>
          <p:nvPr/>
        </p:nvSpPr>
        <p:spPr bwMode="auto">
          <a:xfrm>
            <a:off x="533607" y="2900091"/>
            <a:ext cx="5629858" cy="528909"/>
          </a:xfrm>
          <a:prstGeom prst="rect">
            <a:avLst/>
          </a:prstGeom>
          <a:ln>
            <a:noFill/>
          </a:ln>
        </p:spPr>
        <p:txBody>
          <a:bodyPr vert="horz" lIns="0" tIns="0" rIns="0" bIns="0" rtlCol="0" wrap="square" anchor="t">
            <a:no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l">
              <a:lnSpc>
                <a:spcPct val="112000"/>
              </a:lnSpc>
              <a:spcBef>
                <a:spcPts val="0"/>
              </a:spcBef>
              <a:spcAft>
                <a:spcPts val="600"/>
              </a:spcAft>
              <a:buNone/>
              <a:defRPr/>
            </a:pPr>
            <a:r>
              <a:rPr sz="1600" b="1">
                <a:solidFill>
                  <a:srgbClr val="310F53"/>
                </a:solidFill>
                <a:latin typeface="Montserrat"/>
              </a:rPr>
              <a:t>Почему выбрали эту задачу</a:t>
            </a:r>
            <a:endParaRPr/>
          </a:p>
        </p:txBody>
      </p:sp>
      <p:cxnSp>
        <p:nvCxnSpPr>
          <p:cNvPr id="1125078722" name="Прямая соединительная линия 4"/>
          <p:cNvCxnSpPr/>
          <p:nvPr/>
        </p:nvCxnSpPr>
        <p:spPr bwMode="auto">
          <a:xfrm>
            <a:off x="623888" y="2745690"/>
            <a:ext cx="11233150" cy="0"/>
          </a:xfrm>
          <a:prstGeom prst="line">
            <a:avLst/>
          </a:prstGeom>
          <a:ln>
            <a:solidFill>
              <a:schemeClr val="accent1"/>
            </a:solidFill>
          </a:ln>
        </p:spPr>
        <p:style>
          <a:lnRef idx="1">
            <a:schemeClr val="accent2"/>
          </a:lnRef>
          <a:fillRef idx="0">
            <a:schemeClr val="accent2"/>
          </a:fillRef>
          <a:effectRef idx="0">
            <a:schemeClr val="accent2"/>
          </a:effectRef>
          <a:fontRef idx="minor">
            <a:schemeClr val="tx1"/>
          </a:fontRef>
        </p:style>
      </p:cxnSp>
      <p:cxnSp>
        <p:nvCxnSpPr>
          <p:cNvPr id="401438399" name="Прямая соединительная линия 5"/>
          <p:cNvCxnSpPr/>
          <p:nvPr/>
        </p:nvCxnSpPr>
        <p:spPr bwMode="auto">
          <a:xfrm>
            <a:off x="623888" y="4407066"/>
            <a:ext cx="11233150" cy="0"/>
          </a:xfrm>
          <a:prstGeom prst="line">
            <a:avLst/>
          </a:prstGeom>
          <a:ln>
            <a:solidFill>
              <a:schemeClr val="accent1"/>
            </a:solidFill>
          </a:ln>
        </p:spPr>
        <p:style>
          <a:lnRef idx="1">
            <a:schemeClr val="accent2"/>
          </a:lnRef>
          <a:fillRef idx="0">
            <a:schemeClr val="accent2"/>
          </a:fillRef>
          <a:effectRef idx="0">
            <a:schemeClr val="accent2"/>
          </a:effectRef>
          <a:fontRef idx="minor">
            <a:schemeClr val="tx1"/>
          </a:fontRef>
        </p:style>
      </p:cxnSp>
      <p:cxnSp>
        <p:nvCxnSpPr>
          <p:cNvPr id="1854362844" name="Прямая соединительная линия 7"/>
          <p:cNvCxnSpPr/>
          <p:nvPr/>
        </p:nvCxnSpPr>
        <p:spPr bwMode="auto">
          <a:xfrm>
            <a:off x="623888" y="1110074"/>
            <a:ext cx="11233150" cy="0"/>
          </a:xfrm>
          <a:prstGeom prst="line">
            <a:avLst/>
          </a:prstGeom>
          <a:ln>
            <a:solidFill>
              <a:schemeClr val="accent1"/>
            </a:solidFill>
          </a:ln>
        </p:spPr>
        <p:style>
          <a:lnRef idx="1">
            <a:schemeClr val="accent2"/>
          </a:lnRef>
          <a:fillRef idx="0">
            <a:schemeClr val="accent2"/>
          </a:fillRef>
          <a:effectRef idx="0">
            <a:schemeClr val="accent2"/>
          </a:effectRef>
          <a:fontRef idx="minor">
            <a:schemeClr val="tx1"/>
          </a:fontRef>
        </p:style>
      </p:cxnSp>
      <p:sp>
        <p:nvSpPr>
          <p:cNvPr id="1672459714" name="Текст 8"/>
          <p:cNvSpPr txBox="1"/>
          <p:nvPr/>
        </p:nvSpPr>
        <p:spPr bwMode="auto">
          <a:xfrm>
            <a:off x="11015788" y="1279645"/>
            <a:ext cx="956838" cy="353935"/>
          </a:xfrm>
          <a:prstGeom prst="rect">
            <a:avLst/>
          </a:prstGeom>
          <a:ln>
            <a:noFill/>
          </a:ln>
        </p:spPr>
        <p:txBody>
          <a:bodyPr vert="horz" lIns="91440" tIns="45720" rIns="91440" bIns="45720" rtlCol="0">
            <a:norm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r">
              <a:buNone/>
              <a:defRPr/>
            </a:pPr>
            <a:r>
              <a:rPr lang="ru-RU" b="1">
                <a:solidFill>
                  <a:schemeClr val="accent5"/>
                </a:solidFill>
              </a:rPr>
              <a:t>01</a:t>
            </a:r>
            <a:endParaRPr/>
          </a:p>
        </p:txBody>
      </p:sp>
      <p:sp>
        <p:nvSpPr>
          <p:cNvPr id="1977750831" name="Текст 8"/>
          <p:cNvSpPr txBox="1"/>
          <p:nvPr/>
        </p:nvSpPr>
        <p:spPr bwMode="auto">
          <a:xfrm>
            <a:off x="11015788" y="2900091"/>
            <a:ext cx="930595" cy="528909"/>
          </a:xfrm>
          <a:prstGeom prst="rect">
            <a:avLst/>
          </a:prstGeom>
          <a:ln>
            <a:noFill/>
          </a:ln>
        </p:spPr>
        <p:txBody>
          <a:bodyPr vert="horz" lIns="91440" tIns="45720" rIns="91440" bIns="45720" rtlCol="0">
            <a:norm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r">
              <a:lnSpc>
                <a:spcPct val="100000"/>
              </a:lnSpc>
              <a:buNone/>
              <a:defRPr/>
            </a:pPr>
            <a:r>
              <a:rPr lang="ru-RU" b="1">
                <a:solidFill>
                  <a:schemeClr val="accent5"/>
                </a:solidFill>
              </a:rPr>
              <a:t>02</a:t>
            </a:r>
            <a:endParaRPr/>
          </a:p>
        </p:txBody>
      </p:sp>
      <p:sp>
        <p:nvSpPr>
          <p:cNvPr id="1433482465" name="Текст 8"/>
          <p:cNvSpPr txBox="1"/>
          <p:nvPr/>
        </p:nvSpPr>
        <p:spPr bwMode="auto">
          <a:xfrm>
            <a:off x="11015788" y="4571473"/>
            <a:ext cx="930596" cy="567782"/>
          </a:xfrm>
          <a:prstGeom prst="rect">
            <a:avLst/>
          </a:prstGeom>
          <a:ln>
            <a:noFill/>
          </a:ln>
        </p:spPr>
        <p:txBody>
          <a:bodyPr vert="horz" lIns="91440" tIns="45720" rIns="91440" bIns="45720" rtlCol="0">
            <a:normAutofit/>
          </a:bodyPr>
          <a:lstStyle>
            <a:lvl1pPr marL="144688" indent="-144688" algn="l" defTabSz="578755" rtl="0">
              <a:lnSpc>
                <a:spcPct val="90000"/>
              </a:lnSpc>
              <a:spcBef>
                <a:spcPts val="631"/>
              </a:spcBef>
              <a:buClr>
                <a:schemeClr val="accent1"/>
              </a:buClr>
              <a:buFont typeface="Wingdings"/>
              <a:buChar char="§"/>
              <a:defRPr sz="1400">
                <a:solidFill>
                  <a:schemeClr val="bg1">
                    <a:lumMod val="95000"/>
                  </a:schemeClr>
                </a:solidFill>
                <a:latin typeface="+mn-lt"/>
                <a:ea typeface="+mn-ea"/>
                <a:cs typeface="+mn-cs"/>
              </a:defRPr>
            </a:lvl1pPr>
            <a:lvl2pPr marL="434067" indent="-144688" algn="l" defTabSz="578755" rtl="0">
              <a:lnSpc>
                <a:spcPct val="90000"/>
              </a:lnSpc>
              <a:spcBef>
                <a:spcPts val="317"/>
              </a:spcBef>
              <a:buFont typeface="Arial"/>
              <a:buChar char="•"/>
              <a:defRPr sz="1250">
                <a:solidFill>
                  <a:schemeClr val="bg1">
                    <a:lumMod val="95000"/>
                  </a:schemeClr>
                </a:solidFill>
                <a:latin typeface="+mn-lt"/>
                <a:ea typeface="+mn-ea"/>
                <a:cs typeface="+mn-cs"/>
              </a:defRPr>
            </a:lvl2pPr>
            <a:lvl3pPr marL="723445" indent="-144688" algn="l" defTabSz="578755" rtl="0">
              <a:lnSpc>
                <a:spcPct val="90000"/>
              </a:lnSpc>
              <a:spcBef>
                <a:spcPts val="317"/>
              </a:spcBef>
              <a:buFont typeface="Arial"/>
              <a:buChar char="•"/>
              <a:defRPr sz="1000">
                <a:solidFill>
                  <a:schemeClr val="bg1">
                    <a:lumMod val="95000"/>
                  </a:schemeClr>
                </a:solidFill>
                <a:latin typeface="+mn-lt"/>
                <a:ea typeface="+mn-ea"/>
                <a:cs typeface="+mn-cs"/>
              </a:defRPr>
            </a:lvl3pPr>
            <a:lvl4pPr marL="1012822"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4pPr>
            <a:lvl5pPr marL="1302200" indent="-144688" algn="l" defTabSz="578755" rtl="0">
              <a:lnSpc>
                <a:spcPct val="90000"/>
              </a:lnSpc>
              <a:spcBef>
                <a:spcPts val="317"/>
              </a:spcBef>
              <a:buFont typeface="Arial"/>
              <a:buChar char="•"/>
              <a:defRPr sz="900">
                <a:solidFill>
                  <a:schemeClr val="bg1">
                    <a:lumMod val="95000"/>
                  </a:schemeClr>
                </a:solidFill>
                <a:latin typeface="+mn-lt"/>
                <a:ea typeface="+mn-ea"/>
                <a:cs typeface="+mn-cs"/>
              </a:defRPr>
            </a:lvl5pPr>
            <a:lvl6pPr marL="1591575" indent="-144688" algn="l" defTabSz="578755" rtl="0">
              <a:lnSpc>
                <a:spcPct val="90000"/>
              </a:lnSpc>
              <a:spcBef>
                <a:spcPts val="317"/>
              </a:spcBef>
              <a:buFont typeface="Arial"/>
              <a:buChar char="•"/>
              <a:defRPr sz="1150">
                <a:solidFill>
                  <a:schemeClr val="tx1"/>
                </a:solidFill>
                <a:latin typeface="+mn-lt"/>
                <a:ea typeface="+mn-ea"/>
                <a:cs typeface="+mn-cs"/>
              </a:defRPr>
            </a:lvl6pPr>
            <a:lvl7pPr marL="1880955" indent="-144688" algn="l" defTabSz="578755" rtl="0">
              <a:lnSpc>
                <a:spcPct val="90000"/>
              </a:lnSpc>
              <a:spcBef>
                <a:spcPts val="317"/>
              </a:spcBef>
              <a:buFont typeface="Arial"/>
              <a:buChar char="•"/>
              <a:defRPr sz="1150">
                <a:solidFill>
                  <a:schemeClr val="tx1"/>
                </a:solidFill>
                <a:latin typeface="+mn-lt"/>
                <a:ea typeface="+mn-ea"/>
                <a:cs typeface="+mn-cs"/>
              </a:defRPr>
            </a:lvl7pPr>
            <a:lvl8pPr marL="2170334" indent="-144688" algn="l" defTabSz="578755" rtl="0">
              <a:lnSpc>
                <a:spcPct val="90000"/>
              </a:lnSpc>
              <a:spcBef>
                <a:spcPts val="317"/>
              </a:spcBef>
              <a:buFont typeface="Arial"/>
              <a:buChar char="•"/>
              <a:defRPr sz="1150">
                <a:solidFill>
                  <a:schemeClr val="tx1"/>
                </a:solidFill>
                <a:latin typeface="+mn-lt"/>
                <a:ea typeface="+mn-ea"/>
                <a:cs typeface="+mn-cs"/>
              </a:defRPr>
            </a:lvl8pPr>
            <a:lvl9pPr marL="2459712" indent="-144688" algn="l" defTabSz="578755" rtl="0">
              <a:lnSpc>
                <a:spcPct val="90000"/>
              </a:lnSpc>
              <a:spcBef>
                <a:spcPts val="317"/>
              </a:spcBef>
              <a:buFont typeface="Arial"/>
              <a:buChar char="•"/>
              <a:defRPr sz="1150">
                <a:solidFill>
                  <a:schemeClr val="tx1"/>
                </a:solidFill>
                <a:latin typeface="+mn-lt"/>
                <a:ea typeface="+mn-ea"/>
                <a:cs typeface="+mn-cs"/>
              </a:defRPr>
            </a:lvl9pPr>
          </a:lstStyle>
          <a:p>
            <a:pPr marL="0" indent="0" algn="r">
              <a:lnSpc>
                <a:spcPct val="100000"/>
              </a:lnSpc>
              <a:buNone/>
              <a:defRPr/>
            </a:pPr>
            <a:r>
              <a:rPr lang="ru-RU" b="1">
                <a:solidFill>
                  <a:schemeClr val="accent5"/>
                </a:solidFill>
              </a:rPr>
              <a:t>03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blipFill rotWithShape="1">
          <a:blip r:embed="rId3">
            <a:lum/>
          </a:blip>
          <a:stretch/>
        </a:blipFill>
      </p:bgPr>
    </p:bg>
    <p:spTree>
      <p:nvGrpSpPr>
        <p:cNvPr id="1" name=""/>
        <p:cNvGrpSpPr/>
        <p:nvPr/>
      </p:nvGrpSpPr>
      <p:grpSpPr bwMode="auto">
        <a:xfrm>
          <a:off x="0" y="0"/>
          <a:ext cx="0" cy="0"/>
          <a:chOff x="0" y="0"/>
          <a:chExt cx="0" cy="0"/>
        </a:xfrm>
      </p:grpSpPr>
      <p:sp>
        <p:nvSpPr>
          <p:cNvPr id="1184634285" name="Скругленный прямоугольник 9"/>
          <p:cNvSpPr/>
          <p:nvPr/>
        </p:nvSpPr>
        <p:spPr bwMode="auto">
          <a:xfrm>
            <a:off x="346075" y="324562"/>
            <a:ext cx="3750911" cy="620919"/>
          </a:xfrm>
          <a:prstGeom prst="roundRect">
            <a:avLst>
              <a:gd name="adj" fmla="val 18706"/>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endParaRPr lang="ru-RU" b="1">
              <a:solidFill>
                <a:schemeClr val="accent2"/>
              </a:solidFill>
            </a:endParaRPr>
          </a:p>
        </p:txBody>
      </p:sp>
      <p:sp>
        <p:nvSpPr>
          <p:cNvPr id="142449051" name="Скругленный прямоугольник 23"/>
          <p:cNvSpPr/>
          <p:nvPr/>
        </p:nvSpPr>
        <p:spPr bwMode="auto">
          <a:xfrm>
            <a:off x="6230774" y="1211284"/>
            <a:ext cx="5440313" cy="4989492"/>
          </a:xfrm>
          <a:prstGeom prst="roundRect">
            <a:avLst>
              <a:gd name="adj" fmla="val 3865"/>
            </a:avLst>
          </a:prstGeom>
          <a:solidFill>
            <a:schemeClr val="bg1"/>
          </a:solidFill>
          <a:ln w="9525" cap="flat" cmpd="sng" algn="ctr">
            <a:noFill/>
            <a:prstDash val="solid"/>
            <a:round/>
            <a:headEnd type="none" w="med" len="med"/>
            <a:tailEnd type="none" w="med" len="med"/>
          </a:ln>
        </p:spPr>
        <p:style>
          <a:lnRef idx="0">
            <a:srgbClr val="000000"/>
          </a:lnRef>
          <a:fillRef idx="0">
            <a:srgbClr val="000000"/>
          </a:fillRef>
          <a:effectRef idx="0">
            <a:srgbClr val="000000"/>
          </a:effectRef>
          <a:fontRef idx="minor">
            <a:schemeClr val="accent2"/>
          </a:fontRef>
        </p:style>
        <p:txBody>
          <a:bodyPr rtlCol="0" anchor="t"/>
          <a:lstStyle/>
          <a:p>
            <a:pPr algn="ctr">
              <a:defRPr/>
            </a:pPr>
            <a:endParaRPr lang="ru-RU" b="1">
              <a:solidFill>
                <a:schemeClr val="accent2"/>
              </a:solidFill>
            </a:endParaRPr>
          </a:p>
        </p:txBody>
      </p:sp>
      <p:sp>
        <p:nvSpPr>
          <p:cNvPr id="1393046190" name="Скругленный прямоугольник 26"/>
          <p:cNvSpPr/>
          <p:nvPr/>
        </p:nvSpPr>
        <p:spPr bwMode="auto">
          <a:xfrm>
            <a:off x="346076" y="1211284"/>
            <a:ext cx="5440313" cy="4989492"/>
          </a:xfrm>
          <a:prstGeom prst="roundRect">
            <a:avLst>
              <a:gd name="adj" fmla="val 3407"/>
            </a:avLst>
          </a:prstGeom>
          <a:solidFill>
            <a:schemeClr val="bg1"/>
          </a:solidFill>
          <a:ln w="9525" cap="flat" cmpd="sng" algn="ctr">
            <a:noFill/>
            <a:prstDash val="solid"/>
            <a:round/>
            <a:headEnd type="none" w="med" len="med"/>
            <a:tailEnd type="none" w="med" len="med"/>
          </a:ln>
        </p:spPr>
        <p:style>
          <a:lnRef idx="0">
            <a:srgbClr val="000000"/>
          </a:lnRef>
          <a:fillRef idx="0">
            <a:srgbClr val="000000"/>
          </a:fillRef>
          <a:effectRef idx="0">
            <a:srgbClr val="000000"/>
          </a:effectRef>
          <a:fontRef idx="minor">
            <a:schemeClr val="accent2"/>
          </a:fontRef>
        </p:style>
        <p:txBody>
          <a:bodyPr rtlCol="0" anchor="t"/>
          <a:lstStyle/>
          <a:p>
            <a:pPr algn="ctr">
              <a:defRPr/>
            </a:pPr>
            <a:endParaRPr lang="ru-RU" b="1">
              <a:solidFill>
                <a:schemeClr val="accent2"/>
              </a:solidFill>
            </a:endParaRPr>
          </a:p>
        </p:txBody>
      </p:sp>
      <p:sp>
        <p:nvSpPr>
          <p:cNvPr id="1727018758" name="Номер слайда 20"/>
          <p:cNvSpPr>
            <a:spLocks noGrp="1"/>
          </p:cNvSpPr>
          <p:nvPr>
            <p:ph type="sldNum" sz="quarter" idx="4"/>
          </p:nvPr>
        </p:nvSpPr>
        <p:spPr bwMode="auto"/>
        <p:txBody>
          <a:bodyPr wrap="square" lIns="0" rIns="0" tIns="0" bIns="0" anchor="t">
            <a:noAutofit/>
          </a:bodyPr>
          <a:lstStyle/>
          <a:p>
            <a:pPr algn="l" marL="0" indent="0">
              <a:lnSpc>
                <a:spcPct val="112000"/>
              </a:lnSpc>
              <a:spcBef>
                <a:spcPts val="0"/>
              </a:spcBef>
              <a:spcAft>
                <a:spcPts val="600"/>
              </a:spcAft>
              <a:buNone/>
              <a:defRPr/>
            </a:pPr>
            <a:r>
              <a:rPr sz="1100" b="0">
                <a:solidFill>
                  <a:srgbClr val="FFFFFF"/>
                </a:solidFill>
                <a:latin typeface="Montserrat"/>
              </a:rPr>
              <a:t>05</a:t>
            </a:r>
            <a:endParaRPr lang="ru-RU">
              <a:solidFill>
                <a:schemeClr val="bg1"/>
              </a:solidFill>
            </a:endParaRPr>
          </a:p>
        </p:txBody>
      </p:sp>
      <p:sp>
        <p:nvSpPr>
          <p:cNvPr id="1782181813" name="Текст 2"/>
          <p:cNvSpPr>
            <a:spLocks noGrp="1"/>
          </p:cNvSpPr>
          <p:nvPr>
            <p:ph type="body" sz="quarter" idx="38"/>
          </p:nvPr>
        </p:nvSpPr>
        <p:spPr bwMode="auto">
          <a:xfrm>
            <a:off x="589492" y="1920927"/>
            <a:ext cx="4929861" cy="3868581"/>
          </a:xfrm>
        </p:spPr>
        <p:txBody>
          <a:bodyPr wrap="square" lIns="0" rIns="0" tIns="0" bIns="0" anchor="t">
            <a:noAutofit/>
          </a:bodyPr>
          <a:lstStyle/>
          <a:p>
            <a:pPr algn="l" marL="0" indent="0">
              <a:lnSpc>
                <a:spcPct val="112000"/>
              </a:lnSpc>
              <a:spcBef>
                <a:spcPts val="0"/>
              </a:spcBef>
              <a:spcAft>
                <a:spcPts val="600"/>
              </a:spcAft>
              <a:buNone/>
              <a:defRPr/>
            </a:pPr>
            <a:endParaRPr/>
          </a:p>
        </p:txBody>
      </p:sp>
      <p:sp>
        <p:nvSpPr>
          <p:cNvPr id="321655550" name="Текст 6"/>
          <p:cNvSpPr>
            <a:spLocks noGrp="1"/>
          </p:cNvSpPr>
          <p:nvPr>
            <p:ph type="body" sz="quarter" idx="42"/>
          </p:nvPr>
        </p:nvSpPr>
        <p:spPr bwMode="auto">
          <a:xfrm>
            <a:off x="6513513" y="1920927"/>
            <a:ext cx="4957144" cy="3876445"/>
          </a:xfrm>
        </p:spPr>
        <p:txBody>
          <a:bodyPr wrap="square" lIns="0" rIns="0" tIns="0" bIns="0" anchor="t">
            <a:noAutofit/>
          </a:bodyPr>
          <a:lstStyle/>
          <a:p>
            <a:pPr algn="l" marL="0" indent="0">
              <a:lnSpc>
                <a:spcPct val="112000"/>
              </a:lnSpc>
              <a:spcBef>
                <a:spcPts val="0"/>
              </a:spcBef>
              <a:spcAft>
                <a:spcPts val="600"/>
              </a:spcAft>
              <a:buNone/>
              <a:defRPr/>
            </a:pPr>
            <a:endParaRPr/>
          </a:p>
        </p:txBody>
      </p:sp>
      <p:sp>
        <p:nvSpPr>
          <p:cNvPr id="607500153" name="Заголовок 13"/>
          <p:cNvSpPr>
            <a:spLocks noGrp="1"/>
          </p:cNvSpPr>
          <p:nvPr>
            <p:ph type="title"/>
          </p:nvPr>
        </p:nvSpPr>
        <p:spPr bwMode="auto">
          <a:xfrm>
            <a:off x="525817" y="456851"/>
            <a:ext cx="9862734" cy="376138"/>
          </a:xfrm>
        </p:spPr>
        <p:txBody>
          <a:bodyPr wrap="square" lIns="0" rIns="0" tIns="0" bIns="0" anchor="t">
            <a:noAutofit/>
          </a:bodyPr>
          <a:lstStyle/>
          <a:p>
            <a:pPr algn="l" marL="0" indent="0">
              <a:lnSpc>
                <a:spcPct val="112000"/>
              </a:lnSpc>
              <a:spcBef>
                <a:spcPts val="0"/>
              </a:spcBef>
              <a:spcAft>
                <a:spcPts val="600"/>
              </a:spcAft>
              <a:buNone/>
              <a:defRPr/>
            </a:pPr>
            <a:r>
              <a:rPr sz="1900" b="1">
                <a:solidFill>
                  <a:srgbClr val="FFFFFF"/>
                </a:solidFill>
                <a:latin typeface="Montserrat"/>
              </a:rPr>
              <a:t>КОРОТКО О РЕШЕНИИ</a:t>
            </a:r>
            <a:endParaRPr/>
          </a:p>
        </p:txBody>
      </p:sp>
      <p:sp>
        <p:nvSpPr>
          <p:cNvPr id="2139836321" name="Текст 14"/>
          <p:cNvSpPr>
            <a:spLocks noGrp="1"/>
          </p:cNvSpPr>
          <p:nvPr>
            <p:ph type="body" sz="quarter" idx="49"/>
          </p:nvPr>
        </p:nvSpPr>
        <p:spPr bwMode="auto">
          <a:xfrm>
            <a:off x="578063" y="1476583"/>
            <a:ext cx="4929861" cy="555147"/>
          </a:xfrm>
        </p:spPr>
        <p:txBody>
          <a:bodyPr wrap="square" lIns="0" rIns="0" tIns="0" bIns="0" anchor="t">
            <a:noAutofit/>
          </a:bodyPr>
          <a:lstStyle/>
          <a:p>
            <a:pPr algn="l" marL="0" indent="0">
              <a:lnSpc>
                <a:spcPct val="112000"/>
              </a:lnSpc>
              <a:spcBef>
                <a:spcPts val="0"/>
              </a:spcBef>
              <a:spcAft>
                <a:spcPts val="600"/>
              </a:spcAft>
              <a:buNone/>
              <a:defRPr/>
            </a:pPr>
            <a:r>
              <a:rPr sz="1800" b="1">
                <a:solidFill>
                  <a:srgbClr val="310F53"/>
                </a:solidFill>
                <a:latin typeface="Montserrat"/>
              </a:rPr>
              <a:t>Техническая суть решения</a:t>
            </a:r>
            <a:endParaRPr/>
          </a:p>
        </p:txBody>
      </p:sp>
      <p:sp>
        <p:nvSpPr>
          <p:cNvPr id="878253783" name="Текст 16"/>
          <p:cNvSpPr>
            <a:spLocks noGrp="1"/>
          </p:cNvSpPr>
          <p:nvPr>
            <p:ph type="body" sz="quarter" idx="51"/>
          </p:nvPr>
        </p:nvSpPr>
        <p:spPr bwMode="auto">
          <a:xfrm>
            <a:off x="6513513" y="1476583"/>
            <a:ext cx="5214724" cy="561519"/>
          </a:xfrm>
        </p:spPr>
        <p:txBody>
          <a:bodyPr wrap="square" lIns="0" rIns="0" tIns="0" bIns="0" anchor="t">
            <a:noAutofit/>
          </a:bodyPr>
          <a:lstStyle/>
          <a:p>
            <a:pPr algn="l" marL="0" indent="0">
              <a:lnSpc>
                <a:spcPct val="112000"/>
              </a:lnSpc>
              <a:spcBef>
                <a:spcPts val="0"/>
              </a:spcBef>
              <a:spcAft>
                <a:spcPts val="600"/>
              </a:spcAft>
              <a:buNone/>
              <a:defRPr/>
            </a:pPr>
            <a:r>
              <a:rPr sz="1800" b="1">
                <a:solidFill>
                  <a:srgbClr val="310F53"/>
                </a:solidFill>
                <a:latin typeface="Montserrat"/>
              </a:rPr>
              <a:t>Применение и развитие</a:t>
            </a:r>
            <a:endParaRPr/>
          </a:p>
        </p:txBody>
      </p:sp>
      <p:sp>
        <p:nvSpPr>
          <p:cNvPr id="2139836322" name="TextBox 2139836321"/>
          <p:cNvSpPr txBox="1"/>
          <p:nvPr/>
        </p:nvSpPr>
        <p:spPr>
          <a:xfrm>
            <a:off x="589280" y="21082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01</a:t>
            </a:r>
          </a:p>
        </p:txBody>
      </p:sp>
      <p:sp>
        <p:nvSpPr>
          <p:cNvPr id="2139836323" name="TextBox 2139836322"/>
          <p:cNvSpPr txBox="1"/>
          <p:nvPr/>
        </p:nvSpPr>
        <p:spPr>
          <a:xfrm>
            <a:off x="1071880" y="20955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Признаки автомобиля</a:t>
            </a:r>
          </a:p>
        </p:txBody>
      </p:sp>
      <p:sp>
        <p:nvSpPr>
          <p:cNvPr id="2139836324" name="TextBox 2139836323"/>
          <p:cNvSpPr txBox="1"/>
          <p:nvPr/>
        </p:nvSpPr>
        <p:spPr>
          <a:xfrm>
            <a:off x="1071880" y="24511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DINO + CLIP → вектор из 3072 чисел.</a:t>
            </a:r>
          </a:p>
        </p:txBody>
      </p:sp>
      <p:sp>
        <p:nvSpPr>
          <p:cNvPr id="2139836325" name="TextBox 2139836324"/>
          <p:cNvSpPr txBox="1"/>
          <p:nvPr/>
        </p:nvSpPr>
        <p:spPr>
          <a:xfrm>
            <a:off x="589280" y="30353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02</a:t>
            </a:r>
          </a:p>
        </p:txBody>
      </p:sp>
      <p:sp>
        <p:nvSpPr>
          <p:cNvPr id="2139836326" name="TextBox 2139836325"/>
          <p:cNvSpPr txBox="1"/>
          <p:nvPr/>
        </p:nvSpPr>
        <p:spPr>
          <a:xfrm>
            <a:off x="1071880" y="30226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Поиск по базе</a:t>
            </a:r>
          </a:p>
        </p:txBody>
      </p:sp>
      <p:sp>
        <p:nvSpPr>
          <p:cNvPr id="2139836327" name="TextBox 2139836326"/>
          <p:cNvSpPr txBox="1"/>
          <p:nvPr/>
        </p:nvSpPr>
        <p:spPr>
          <a:xfrm>
            <a:off x="1071880" y="33782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Находим 10 наиболее похожих снимков.</a:t>
            </a:r>
          </a:p>
        </p:txBody>
      </p:sp>
      <p:sp>
        <p:nvSpPr>
          <p:cNvPr id="2139836328" name="TextBox 2139836327"/>
          <p:cNvSpPr txBox="1"/>
          <p:nvPr/>
        </p:nvSpPr>
        <p:spPr>
          <a:xfrm>
            <a:off x="589280" y="39624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03</a:t>
            </a:r>
          </a:p>
        </p:txBody>
      </p:sp>
      <p:sp>
        <p:nvSpPr>
          <p:cNvPr id="2139836329" name="TextBox 2139836328"/>
          <p:cNvSpPr txBox="1"/>
          <p:nvPr/>
        </p:nvSpPr>
        <p:spPr>
          <a:xfrm>
            <a:off x="1071880" y="39497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Проверка совпадения</a:t>
            </a:r>
          </a:p>
        </p:txBody>
      </p:sp>
      <p:sp>
        <p:nvSpPr>
          <p:cNvPr id="2139836330" name="TextBox 2139836329"/>
          <p:cNvSpPr txBox="1"/>
          <p:nvPr/>
        </p:nvSpPr>
        <p:spPr>
          <a:xfrm>
            <a:off x="1071880" y="43053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Повторно сравниваем пары.</a:t>
            </a:r>
          </a:p>
          <a:p>
            <a:pPr algn="l" marL="0" indent="0">
              <a:lnSpc>
                <a:spcPct val="112000"/>
              </a:lnSpc>
              <a:spcBef>
                <a:spcPts val="0"/>
              </a:spcBef>
              <a:spcAft>
                <a:spcPts val="100"/>
              </a:spcAft>
              <a:buNone/>
            </a:pPr>
            <a:r>
              <a:rPr sz="1300" b="0">
                <a:solidFill>
                  <a:srgbClr val="1C1D22"/>
                </a:solidFill>
                <a:latin typeface="Montserrat"/>
              </a:rPr>
              <a:t>При уверенности ниже 6.6 — отказ.</a:t>
            </a:r>
          </a:p>
        </p:txBody>
      </p:sp>
      <p:sp>
        <p:nvSpPr>
          <p:cNvPr id="2139836331" name="TextBox 2139836330"/>
          <p:cNvSpPr txBox="1"/>
          <p:nvPr/>
        </p:nvSpPr>
        <p:spPr>
          <a:xfrm>
            <a:off x="589280" y="48895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04</a:t>
            </a:r>
          </a:p>
        </p:txBody>
      </p:sp>
      <p:sp>
        <p:nvSpPr>
          <p:cNvPr id="2139836332" name="TextBox 2139836331"/>
          <p:cNvSpPr txBox="1"/>
          <p:nvPr/>
        </p:nvSpPr>
        <p:spPr>
          <a:xfrm>
            <a:off x="1071880" y="48768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Готовый запуск</a:t>
            </a:r>
          </a:p>
        </p:txBody>
      </p:sp>
      <p:sp>
        <p:nvSpPr>
          <p:cNvPr id="2139836333" name="TextBox 2139836332"/>
          <p:cNvSpPr txBox="1"/>
          <p:nvPr/>
        </p:nvSpPr>
        <p:spPr>
          <a:xfrm>
            <a:off x="1071880" y="52324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Офлайн в Docker. Результат — три файла.</a:t>
            </a:r>
          </a:p>
        </p:txBody>
      </p:sp>
      <p:sp>
        <p:nvSpPr>
          <p:cNvPr id="2139836334" name="TextBox 2139836333"/>
          <p:cNvSpPr txBox="1"/>
          <p:nvPr/>
        </p:nvSpPr>
        <p:spPr>
          <a:xfrm>
            <a:off x="6513830" y="21082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01</a:t>
            </a:r>
          </a:p>
        </p:txBody>
      </p:sp>
      <p:sp>
        <p:nvSpPr>
          <p:cNvPr id="2139836335" name="TextBox 2139836334"/>
          <p:cNvSpPr txBox="1"/>
          <p:nvPr/>
        </p:nvSpPr>
        <p:spPr>
          <a:xfrm>
            <a:off x="6996430" y="20955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Применение</a:t>
            </a:r>
          </a:p>
        </p:txBody>
      </p:sp>
      <p:sp>
        <p:nvSpPr>
          <p:cNvPr id="2139836336" name="TextBox 2139836335"/>
          <p:cNvSpPr txBox="1"/>
          <p:nvPr/>
        </p:nvSpPr>
        <p:spPr>
          <a:xfrm>
            <a:off x="6996430" y="24511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Поиск автомобиля в архиве разных камер.</a:t>
            </a:r>
          </a:p>
        </p:txBody>
      </p:sp>
      <p:sp>
        <p:nvSpPr>
          <p:cNvPr id="2139836337" name="TextBox 2139836336"/>
          <p:cNvSpPr txBox="1"/>
          <p:nvPr/>
        </p:nvSpPr>
        <p:spPr>
          <a:xfrm>
            <a:off x="6513830" y="30353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02</a:t>
            </a:r>
          </a:p>
        </p:txBody>
      </p:sp>
      <p:sp>
        <p:nvSpPr>
          <p:cNvPr id="2139836338" name="TextBox 2139836337"/>
          <p:cNvSpPr txBox="1"/>
          <p:nvPr/>
        </p:nvSpPr>
        <p:spPr>
          <a:xfrm>
            <a:off x="6996430" y="30226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Рост базы</a:t>
            </a:r>
          </a:p>
        </p:txBody>
      </p:sp>
      <p:sp>
        <p:nvSpPr>
          <p:cNvPr id="2139836339" name="TextBox 2139836338"/>
          <p:cNvSpPr txBox="1"/>
          <p:nvPr/>
        </p:nvSpPr>
        <p:spPr>
          <a:xfrm>
            <a:off x="6996430" y="33782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Подключить ANN для быстрого поиска</a:t>
            </a:r>
          </a:p>
          <a:p>
            <a:pPr algn="l" marL="0" indent="0">
              <a:lnSpc>
                <a:spcPct val="112000"/>
              </a:lnSpc>
              <a:spcBef>
                <a:spcPts val="0"/>
              </a:spcBef>
              <a:spcAft>
                <a:spcPts val="100"/>
              </a:spcAft>
              <a:buNone/>
            </a:pPr>
            <a:r>
              <a:rPr sz="1300" b="0">
                <a:solidFill>
                  <a:srgbClr val="1C1D22"/>
                </a:solidFill>
                <a:latin typeface="Montserrat"/>
              </a:rPr>
              <a:t>по миллионам снимков.</a:t>
            </a:r>
          </a:p>
        </p:txBody>
      </p:sp>
      <p:sp>
        <p:nvSpPr>
          <p:cNvPr id="2139836340" name="TextBox 2139836339"/>
          <p:cNvSpPr txBox="1"/>
          <p:nvPr/>
        </p:nvSpPr>
        <p:spPr>
          <a:xfrm>
            <a:off x="6513830" y="39624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03</a:t>
            </a:r>
          </a:p>
        </p:txBody>
      </p:sp>
      <p:sp>
        <p:nvSpPr>
          <p:cNvPr id="2139836341" name="TextBox 2139836340"/>
          <p:cNvSpPr txBox="1"/>
          <p:nvPr/>
        </p:nvSpPr>
        <p:spPr>
          <a:xfrm>
            <a:off x="6996430" y="39497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Новые камеры</a:t>
            </a:r>
          </a:p>
        </p:txBody>
      </p:sp>
      <p:sp>
        <p:nvSpPr>
          <p:cNvPr id="2139836342" name="TextBox 2139836341"/>
          <p:cNvSpPr txBox="1"/>
          <p:nvPr/>
        </p:nvSpPr>
        <p:spPr>
          <a:xfrm>
            <a:off x="6996430" y="43053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Проверить качество и подобрать порог</a:t>
            </a:r>
          </a:p>
          <a:p>
            <a:pPr algn="l" marL="0" indent="0">
              <a:lnSpc>
                <a:spcPct val="112000"/>
              </a:lnSpc>
              <a:spcBef>
                <a:spcPts val="0"/>
              </a:spcBef>
              <a:spcAft>
                <a:spcPts val="100"/>
              </a:spcAft>
              <a:buNone/>
            </a:pPr>
            <a:r>
              <a:rPr sz="1300" b="0">
                <a:solidFill>
                  <a:srgbClr val="1C1D22"/>
                </a:solidFill>
                <a:latin typeface="Montserrat"/>
              </a:rPr>
              <a:t>на данных заказчика.</a:t>
            </a:r>
          </a:p>
        </p:txBody>
      </p:sp>
      <p:sp>
        <p:nvSpPr>
          <p:cNvPr id="2139836343" name="TextBox 2139836342"/>
          <p:cNvSpPr txBox="1"/>
          <p:nvPr/>
        </p:nvSpPr>
        <p:spPr>
          <a:xfrm>
            <a:off x="6513830" y="4889500"/>
            <a:ext cx="393700" cy="3302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400" b="1">
                <a:solidFill>
                  <a:srgbClr val="FF0053"/>
                </a:solidFill>
                <a:latin typeface="Montserrat"/>
              </a:rPr>
              <a:t>04</a:t>
            </a:r>
          </a:p>
        </p:txBody>
      </p:sp>
      <p:sp>
        <p:nvSpPr>
          <p:cNvPr id="2139836344" name="TextBox 2139836343"/>
          <p:cNvSpPr txBox="1"/>
          <p:nvPr/>
        </p:nvSpPr>
        <p:spPr>
          <a:xfrm>
            <a:off x="6996430" y="4876800"/>
            <a:ext cx="4406900" cy="355600"/>
          </a:xfrm>
          <a:prstGeom prst="rect">
            <a:avLst/>
          </a:prstGeom>
          <a:noFill/>
        </p:spPr>
        <p:txBody>
          <a:bodyPr wrap="square" lIns="0" rIns="0" tIns="0" bIns="0" anchor="t">
            <a:noAutofit/>
          </a:bodyPr>
          <a:lstStyle/>
          <a:p>
            <a:pPr algn="l" marL="0" indent="0">
              <a:lnSpc>
                <a:spcPct val="112000"/>
              </a:lnSpc>
              <a:spcBef>
                <a:spcPts val="0"/>
              </a:spcBef>
              <a:spcAft>
                <a:spcPts val="600"/>
              </a:spcAft>
              <a:buNone/>
            </a:pPr>
            <a:r>
              <a:rPr sz="1700" b="1">
                <a:solidFill>
                  <a:srgbClr val="310F53"/>
                </a:solidFill>
                <a:latin typeface="Montserrat"/>
              </a:rPr>
              <a:t>Работа оператора</a:t>
            </a:r>
          </a:p>
        </p:txBody>
      </p:sp>
      <p:sp>
        <p:nvSpPr>
          <p:cNvPr id="2139836345" name="TextBox 2139836344"/>
          <p:cNvSpPr txBox="1"/>
          <p:nvPr/>
        </p:nvSpPr>
        <p:spPr>
          <a:xfrm>
            <a:off x="6996430" y="5232400"/>
            <a:ext cx="4406900" cy="508000"/>
          </a:xfrm>
          <a:prstGeom prst="rect">
            <a:avLst/>
          </a:prstGeom>
          <a:noFill/>
        </p:spPr>
        <p:txBody>
          <a:bodyPr wrap="square" lIns="0" rIns="0" tIns="0" bIns="0" anchor="t">
            <a:noAutofit/>
          </a:bodyPr>
          <a:lstStyle/>
          <a:p>
            <a:pPr algn="l" marL="0" indent="0">
              <a:lnSpc>
                <a:spcPct val="112000"/>
              </a:lnSpc>
              <a:spcBef>
                <a:spcPts val="0"/>
              </a:spcBef>
              <a:spcAft>
                <a:spcPts val="100"/>
              </a:spcAft>
              <a:buNone/>
            </a:pPr>
            <a:r>
              <a:rPr sz="1300" b="0">
                <a:solidFill>
                  <a:srgbClr val="1C1D22"/>
                </a:solidFill>
                <a:latin typeface="Montserrat"/>
              </a:rPr>
              <a:t>Создать экран сравнения снимков</a:t>
            </a:r>
          </a:p>
          <a:p>
            <a:pPr algn="l" marL="0" indent="0">
              <a:lnSpc>
                <a:spcPct val="112000"/>
              </a:lnSpc>
              <a:spcBef>
                <a:spcPts val="0"/>
              </a:spcBef>
              <a:spcAft>
                <a:spcPts val="100"/>
              </a:spcAft>
              <a:buNone/>
            </a:pPr>
            <a:r>
              <a:rPr sz="1300" b="0">
                <a:solidFill>
                  <a:srgbClr val="1C1D22"/>
                </a:solidFill>
                <a:latin typeface="Montserrat"/>
              </a:rPr>
              <a:t>и подтверждения совпадений.</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ПРОДУКТ</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100" b="1">
                <a:solidFill>
                  <a:srgbClr val="321044"/>
                </a:solidFill>
                <a:latin typeface="Montserrat"/>
              </a:rPr>
              <a:t>Поиск автомобиля по снимку</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ВХОД → ОБРАБОТКА → РЕЗУЛЬТАТ</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06</a:t>
            </a:r>
          </a:p>
        </p:txBody>
      </p:sp>
      <p:sp>
        <p:nvSpPr>
          <p:cNvPr id="13" name="Rounded Rectangle 12"/>
          <p:cNvSpPr/>
          <p:nvPr/>
        </p:nvSpPr>
        <p:spPr>
          <a:xfrm>
            <a:off x="502920" y="1847088"/>
            <a:ext cx="2560320" cy="320040"/>
          </a:xfrm>
          <a:prstGeom prst="roundRect">
            <a:avLst>
              <a:gd name="adj" fmla="val 10000"/>
            </a:avLst>
          </a:prstGeom>
          <a:solidFill>
            <a:srgbClr val="EB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6072" y="1906524"/>
            <a:ext cx="2414015" cy="210312"/>
          </a:xfrm>
          <a:prstGeom prst="rect">
            <a:avLst/>
          </a:prstGeom>
          <a:noFill/>
        </p:spPr>
        <p:txBody>
          <a:bodyPr wrap="square" lIns="0" rIns="0" tIns="0" bIns="0">
            <a:spAutoFit/>
          </a:bodyPr>
          <a:lstStyle/>
          <a:p>
            <a:pPr algn="ctr">
              <a:spcBef>
                <a:spcPts val="0"/>
              </a:spcBef>
              <a:spcAft>
                <a:spcPts val="300"/>
              </a:spcAft>
            </a:pPr>
            <a:r>
              <a:rPr sz="1100" b="1">
                <a:solidFill>
                  <a:srgbClr val="5C6FC0"/>
                </a:solidFill>
                <a:latin typeface="Montserrat"/>
              </a:rPr>
              <a:t>ЗАПРОС</a:t>
            </a:r>
          </a:p>
        </p:txBody>
      </p:sp>
      <p:sp>
        <p:nvSpPr>
          <p:cNvPr id="15" name="Rectangle 14"/>
          <p:cNvSpPr/>
          <p:nvPr/>
        </p:nvSpPr>
        <p:spPr>
          <a:xfrm>
            <a:off x="502920" y="2304288"/>
            <a:ext cx="25603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ar-0.png"/>
          <p:cNvPicPr>
            <a:picLocks noChangeAspect="1"/>
          </p:cNvPicPr>
          <p:nvPr/>
        </p:nvPicPr>
        <p:blipFill>
          <a:blip r:embed="rId2"/>
          <a:stretch>
            <a:fillRect/>
          </a:stretch>
        </p:blipFill>
        <p:spPr>
          <a:xfrm>
            <a:off x="830818" y="2304288"/>
            <a:ext cx="1904523" cy="1417320"/>
          </a:xfrm>
          <a:prstGeom prst="rect">
            <a:avLst/>
          </a:prstGeom>
        </p:spPr>
      </p:pic>
      <p:cxnSp>
        <p:nvCxnSpPr>
          <p:cNvPr id="17" name="Connector 16"/>
          <p:cNvCxnSpPr/>
          <p:nvPr/>
        </p:nvCxnSpPr>
        <p:spPr>
          <a:xfrm flipV="1">
            <a:off x="603504" y="2414016"/>
            <a:ext cx="0" cy="219456"/>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03504" y="2414016"/>
            <a:ext cx="310896" cy="0"/>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651760" y="2414016"/>
            <a:ext cx="292608" cy="0"/>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944368" y="2414016"/>
            <a:ext cx="0" cy="219456"/>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3504" y="3364992"/>
            <a:ext cx="0" cy="246888"/>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3504" y="3611880"/>
            <a:ext cx="310896" cy="0"/>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51760" y="3611880"/>
            <a:ext cx="292608" cy="0"/>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944368" y="3364992"/>
            <a:ext cx="0" cy="246888"/>
          </a:xfrm>
          <a:prstGeom prst="line">
            <a:avLst/>
          </a:prstGeom>
          <a:ln w="25400">
            <a:solidFill>
              <a:srgbClr val="FF005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2920" y="3822191"/>
            <a:ext cx="2560320" cy="292608"/>
          </a:xfrm>
          <a:prstGeom prst="rect">
            <a:avLst/>
          </a:prstGeom>
          <a:noFill/>
        </p:spPr>
        <p:txBody>
          <a:bodyPr wrap="square" lIns="0" rIns="0" tIns="0" bIns="0">
            <a:spAutoFit/>
          </a:bodyPr>
          <a:lstStyle/>
          <a:p>
            <a:pPr>
              <a:spcBef>
                <a:spcPts val="0"/>
              </a:spcBef>
              <a:spcAft>
                <a:spcPts val="300"/>
              </a:spcAft>
            </a:pPr>
            <a:r>
              <a:rPr sz="1200" b="1">
                <a:solidFill>
                  <a:srgbClr val="321044"/>
                </a:solidFill>
                <a:latin typeface="Montserrat"/>
              </a:rPr>
              <a:t>Снимок + рамка автомобиля</a:t>
            </a:r>
          </a:p>
        </p:txBody>
      </p:sp>
      <p:sp>
        <p:nvSpPr>
          <p:cNvPr id="26" name="Rectangle 25"/>
          <p:cNvSpPr/>
          <p:nvPr/>
        </p:nvSpPr>
        <p:spPr>
          <a:xfrm>
            <a:off x="502920" y="4498848"/>
            <a:ext cx="813816"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r-2.png"/>
          <p:cNvPicPr>
            <a:picLocks noChangeAspect="1"/>
          </p:cNvPicPr>
          <p:nvPr/>
        </p:nvPicPr>
        <p:blipFill>
          <a:blip r:embed="rId3"/>
          <a:stretch>
            <a:fillRect/>
          </a:stretch>
        </p:blipFill>
        <p:spPr>
          <a:xfrm>
            <a:off x="502920" y="4571085"/>
            <a:ext cx="813816" cy="468172"/>
          </a:xfrm>
          <a:prstGeom prst="rect">
            <a:avLst/>
          </a:prstGeom>
        </p:spPr>
      </p:pic>
      <p:sp>
        <p:nvSpPr>
          <p:cNvPr id="28" name="Rectangle 27"/>
          <p:cNvSpPr/>
          <p:nvPr/>
        </p:nvSpPr>
        <p:spPr>
          <a:xfrm>
            <a:off x="1408176" y="4498848"/>
            <a:ext cx="813816"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ar-8.png"/>
          <p:cNvPicPr>
            <a:picLocks noChangeAspect="1"/>
          </p:cNvPicPr>
          <p:nvPr/>
        </p:nvPicPr>
        <p:blipFill>
          <a:blip r:embed="rId4"/>
          <a:stretch>
            <a:fillRect/>
          </a:stretch>
        </p:blipFill>
        <p:spPr>
          <a:xfrm>
            <a:off x="1408176" y="4569496"/>
            <a:ext cx="813816" cy="471350"/>
          </a:xfrm>
          <a:prstGeom prst="rect">
            <a:avLst/>
          </a:prstGeom>
        </p:spPr>
      </p:pic>
      <p:sp>
        <p:nvSpPr>
          <p:cNvPr id="30" name="Rectangle 29"/>
          <p:cNvSpPr/>
          <p:nvPr/>
        </p:nvSpPr>
        <p:spPr>
          <a:xfrm>
            <a:off x="2313432" y="4498848"/>
            <a:ext cx="813816"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ar-6.png"/>
          <p:cNvPicPr>
            <a:picLocks noChangeAspect="1"/>
          </p:cNvPicPr>
          <p:nvPr/>
        </p:nvPicPr>
        <p:blipFill>
          <a:blip r:embed="rId5"/>
          <a:stretch>
            <a:fillRect/>
          </a:stretch>
        </p:blipFill>
        <p:spPr>
          <a:xfrm>
            <a:off x="2354187" y="4498848"/>
            <a:ext cx="732305" cy="612648"/>
          </a:xfrm>
          <a:prstGeom prst="rect">
            <a:avLst/>
          </a:prstGeom>
        </p:spPr>
      </p:pic>
      <p:sp>
        <p:nvSpPr>
          <p:cNvPr id="32" name="TextBox 31"/>
          <p:cNvSpPr txBox="1"/>
          <p:nvPr/>
        </p:nvSpPr>
        <p:spPr>
          <a:xfrm>
            <a:off x="502920" y="5276088"/>
            <a:ext cx="2670048" cy="301752"/>
          </a:xfrm>
          <a:prstGeom prst="rect">
            <a:avLst/>
          </a:prstGeom>
          <a:noFill/>
        </p:spPr>
        <p:txBody>
          <a:bodyPr wrap="square" lIns="0" rIns="0" tIns="0" bIns="0">
            <a:spAutoFit/>
          </a:bodyPr>
          <a:lstStyle/>
          <a:p>
            <a:pPr>
              <a:spcBef>
                <a:spcPts val="0"/>
              </a:spcBef>
              <a:spcAft>
                <a:spcPts val="300"/>
              </a:spcAft>
            </a:pPr>
            <a:r>
              <a:rPr sz="1300" b="1">
                <a:solidFill>
                  <a:srgbClr val="321044"/>
                </a:solidFill>
                <a:latin typeface="Montserrat"/>
              </a:rPr>
              <a:t>Архив для сравнения</a:t>
            </a:r>
          </a:p>
        </p:txBody>
      </p:sp>
      <p:cxnSp>
        <p:nvCxnSpPr>
          <p:cNvPr id="33" name="Connector 32"/>
          <p:cNvCxnSpPr/>
          <p:nvPr/>
        </p:nvCxnSpPr>
        <p:spPr>
          <a:xfrm>
            <a:off x="3291840" y="3035808"/>
            <a:ext cx="594360" cy="0"/>
          </a:xfrm>
          <a:prstGeom prst="line">
            <a:avLst/>
          </a:prstGeom>
          <a:ln w="2540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91840" y="4828032"/>
            <a:ext cx="301752" cy="0"/>
          </a:xfrm>
          <a:prstGeom prst="line">
            <a:avLst/>
          </a:prstGeom>
          <a:ln w="2032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685032"/>
            <a:ext cx="0" cy="1143000"/>
          </a:xfrm>
          <a:prstGeom prst="line">
            <a:avLst/>
          </a:prstGeom>
          <a:ln w="2032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593592" y="3685032"/>
            <a:ext cx="292608" cy="0"/>
          </a:xfrm>
          <a:prstGeom prst="line">
            <a:avLst/>
          </a:prstGeom>
          <a:ln w="2032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3959352" y="2258568"/>
            <a:ext cx="3108960" cy="249631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78808" y="2569464"/>
            <a:ext cx="2670048" cy="512064"/>
          </a:xfrm>
          <a:prstGeom prst="rect">
            <a:avLst/>
          </a:prstGeom>
          <a:noFill/>
        </p:spPr>
        <p:txBody>
          <a:bodyPr wrap="square" lIns="0" rIns="0" tIns="0" bIns="0">
            <a:spAutoFit/>
          </a:bodyPr>
          <a:lstStyle/>
          <a:p>
            <a:pPr algn="ctr">
              <a:spcBef>
                <a:spcPts val="0"/>
              </a:spcBef>
              <a:spcAft>
                <a:spcPts val="300"/>
              </a:spcAft>
            </a:pPr>
            <a:r>
              <a:rPr sz="2600" b="1">
                <a:solidFill>
                  <a:srgbClr val="FFFFFF"/>
                </a:solidFill>
                <a:latin typeface="Montserrat"/>
              </a:rPr>
              <a:t>Falcon ReID</a:t>
            </a:r>
          </a:p>
        </p:txBody>
      </p:sp>
      <p:sp>
        <p:nvSpPr>
          <p:cNvPr id="39" name="TextBox 38"/>
          <p:cNvSpPr txBox="1"/>
          <p:nvPr/>
        </p:nvSpPr>
        <p:spPr>
          <a:xfrm>
            <a:off x="4178808" y="3374136"/>
            <a:ext cx="2670048" cy="713232"/>
          </a:xfrm>
          <a:prstGeom prst="rect">
            <a:avLst/>
          </a:prstGeom>
          <a:noFill/>
        </p:spPr>
        <p:txBody>
          <a:bodyPr wrap="square" lIns="0" rIns="0" tIns="0" bIns="0">
            <a:spAutoFit/>
          </a:bodyPr>
          <a:lstStyle/>
          <a:p>
            <a:pPr algn="ctr">
              <a:spcBef>
                <a:spcPts val="0"/>
              </a:spcBef>
              <a:spcAft>
                <a:spcPts val="300"/>
              </a:spcAft>
            </a:pPr>
            <a:r>
              <a:rPr sz="1600" b="0">
                <a:solidFill>
                  <a:srgbClr val="BDAFC9"/>
                </a:solidFill>
                <a:latin typeface="Montserrat"/>
              </a:rPr>
              <a:t>Признаки → поиск</a:t>
            </a:r>
          </a:p>
          <a:p>
            <a:pPr algn="ctr">
              <a:spcBef>
                <a:spcPts val="0"/>
              </a:spcBef>
              <a:spcAft>
                <a:spcPts val="300"/>
              </a:spcAft>
            </a:pPr>
            <a:r>
              <a:rPr sz="1600" b="0">
                <a:solidFill>
                  <a:srgbClr val="BDAFC9"/>
                </a:solidFill>
                <a:latin typeface="Montserrat"/>
              </a:rPr>
              <a:t>→ проверка совпадения</a:t>
            </a:r>
          </a:p>
        </p:txBody>
      </p:sp>
      <p:cxnSp>
        <p:nvCxnSpPr>
          <p:cNvPr id="40" name="Connector 39"/>
          <p:cNvCxnSpPr/>
          <p:nvPr/>
        </p:nvCxnSpPr>
        <p:spPr>
          <a:xfrm>
            <a:off x="7168896" y="3282696"/>
            <a:ext cx="667512" cy="0"/>
          </a:xfrm>
          <a:prstGeom prst="line">
            <a:avLst/>
          </a:prstGeom>
          <a:ln w="2540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028431" y="1847088"/>
            <a:ext cx="3657600" cy="320040"/>
          </a:xfrm>
          <a:prstGeom prst="roundRect">
            <a:avLst>
              <a:gd name="adj" fmla="val 10000"/>
            </a:avLst>
          </a:prstGeom>
          <a:solidFill>
            <a:srgbClr val="E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01583" y="1906524"/>
            <a:ext cx="3511296" cy="210312"/>
          </a:xfrm>
          <a:prstGeom prst="rect">
            <a:avLst/>
          </a:prstGeom>
          <a:noFill/>
        </p:spPr>
        <p:txBody>
          <a:bodyPr wrap="square" lIns="0" rIns="0" tIns="0" bIns="0">
            <a:spAutoFit/>
          </a:bodyPr>
          <a:lstStyle/>
          <a:p>
            <a:pPr algn="ctr">
              <a:spcBef>
                <a:spcPts val="0"/>
              </a:spcBef>
              <a:spcAft>
                <a:spcPts val="300"/>
              </a:spcAft>
            </a:pPr>
            <a:r>
              <a:rPr sz="1100" b="1">
                <a:solidFill>
                  <a:srgbClr val="118774"/>
                </a:solidFill>
                <a:latin typeface="Montserrat"/>
              </a:rPr>
              <a:t>ВЫДАЧА</a:t>
            </a:r>
          </a:p>
        </p:txBody>
      </p:sp>
      <p:sp>
        <p:nvSpPr>
          <p:cNvPr id="43" name="Rectangle 42"/>
          <p:cNvSpPr/>
          <p:nvPr/>
        </p:nvSpPr>
        <p:spPr>
          <a:xfrm>
            <a:off x="8028431" y="2423160"/>
            <a:ext cx="1106424"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car-1.png"/>
          <p:cNvPicPr>
            <a:picLocks noChangeAspect="1"/>
          </p:cNvPicPr>
          <p:nvPr/>
        </p:nvPicPr>
        <p:blipFill>
          <a:blip r:embed="rId6"/>
          <a:stretch>
            <a:fillRect/>
          </a:stretch>
        </p:blipFill>
        <p:spPr>
          <a:xfrm>
            <a:off x="8028431" y="2466259"/>
            <a:ext cx="1106424" cy="828200"/>
          </a:xfrm>
          <a:prstGeom prst="rect">
            <a:avLst/>
          </a:prstGeom>
        </p:spPr>
      </p:pic>
      <p:sp>
        <p:nvSpPr>
          <p:cNvPr id="45" name="TextBox 44"/>
          <p:cNvSpPr txBox="1"/>
          <p:nvPr/>
        </p:nvSpPr>
        <p:spPr>
          <a:xfrm>
            <a:off x="8028431" y="3456432"/>
            <a:ext cx="1106424" cy="237744"/>
          </a:xfrm>
          <a:prstGeom prst="rect">
            <a:avLst/>
          </a:prstGeom>
          <a:noFill/>
        </p:spPr>
        <p:txBody>
          <a:bodyPr wrap="square" lIns="0" rIns="0" tIns="0" bIns="0">
            <a:spAutoFit/>
          </a:bodyPr>
          <a:lstStyle/>
          <a:p>
            <a:pPr algn="ctr">
              <a:spcBef>
                <a:spcPts val="0"/>
              </a:spcBef>
              <a:spcAft>
                <a:spcPts val="300"/>
              </a:spcAft>
            </a:pPr>
            <a:r>
              <a:rPr sz="1300" b="1">
                <a:solidFill>
                  <a:srgbClr val="321044"/>
                </a:solidFill>
                <a:latin typeface="Montserrat"/>
              </a:rPr>
              <a:t>#1</a:t>
            </a:r>
          </a:p>
        </p:txBody>
      </p:sp>
      <p:sp>
        <p:nvSpPr>
          <p:cNvPr id="46" name="Rectangle 45"/>
          <p:cNvSpPr/>
          <p:nvPr/>
        </p:nvSpPr>
        <p:spPr>
          <a:xfrm>
            <a:off x="9253728" y="2423160"/>
            <a:ext cx="1106424"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car-2.png"/>
          <p:cNvPicPr>
            <a:picLocks noChangeAspect="1"/>
          </p:cNvPicPr>
          <p:nvPr/>
        </p:nvPicPr>
        <p:blipFill>
          <a:blip r:embed="rId3"/>
          <a:stretch>
            <a:fillRect/>
          </a:stretch>
        </p:blipFill>
        <p:spPr>
          <a:xfrm>
            <a:off x="9253728" y="2562107"/>
            <a:ext cx="1106424" cy="636504"/>
          </a:xfrm>
          <a:prstGeom prst="rect">
            <a:avLst/>
          </a:prstGeom>
        </p:spPr>
      </p:pic>
      <p:sp>
        <p:nvSpPr>
          <p:cNvPr id="48" name="TextBox 47"/>
          <p:cNvSpPr txBox="1"/>
          <p:nvPr/>
        </p:nvSpPr>
        <p:spPr>
          <a:xfrm>
            <a:off x="9253728" y="3456432"/>
            <a:ext cx="1106424" cy="237744"/>
          </a:xfrm>
          <a:prstGeom prst="rect">
            <a:avLst/>
          </a:prstGeom>
          <a:noFill/>
        </p:spPr>
        <p:txBody>
          <a:bodyPr wrap="square" lIns="0" rIns="0" tIns="0" bIns="0">
            <a:spAutoFit/>
          </a:bodyPr>
          <a:lstStyle/>
          <a:p>
            <a:pPr algn="ctr">
              <a:spcBef>
                <a:spcPts val="0"/>
              </a:spcBef>
              <a:spcAft>
                <a:spcPts val="300"/>
              </a:spcAft>
            </a:pPr>
            <a:r>
              <a:rPr sz="1300" b="1">
                <a:solidFill>
                  <a:srgbClr val="321044"/>
                </a:solidFill>
                <a:latin typeface="Montserrat"/>
              </a:rPr>
              <a:t>#2</a:t>
            </a:r>
          </a:p>
        </p:txBody>
      </p:sp>
      <p:sp>
        <p:nvSpPr>
          <p:cNvPr id="49" name="Rectangle 48"/>
          <p:cNvSpPr/>
          <p:nvPr/>
        </p:nvSpPr>
        <p:spPr>
          <a:xfrm>
            <a:off x="10479024" y="2423160"/>
            <a:ext cx="1106424"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car-3.png"/>
          <p:cNvPicPr>
            <a:picLocks noChangeAspect="1"/>
          </p:cNvPicPr>
          <p:nvPr/>
        </p:nvPicPr>
        <p:blipFill>
          <a:blip r:embed="rId7"/>
          <a:stretch>
            <a:fillRect/>
          </a:stretch>
        </p:blipFill>
        <p:spPr>
          <a:xfrm>
            <a:off x="10479024" y="2475724"/>
            <a:ext cx="1106424" cy="809270"/>
          </a:xfrm>
          <a:prstGeom prst="rect">
            <a:avLst/>
          </a:prstGeom>
        </p:spPr>
      </p:pic>
      <p:sp>
        <p:nvSpPr>
          <p:cNvPr id="51" name="TextBox 50"/>
          <p:cNvSpPr txBox="1"/>
          <p:nvPr/>
        </p:nvSpPr>
        <p:spPr>
          <a:xfrm>
            <a:off x="10479024" y="3456432"/>
            <a:ext cx="1106424" cy="237744"/>
          </a:xfrm>
          <a:prstGeom prst="rect">
            <a:avLst/>
          </a:prstGeom>
          <a:noFill/>
        </p:spPr>
        <p:txBody>
          <a:bodyPr wrap="square" lIns="0" rIns="0" tIns="0" bIns="0">
            <a:spAutoFit/>
          </a:bodyPr>
          <a:lstStyle/>
          <a:p>
            <a:pPr algn="ctr">
              <a:spcBef>
                <a:spcPts val="0"/>
              </a:spcBef>
              <a:spcAft>
                <a:spcPts val="300"/>
              </a:spcAft>
            </a:pPr>
            <a:r>
              <a:rPr sz="1300" b="1">
                <a:solidFill>
                  <a:srgbClr val="321044"/>
                </a:solidFill>
                <a:latin typeface="Montserrat"/>
              </a:rPr>
              <a:t>#3</a:t>
            </a:r>
          </a:p>
        </p:txBody>
      </p:sp>
      <p:sp>
        <p:nvSpPr>
          <p:cNvPr id="52" name="TextBox 51"/>
          <p:cNvSpPr txBox="1"/>
          <p:nvPr/>
        </p:nvSpPr>
        <p:spPr>
          <a:xfrm>
            <a:off x="8028431" y="3886200"/>
            <a:ext cx="3657600" cy="384048"/>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10 кандидатов по порядку</a:t>
            </a:r>
          </a:p>
        </p:txBody>
      </p:sp>
      <p:cxnSp>
        <p:nvCxnSpPr>
          <p:cNvPr id="53" name="Connector 52"/>
          <p:cNvCxnSpPr/>
          <p:nvPr/>
        </p:nvCxnSpPr>
        <p:spPr>
          <a:xfrm>
            <a:off x="8028431" y="4471416"/>
            <a:ext cx="3657601" cy="0"/>
          </a:xfrm>
          <a:prstGeom prst="line">
            <a:avLst/>
          </a:prstGeom>
          <a:ln w="12700">
            <a:solidFill>
              <a:srgbClr val="DED5E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8028431" y="4681728"/>
            <a:ext cx="3657600" cy="704088"/>
          </a:xfrm>
          <a:prstGeom prst="rect">
            <a:avLst/>
          </a:prstGeom>
          <a:noFill/>
        </p:spPr>
        <p:txBody>
          <a:bodyPr wrap="square" lIns="0" rIns="0" tIns="0" bIns="0">
            <a:spAutoFit/>
          </a:bodyPr>
          <a:lstStyle/>
          <a:p>
            <a:pPr>
              <a:spcBef>
                <a:spcPts val="0"/>
              </a:spcBef>
              <a:spcAft>
                <a:spcPts val="300"/>
              </a:spcAft>
            </a:pPr>
            <a:r>
              <a:rPr sz="1800" b="0">
                <a:solidFill>
                  <a:srgbClr val="6C6176"/>
                </a:solidFill>
                <a:latin typeface="Montserrat"/>
              </a:rPr>
              <a:t>Совпадение с уверенностью</a:t>
            </a:r>
          </a:p>
          <a:p>
            <a:pPr>
              <a:spcBef>
                <a:spcPts val="0"/>
              </a:spcBef>
              <a:spcAft>
                <a:spcPts val="300"/>
              </a:spcAft>
            </a:pPr>
            <a:r>
              <a:rPr sz="1800" b="0">
                <a:solidFill>
                  <a:srgbClr val="6C6176"/>
                </a:solidFill>
                <a:latin typeface="Montserrat"/>
              </a:rPr>
              <a:t>или отказ</a:t>
            </a:r>
          </a:p>
        </p:txBody>
      </p:sp>
      <p:sp>
        <p:nvSpPr>
          <p:cNvPr id="55" name="Rectangle 54"/>
          <p:cNvSpPr/>
          <p:nvPr/>
        </p:nvSpPr>
        <p:spPr>
          <a:xfrm>
            <a:off x="502920" y="5596128"/>
            <a:ext cx="3557016" cy="685800"/>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649224" y="5769864"/>
            <a:ext cx="292608"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49224" y="5870448"/>
            <a:ext cx="292608"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 y="5971032"/>
            <a:ext cx="292608"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106424" y="5724144"/>
            <a:ext cx="2807208" cy="256032"/>
          </a:xfrm>
          <a:prstGeom prst="rect">
            <a:avLst/>
          </a:prstGeom>
          <a:noFill/>
        </p:spPr>
        <p:txBody>
          <a:bodyPr wrap="square" lIns="0" rIns="0" tIns="0" bIns="0">
            <a:spAutoFit/>
          </a:bodyPr>
          <a:lstStyle/>
          <a:p>
            <a:pPr>
              <a:spcBef>
                <a:spcPts val="0"/>
              </a:spcBef>
              <a:spcAft>
                <a:spcPts val="300"/>
              </a:spcAft>
            </a:pPr>
            <a:r>
              <a:rPr sz="1250" b="1">
                <a:solidFill>
                  <a:srgbClr val="321044"/>
                </a:solidFill>
                <a:latin typeface="Montserrat"/>
              </a:rPr>
              <a:t>submission.csv</a:t>
            </a:r>
          </a:p>
        </p:txBody>
      </p:sp>
      <p:sp>
        <p:nvSpPr>
          <p:cNvPr id="60" name="TextBox 59"/>
          <p:cNvSpPr txBox="1"/>
          <p:nvPr/>
        </p:nvSpPr>
        <p:spPr>
          <a:xfrm>
            <a:off x="1106424" y="6016752"/>
            <a:ext cx="2807208" cy="246888"/>
          </a:xfrm>
          <a:prstGeom prst="rect">
            <a:avLst/>
          </a:prstGeom>
          <a:noFill/>
        </p:spPr>
        <p:txBody>
          <a:bodyPr wrap="square" lIns="0" rIns="0" tIns="0" bIns="0">
            <a:spAutoFit/>
          </a:bodyPr>
          <a:lstStyle/>
          <a:p>
            <a:pPr>
              <a:spcBef>
                <a:spcPts val="0"/>
              </a:spcBef>
              <a:spcAft>
                <a:spcPts val="300"/>
              </a:spcAft>
            </a:pPr>
            <a:r>
              <a:rPr sz="1050" b="0">
                <a:solidFill>
                  <a:srgbClr val="6C6176"/>
                </a:solidFill>
                <a:latin typeface="Montserrat"/>
              </a:rPr>
              <a:t>Порядок кандидатов</a:t>
            </a:r>
          </a:p>
        </p:txBody>
      </p:sp>
      <p:sp>
        <p:nvSpPr>
          <p:cNvPr id="61" name="Rectangle 60"/>
          <p:cNvSpPr/>
          <p:nvPr/>
        </p:nvSpPr>
        <p:spPr>
          <a:xfrm>
            <a:off x="4315968" y="5596128"/>
            <a:ext cx="3557016" cy="685800"/>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4462272" y="5769864"/>
            <a:ext cx="292607"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4462272" y="5870448"/>
            <a:ext cx="292607"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4462272" y="5971032"/>
            <a:ext cx="292607"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919472" y="5724144"/>
            <a:ext cx="2807208" cy="256032"/>
          </a:xfrm>
          <a:prstGeom prst="rect">
            <a:avLst/>
          </a:prstGeom>
          <a:noFill/>
        </p:spPr>
        <p:txBody>
          <a:bodyPr wrap="square" lIns="0" rIns="0" tIns="0" bIns="0">
            <a:spAutoFit/>
          </a:bodyPr>
          <a:lstStyle/>
          <a:p>
            <a:pPr>
              <a:spcBef>
                <a:spcPts val="0"/>
              </a:spcBef>
              <a:spcAft>
                <a:spcPts val="300"/>
              </a:spcAft>
            </a:pPr>
            <a:r>
              <a:rPr sz="1250" b="1">
                <a:solidFill>
                  <a:srgbClr val="321044"/>
                </a:solidFill>
                <a:latin typeface="Montserrat"/>
              </a:rPr>
              <a:t>embeddings.npy</a:t>
            </a:r>
          </a:p>
        </p:txBody>
      </p:sp>
      <p:sp>
        <p:nvSpPr>
          <p:cNvPr id="66" name="TextBox 65"/>
          <p:cNvSpPr txBox="1"/>
          <p:nvPr/>
        </p:nvSpPr>
        <p:spPr>
          <a:xfrm>
            <a:off x="4919472" y="6016752"/>
            <a:ext cx="2807208" cy="246888"/>
          </a:xfrm>
          <a:prstGeom prst="rect">
            <a:avLst/>
          </a:prstGeom>
          <a:noFill/>
        </p:spPr>
        <p:txBody>
          <a:bodyPr wrap="square" lIns="0" rIns="0" tIns="0" bIns="0">
            <a:spAutoFit/>
          </a:bodyPr>
          <a:lstStyle/>
          <a:p>
            <a:pPr>
              <a:spcBef>
                <a:spcPts val="0"/>
              </a:spcBef>
              <a:spcAft>
                <a:spcPts val="300"/>
              </a:spcAft>
            </a:pPr>
            <a:r>
              <a:rPr sz="1050" b="0">
                <a:solidFill>
                  <a:srgbClr val="6C6176"/>
                </a:solidFill>
                <a:latin typeface="Montserrat"/>
              </a:rPr>
              <a:t>Векторы 3072D</a:t>
            </a:r>
          </a:p>
        </p:txBody>
      </p:sp>
      <p:sp>
        <p:nvSpPr>
          <p:cNvPr id="67" name="Rectangle 66"/>
          <p:cNvSpPr/>
          <p:nvPr/>
        </p:nvSpPr>
        <p:spPr>
          <a:xfrm>
            <a:off x="8129016" y="5596128"/>
            <a:ext cx="3557016" cy="685800"/>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8275320" y="5769864"/>
            <a:ext cx="292608"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275320" y="5870448"/>
            <a:ext cx="292608"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275320" y="5971032"/>
            <a:ext cx="292608" cy="0"/>
          </a:xfrm>
          <a:prstGeom prst="line">
            <a:avLst/>
          </a:prstGeom>
          <a:ln w="11430">
            <a:solidFill>
              <a:srgbClr val="321044"/>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732520" y="5724144"/>
            <a:ext cx="2807208" cy="256032"/>
          </a:xfrm>
          <a:prstGeom prst="rect">
            <a:avLst/>
          </a:prstGeom>
          <a:noFill/>
        </p:spPr>
        <p:txBody>
          <a:bodyPr wrap="square" lIns="0" rIns="0" tIns="0" bIns="0">
            <a:spAutoFit/>
          </a:bodyPr>
          <a:lstStyle/>
          <a:p>
            <a:pPr>
              <a:spcBef>
                <a:spcPts val="0"/>
              </a:spcBef>
              <a:spcAft>
                <a:spcPts val="300"/>
              </a:spcAft>
            </a:pPr>
            <a:r>
              <a:rPr sz="1250" b="1">
                <a:solidFill>
                  <a:srgbClr val="321044"/>
                </a:solidFill>
                <a:latin typeface="Montserrat"/>
              </a:rPr>
              <a:t>candidates.csv</a:t>
            </a:r>
          </a:p>
        </p:txBody>
      </p:sp>
      <p:sp>
        <p:nvSpPr>
          <p:cNvPr id="72" name="TextBox 71"/>
          <p:cNvSpPr txBox="1"/>
          <p:nvPr/>
        </p:nvSpPr>
        <p:spPr>
          <a:xfrm>
            <a:off x="8732520" y="6016752"/>
            <a:ext cx="2807208" cy="246888"/>
          </a:xfrm>
          <a:prstGeom prst="rect">
            <a:avLst/>
          </a:prstGeom>
          <a:noFill/>
        </p:spPr>
        <p:txBody>
          <a:bodyPr wrap="square" lIns="0" rIns="0" tIns="0" bIns="0">
            <a:spAutoFit/>
          </a:bodyPr>
          <a:lstStyle/>
          <a:p>
            <a:pPr>
              <a:spcBef>
                <a:spcPts val="0"/>
              </a:spcBef>
              <a:spcAft>
                <a:spcPts val="300"/>
              </a:spcAft>
            </a:pPr>
            <a:r>
              <a:rPr sz="1050" b="0">
                <a:solidFill>
                  <a:srgbClr val="6C6176"/>
                </a:solidFill>
                <a:latin typeface="Montserrat"/>
              </a:rPr>
              <a:t>Совпадения и уверенность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1102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РАЗБОР ОШИБКИ</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000" b="1">
                <a:solidFill>
                  <a:srgbClr val="FFFFFF"/>
                </a:solidFill>
                <a:latin typeface="Montserrat"/>
              </a:rPr>
              <a:t>Верная машина нашлась — на восьмом месте</a:t>
            </a:r>
          </a:p>
        </p:txBody>
      </p:sp>
      <p:cxnSp>
        <p:nvCxnSpPr>
          <p:cNvPr id="9" name="Connector 8"/>
          <p:cNvCxnSpPr/>
          <p:nvPr/>
        </p:nvCxnSpPr>
        <p:spPr>
          <a:xfrm>
            <a:off x="484632" y="6419088"/>
            <a:ext cx="11228832" cy="0"/>
          </a:xfrm>
          <a:prstGeom prst="line">
            <a:avLst/>
          </a:prstGeom>
          <a:ln w="8890">
            <a:solidFill>
              <a:srgbClr val="38214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BDAFC9"/>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BDAFC9"/>
                </a:solidFill>
                <a:latin typeface="Montserrat"/>
              </a:rPr>
              <a:t>РАНЖИРОВАНИЕ</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BDAFC9"/>
                </a:solidFill>
                <a:latin typeface="Montserrat"/>
              </a:rPr>
              <a:t>07</a:t>
            </a:r>
          </a:p>
        </p:txBody>
      </p:sp>
      <p:sp>
        <p:nvSpPr>
          <p:cNvPr id="13" name="TextBox 12"/>
          <p:cNvSpPr txBox="1"/>
          <p:nvPr/>
        </p:nvSpPr>
        <p:spPr>
          <a:xfrm>
            <a:off x="502920" y="1938528"/>
            <a:ext cx="3557016" cy="365760"/>
          </a:xfrm>
          <a:prstGeom prst="rect">
            <a:avLst/>
          </a:prstGeom>
          <a:noFill/>
        </p:spPr>
        <p:txBody>
          <a:bodyPr wrap="square" lIns="0" rIns="0" tIns="0" bIns="0">
            <a:spAutoFit/>
          </a:bodyPr>
          <a:lstStyle/>
          <a:p>
            <a:pPr>
              <a:spcBef>
                <a:spcPts val="0"/>
              </a:spcBef>
              <a:spcAft>
                <a:spcPts val="300"/>
              </a:spcAft>
            </a:pPr>
            <a:r>
              <a:rPr sz="1800" b="1">
                <a:solidFill>
                  <a:srgbClr val="FFFFFF"/>
                </a:solidFill>
                <a:latin typeface="Montserrat"/>
              </a:rPr>
              <a:t>Искомый автомобиль</a:t>
            </a:r>
          </a:p>
        </p:txBody>
      </p:sp>
      <p:sp>
        <p:nvSpPr>
          <p:cNvPr id="14" name="Rectangle 13"/>
          <p:cNvSpPr/>
          <p:nvPr/>
        </p:nvSpPr>
        <p:spPr>
          <a:xfrm>
            <a:off x="502920" y="2578608"/>
            <a:ext cx="3557016" cy="2139696"/>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ar-0.png"/>
          <p:cNvPicPr>
            <a:picLocks noChangeAspect="1"/>
          </p:cNvPicPr>
          <p:nvPr/>
        </p:nvPicPr>
        <p:blipFill>
          <a:blip r:embed="rId2"/>
          <a:stretch>
            <a:fillRect/>
          </a:stretch>
        </p:blipFill>
        <p:spPr>
          <a:xfrm>
            <a:off x="843819" y="2578608"/>
            <a:ext cx="2875216" cy="2139696"/>
          </a:xfrm>
          <a:prstGeom prst="rect">
            <a:avLst/>
          </a:prstGeom>
        </p:spPr>
      </p:pic>
      <p:cxnSp>
        <p:nvCxnSpPr>
          <p:cNvPr id="16" name="Connector 15"/>
          <p:cNvCxnSpPr/>
          <p:nvPr/>
        </p:nvCxnSpPr>
        <p:spPr>
          <a:xfrm>
            <a:off x="502920" y="4736592"/>
            <a:ext cx="3557016"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15968" y="1938528"/>
            <a:ext cx="3557016" cy="365760"/>
          </a:xfrm>
          <a:prstGeom prst="rect">
            <a:avLst/>
          </a:prstGeom>
          <a:noFill/>
        </p:spPr>
        <p:txBody>
          <a:bodyPr wrap="square" lIns="0" rIns="0" tIns="0" bIns="0">
            <a:spAutoFit/>
          </a:bodyPr>
          <a:lstStyle/>
          <a:p>
            <a:pPr>
              <a:spcBef>
                <a:spcPts val="0"/>
              </a:spcBef>
              <a:spcAft>
                <a:spcPts val="300"/>
              </a:spcAft>
            </a:pPr>
            <a:r>
              <a:rPr sz="1800" b="1">
                <a:solidFill>
                  <a:srgbClr val="FF8199"/>
                </a:solidFill>
                <a:latin typeface="Montserrat"/>
              </a:rPr>
              <a:t>#2 · другая машина</a:t>
            </a:r>
          </a:p>
        </p:txBody>
      </p:sp>
      <p:sp>
        <p:nvSpPr>
          <p:cNvPr id="18" name="Rectangle 17"/>
          <p:cNvSpPr/>
          <p:nvPr/>
        </p:nvSpPr>
        <p:spPr>
          <a:xfrm>
            <a:off x="4315968" y="2578608"/>
            <a:ext cx="3557016" cy="2139696"/>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ar-2.png"/>
          <p:cNvPicPr>
            <a:picLocks noChangeAspect="1"/>
          </p:cNvPicPr>
          <p:nvPr/>
        </p:nvPicPr>
        <p:blipFill>
          <a:blip r:embed="rId3"/>
          <a:stretch>
            <a:fillRect/>
          </a:stretch>
        </p:blipFill>
        <p:spPr>
          <a:xfrm>
            <a:off x="4315968" y="2625314"/>
            <a:ext cx="3557016" cy="2046283"/>
          </a:xfrm>
          <a:prstGeom prst="rect">
            <a:avLst/>
          </a:prstGeom>
        </p:spPr>
      </p:pic>
      <p:cxnSp>
        <p:nvCxnSpPr>
          <p:cNvPr id="20" name="Connector 19"/>
          <p:cNvCxnSpPr/>
          <p:nvPr/>
        </p:nvCxnSpPr>
        <p:spPr>
          <a:xfrm>
            <a:off x="4315968" y="4736592"/>
            <a:ext cx="3557015" cy="0"/>
          </a:xfrm>
          <a:prstGeom prst="line">
            <a:avLst/>
          </a:prstGeom>
          <a:ln w="25400">
            <a:solidFill>
              <a:srgbClr val="FF819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129016" y="1938528"/>
            <a:ext cx="3557016" cy="365760"/>
          </a:xfrm>
          <a:prstGeom prst="rect">
            <a:avLst/>
          </a:prstGeom>
          <a:noFill/>
        </p:spPr>
        <p:txBody>
          <a:bodyPr wrap="square" lIns="0" rIns="0" tIns="0" bIns="0">
            <a:spAutoFit/>
          </a:bodyPr>
          <a:lstStyle/>
          <a:p>
            <a:pPr>
              <a:spcBef>
                <a:spcPts val="0"/>
              </a:spcBef>
              <a:spcAft>
                <a:spcPts val="300"/>
              </a:spcAft>
            </a:pPr>
            <a:r>
              <a:rPr sz="1800" b="1">
                <a:solidFill>
                  <a:srgbClr val="67D6BB"/>
                </a:solidFill>
                <a:latin typeface="Montserrat"/>
              </a:rPr>
              <a:t>#8 · та же машина</a:t>
            </a:r>
          </a:p>
        </p:txBody>
      </p:sp>
      <p:sp>
        <p:nvSpPr>
          <p:cNvPr id="22" name="Rectangle 21"/>
          <p:cNvSpPr/>
          <p:nvPr/>
        </p:nvSpPr>
        <p:spPr>
          <a:xfrm>
            <a:off x="8129016" y="2578608"/>
            <a:ext cx="3557016" cy="2139696"/>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ar-8.png"/>
          <p:cNvPicPr>
            <a:picLocks noChangeAspect="1"/>
          </p:cNvPicPr>
          <p:nvPr/>
        </p:nvPicPr>
        <p:blipFill>
          <a:blip r:embed="rId4"/>
          <a:stretch>
            <a:fillRect/>
          </a:stretch>
        </p:blipFill>
        <p:spPr>
          <a:xfrm>
            <a:off x="8129016" y="2618369"/>
            <a:ext cx="3557016" cy="2060172"/>
          </a:xfrm>
          <a:prstGeom prst="rect">
            <a:avLst/>
          </a:prstGeom>
        </p:spPr>
      </p:pic>
      <p:cxnSp>
        <p:nvCxnSpPr>
          <p:cNvPr id="24" name="Connector 23"/>
          <p:cNvCxnSpPr/>
          <p:nvPr/>
        </p:nvCxnSpPr>
        <p:spPr>
          <a:xfrm>
            <a:off x="8129016" y="4736592"/>
            <a:ext cx="3557016" cy="0"/>
          </a:xfrm>
          <a:prstGeom prst="line">
            <a:avLst/>
          </a:prstGeom>
          <a:ln w="25400">
            <a:solidFill>
              <a:srgbClr val="67D6B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315968" y="5001768"/>
            <a:ext cx="3557016" cy="676656"/>
          </a:xfrm>
          <a:prstGeom prst="rect">
            <a:avLst/>
          </a:prstGeom>
          <a:noFill/>
        </p:spPr>
        <p:txBody>
          <a:bodyPr wrap="square" lIns="0" rIns="0" tIns="0" bIns="0">
            <a:spAutoFit/>
          </a:bodyPr>
          <a:lstStyle/>
          <a:p>
            <a:pPr>
              <a:spcBef>
                <a:spcPts val="0"/>
              </a:spcBef>
              <a:spcAft>
                <a:spcPts val="300"/>
              </a:spcAft>
            </a:pPr>
            <a:r>
              <a:rPr sz="1700" b="0">
                <a:solidFill>
                  <a:srgbClr val="BDAFC9"/>
                </a:solidFill>
                <a:latin typeface="Montserrat"/>
              </a:rPr>
              <a:t>Похожий задний ракурс,</a:t>
            </a:r>
          </a:p>
          <a:p>
            <a:pPr>
              <a:spcBef>
                <a:spcPts val="0"/>
              </a:spcBef>
              <a:spcAft>
                <a:spcPts val="300"/>
              </a:spcAft>
            </a:pPr>
            <a:r>
              <a:rPr sz="1700" b="0">
                <a:solidFill>
                  <a:srgbClr val="BDAFC9"/>
                </a:solidFill>
                <a:latin typeface="Montserrat"/>
              </a:rPr>
              <a:t>та же модель и оклейка.</a:t>
            </a:r>
          </a:p>
        </p:txBody>
      </p:sp>
      <p:sp>
        <p:nvSpPr>
          <p:cNvPr id="26" name="TextBox 25"/>
          <p:cNvSpPr txBox="1"/>
          <p:nvPr/>
        </p:nvSpPr>
        <p:spPr>
          <a:xfrm>
            <a:off x="8129016" y="5001768"/>
            <a:ext cx="3557016" cy="676656"/>
          </a:xfrm>
          <a:prstGeom prst="rect">
            <a:avLst/>
          </a:prstGeom>
          <a:noFill/>
        </p:spPr>
        <p:txBody>
          <a:bodyPr wrap="square" lIns="0" rIns="0" tIns="0" bIns="0">
            <a:spAutoFit/>
          </a:bodyPr>
          <a:lstStyle/>
          <a:p>
            <a:pPr>
              <a:spcBef>
                <a:spcPts val="0"/>
              </a:spcBef>
              <a:spcAft>
                <a:spcPts val="300"/>
              </a:spcAft>
            </a:pPr>
            <a:r>
              <a:rPr sz="1700" b="0">
                <a:solidFill>
                  <a:srgbClr val="BDAFC9"/>
                </a:solidFill>
                <a:latin typeface="Montserrat"/>
              </a:rPr>
              <a:t>Другой ракурс:</a:t>
            </a:r>
          </a:p>
          <a:p>
            <a:pPr>
              <a:spcBef>
                <a:spcPts val="0"/>
              </a:spcBef>
              <a:spcAft>
                <a:spcPts val="300"/>
              </a:spcAft>
            </a:pPr>
            <a:r>
              <a:rPr sz="1700" b="0">
                <a:solidFill>
                  <a:srgbClr val="BDAFC9"/>
                </a:solidFill>
                <a:latin typeface="Montserrat"/>
              </a:rPr>
              <a:t>другие видимые детали.</a:t>
            </a:r>
          </a:p>
        </p:txBody>
      </p:sp>
      <p:cxnSp>
        <p:nvCxnSpPr>
          <p:cNvPr id="27" name="Connector 26"/>
          <p:cNvCxnSpPr/>
          <p:nvPr/>
        </p:nvCxnSpPr>
        <p:spPr>
          <a:xfrm>
            <a:off x="2276856" y="4928616"/>
            <a:ext cx="0" cy="941832"/>
          </a:xfrm>
          <a:prstGeom prst="line">
            <a:avLst/>
          </a:prstGeom>
          <a:ln w="15240">
            <a:solidFill>
              <a:srgbClr val="BF385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276856" y="5870448"/>
            <a:ext cx="3813048" cy="0"/>
          </a:xfrm>
          <a:prstGeom prst="line">
            <a:avLst/>
          </a:prstGeom>
          <a:ln w="15240">
            <a:solidFill>
              <a:srgbClr val="BF385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089904" y="5641848"/>
            <a:ext cx="0" cy="228600"/>
          </a:xfrm>
          <a:prstGeom prst="line">
            <a:avLst/>
          </a:prstGeom>
          <a:ln w="15240">
            <a:solidFill>
              <a:srgbClr val="BF3854"/>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276856" y="5870448"/>
            <a:ext cx="7626096" cy="0"/>
          </a:xfrm>
          <a:prstGeom prst="line">
            <a:avLst/>
          </a:prstGeom>
          <a:ln w="15240">
            <a:solidFill>
              <a:srgbClr val="118774"/>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902952" y="5641848"/>
            <a:ext cx="0" cy="228600"/>
          </a:xfrm>
          <a:prstGeom prst="line">
            <a:avLst/>
          </a:prstGeom>
          <a:ln w="15240">
            <a:solidFill>
              <a:srgbClr val="118774"/>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02920" y="6062472"/>
            <a:ext cx="11064240" cy="265176"/>
          </a:xfrm>
          <a:prstGeom prst="rect">
            <a:avLst/>
          </a:prstGeom>
          <a:noFill/>
        </p:spPr>
        <p:txBody>
          <a:bodyPr wrap="square" lIns="0" rIns="0" tIns="0" bIns="0">
            <a:spAutoFit/>
          </a:bodyPr>
          <a:lstStyle/>
          <a:p>
            <a:pPr>
              <a:spcBef>
                <a:spcPts val="0"/>
              </a:spcBef>
              <a:spcAft>
                <a:spcPts val="300"/>
              </a:spcAft>
            </a:pPr>
            <a:r>
              <a:rPr sz="1600" b="1">
                <a:solidFill>
                  <a:srgbClr val="FFFFFF"/>
                </a:solidFill>
                <a:latin typeface="Montserrat"/>
              </a:rPr>
              <a:t>Сходство внешнего вида и ракурса может перевесить признаки конкретного экземпляра.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ОБУЧЕНИЕ</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100" b="1">
                <a:solidFill>
                  <a:srgbClr val="321044"/>
                </a:solidFill>
                <a:latin typeface="Montserrat"/>
              </a:rPr>
              <a:t>Межкамерные пары и трудные негативы</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ДАННЫЕ И РЕЦЕПТ</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08</a:t>
            </a:r>
          </a:p>
        </p:txBody>
      </p:sp>
      <p:sp>
        <p:nvSpPr>
          <p:cNvPr id="13" name="TextBox 12"/>
          <p:cNvSpPr txBox="1"/>
          <p:nvPr/>
        </p:nvSpPr>
        <p:spPr>
          <a:xfrm>
            <a:off x="502920" y="1755648"/>
            <a:ext cx="2286000" cy="566928"/>
          </a:xfrm>
          <a:prstGeom prst="rect">
            <a:avLst/>
          </a:prstGeom>
          <a:noFill/>
        </p:spPr>
        <p:txBody>
          <a:bodyPr wrap="square" lIns="0" rIns="0" tIns="0" bIns="0">
            <a:spAutoFit/>
          </a:bodyPr>
          <a:lstStyle/>
          <a:p>
            <a:pPr>
              <a:spcBef>
                <a:spcPts val="0"/>
              </a:spcBef>
              <a:spcAft>
                <a:spcPts val="300"/>
              </a:spcAft>
            </a:pPr>
            <a:r>
              <a:rPr sz="2800" b="1">
                <a:solidFill>
                  <a:srgbClr val="321044"/>
                </a:solidFill>
                <a:latin typeface="Montserrat"/>
              </a:rPr>
              <a:t>9 556</a:t>
            </a:r>
          </a:p>
        </p:txBody>
      </p:sp>
      <p:sp>
        <p:nvSpPr>
          <p:cNvPr id="14" name="TextBox 13"/>
          <p:cNvSpPr txBox="1"/>
          <p:nvPr/>
        </p:nvSpPr>
        <p:spPr>
          <a:xfrm>
            <a:off x="502920" y="2432304"/>
            <a:ext cx="2286000"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кадров</a:t>
            </a:r>
          </a:p>
        </p:txBody>
      </p:sp>
      <p:sp>
        <p:nvSpPr>
          <p:cNvPr id="15" name="TextBox 14"/>
          <p:cNvSpPr txBox="1"/>
          <p:nvPr/>
        </p:nvSpPr>
        <p:spPr>
          <a:xfrm>
            <a:off x="3246120" y="1755648"/>
            <a:ext cx="2286000" cy="566928"/>
          </a:xfrm>
          <a:prstGeom prst="rect">
            <a:avLst/>
          </a:prstGeom>
          <a:noFill/>
        </p:spPr>
        <p:txBody>
          <a:bodyPr wrap="square" lIns="0" rIns="0" tIns="0" bIns="0">
            <a:spAutoFit/>
          </a:bodyPr>
          <a:lstStyle/>
          <a:p>
            <a:pPr>
              <a:spcBef>
                <a:spcPts val="0"/>
              </a:spcBef>
              <a:spcAft>
                <a:spcPts val="300"/>
              </a:spcAft>
            </a:pPr>
            <a:r>
              <a:rPr sz="2800" b="1">
                <a:solidFill>
                  <a:srgbClr val="321044"/>
                </a:solidFill>
                <a:latin typeface="Montserrat"/>
              </a:rPr>
              <a:t>1 541</a:t>
            </a:r>
          </a:p>
        </p:txBody>
      </p:sp>
      <p:sp>
        <p:nvSpPr>
          <p:cNvPr id="16" name="TextBox 15"/>
          <p:cNvSpPr txBox="1"/>
          <p:nvPr/>
        </p:nvSpPr>
        <p:spPr>
          <a:xfrm>
            <a:off x="3246120" y="2432304"/>
            <a:ext cx="2286000"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автомобиль</a:t>
            </a:r>
          </a:p>
        </p:txBody>
      </p:sp>
      <p:sp>
        <p:nvSpPr>
          <p:cNvPr id="17" name="TextBox 16"/>
          <p:cNvSpPr txBox="1"/>
          <p:nvPr/>
        </p:nvSpPr>
        <p:spPr>
          <a:xfrm>
            <a:off x="5989320" y="1755648"/>
            <a:ext cx="2286000" cy="566928"/>
          </a:xfrm>
          <a:prstGeom prst="rect">
            <a:avLst/>
          </a:prstGeom>
          <a:noFill/>
        </p:spPr>
        <p:txBody>
          <a:bodyPr wrap="square" lIns="0" rIns="0" tIns="0" bIns="0">
            <a:spAutoFit/>
          </a:bodyPr>
          <a:lstStyle/>
          <a:p>
            <a:pPr>
              <a:spcBef>
                <a:spcPts val="0"/>
              </a:spcBef>
              <a:spcAft>
                <a:spcPts val="300"/>
              </a:spcAft>
            </a:pPr>
            <a:r>
              <a:rPr sz="2800" b="1">
                <a:solidFill>
                  <a:srgbClr val="321044"/>
                </a:solidFill>
                <a:latin typeface="Montserrat"/>
              </a:rPr>
              <a:t>96</a:t>
            </a:r>
          </a:p>
        </p:txBody>
      </p:sp>
      <p:sp>
        <p:nvSpPr>
          <p:cNvPr id="18" name="TextBox 17"/>
          <p:cNvSpPr txBox="1"/>
          <p:nvPr/>
        </p:nvSpPr>
        <p:spPr>
          <a:xfrm>
            <a:off x="5989320" y="2432304"/>
            <a:ext cx="2286000"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камер</a:t>
            </a:r>
          </a:p>
        </p:txBody>
      </p:sp>
      <p:sp>
        <p:nvSpPr>
          <p:cNvPr id="19" name="Rounded Rectangle 18"/>
          <p:cNvSpPr/>
          <p:nvPr/>
        </p:nvSpPr>
        <p:spPr>
          <a:xfrm>
            <a:off x="9144000" y="1892807"/>
            <a:ext cx="2532888" cy="320040"/>
          </a:xfrm>
          <a:prstGeom prst="roundRect">
            <a:avLst>
              <a:gd name="adj" fmla="val 10000"/>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7152" y="1952243"/>
            <a:ext cx="2386584" cy="210312"/>
          </a:xfrm>
          <a:prstGeom prst="rect">
            <a:avLst/>
          </a:prstGeom>
          <a:noFill/>
        </p:spPr>
        <p:txBody>
          <a:bodyPr wrap="square" lIns="0" rIns="0" tIns="0" bIns="0">
            <a:spAutoFit/>
          </a:bodyPr>
          <a:lstStyle/>
          <a:p>
            <a:pPr algn="ctr">
              <a:spcBef>
                <a:spcPts val="0"/>
              </a:spcBef>
              <a:spcAft>
                <a:spcPts val="300"/>
              </a:spcAft>
            </a:pPr>
            <a:r>
              <a:rPr sz="1000" b="1">
                <a:solidFill>
                  <a:srgbClr val="321044"/>
                </a:solidFill>
                <a:latin typeface="Montserrat"/>
              </a:rPr>
              <a:t>2 ОБУЧАЕМЫЕ МОДЕЛИ</a:t>
            </a:r>
          </a:p>
        </p:txBody>
      </p:sp>
      <p:sp>
        <p:nvSpPr>
          <p:cNvPr id="21" name="Rectangle 20"/>
          <p:cNvSpPr/>
          <p:nvPr/>
        </p:nvSpPr>
        <p:spPr>
          <a:xfrm>
            <a:off x="502920" y="3163824"/>
            <a:ext cx="1773936"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r-0.png"/>
          <p:cNvPicPr>
            <a:picLocks noChangeAspect="1"/>
          </p:cNvPicPr>
          <p:nvPr/>
        </p:nvPicPr>
        <p:blipFill>
          <a:blip r:embed="rId2"/>
          <a:stretch>
            <a:fillRect/>
          </a:stretch>
        </p:blipFill>
        <p:spPr>
          <a:xfrm>
            <a:off x="502919" y="3180410"/>
            <a:ext cx="1773936" cy="1320138"/>
          </a:xfrm>
          <a:prstGeom prst="rect">
            <a:avLst/>
          </a:prstGeom>
        </p:spPr>
      </p:pic>
      <p:sp>
        <p:nvSpPr>
          <p:cNvPr id="23" name="Rectangle 22"/>
          <p:cNvSpPr/>
          <p:nvPr/>
        </p:nvSpPr>
        <p:spPr>
          <a:xfrm>
            <a:off x="2542032" y="3163824"/>
            <a:ext cx="1773936"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ar-8.png"/>
          <p:cNvPicPr>
            <a:picLocks noChangeAspect="1"/>
          </p:cNvPicPr>
          <p:nvPr/>
        </p:nvPicPr>
        <p:blipFill>
          <a:blip r:embed="rId3"/>
          <a:stretch>
            <a:fillRect/>
          </a:stretch>
        </p:blipFill>
        <p:spPr>
          <a:xfrm>
            <a:off x="2542032" y="3326760"/>
            <a:ext cx="1773935" cy="1027438"/>
          </a:xfrm>
          <a:prstGeom prst="rect">
            <a:avLst/>
          </a:prstGeom>
        </p:spPr>
      </p:pic>
      <p:sp>
        <p:nvSpPr>
          <p:cNvPr id="25" name="TextBox 24"/>
          <p:cNvSpPr txBox="1"/>
          <p:nvPr/>
        </p:nvSpPr>
        <p:spPr>
          <a:xfrm>
            <a:off x="502920" y="4617720"/>
            <a:ext cx="3813048" cy="292608"/>
          </a:xfrm>
          <a:prstGeom prst="rect">
            <a:avLst/>
          </a:prstGeom>
          <a:noFill/>
        </p:spPr>
        <p:txBody>
          <a:bodyPr wrap="square" lIns="0" rIns="0" tIns="0" bIns="0">
            <a:spAutoFit/>
          </a:bodyPr>
          <a:lstStyle/>
          <a:p>
            <a:pPr>
              <a:spcBef>
                <a:spcPts val="0"/>
              </a:spcBef>
              <a:spcAft>
                <a:spcPts val="300"/>
              </a:spcAft>
            </a:pPr>
            <a:r>
              <a:rPr sz="1400" b="1">
                <a:solidFill>
                  <a:srgbClr val="118774"/>
                </a:solidFill>
                <a:latin typeface="Montserrat"/>
              </a:rPr>
              <a:t>Одна машина · разные камеры</a:t>
            </a:r>
          </a:p>
        </p:txBody>
      </p:sp>
      <p:sp>
        <p:nvSpPr>
          <p:cNvPr id="26" name="Rectangle 25"/>
          <p:cNvSpPr/>
          <p:nvPr/>
        </p:nvSpPr>
        <p:spPr>
          <a:xfrm>
            <a:off x="502920" y="5166360"/>
            <a:ext cx="1773936" cy="9052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r-2.png"/>
          <p:cNvPicPr>
            <a:picLocks noChangeAspect="1"/>
          </p:cNvPicPr>
          <p:nvPr/>
        </p:nvPicPr>
        <p:blipFill>
          <a:blip r:embed="rId4"/>
          <a:stretch>
            <a:fillRect/>
          </a:stretch>
        </p:blipFill>
        <p:spPr>
          <a:xfrm>
            <a:off x="603093" y="5166360"/>
            <a:ext cx="1573589" cy="905256"/>
          </a:xfrm>
          <a:prstGeom prst="rect">
            <a:avLst/>
          </a:prstGeom>
        </p:spPr>
      </p:pic>
      <p:sp>
        <p:nvSpPr>
          <p:cNvPr id="28" name="TextBox 27"/>
          <p:cNvSpPr txBox="1"/>
          <p:nvPr/>
        </p:nvSpPr>
        <p:spPr>
          <a:xfrm>
            <a:off x="2542032" y="5340096"/>
            <a:ext cx="1947672" cy="640080"/>
          </a:xfrm>
          <a:prstGeom prst="rect">
            <a:avLst/>
          </a:prstGeom>
          <a:noFill/>
        </p:spPr>
        <p:txBody>
          <a:bodyPr wrap="square" lIns="0" rIns="0" tIns="0" bIns="0">
            <a:spAutoFit/>
          </a:bodyPr>
          <a:lstStyle/>
          <a:p>
            <a:pPr>
              <a:spcBef>
                <a:spcPts val="0"/>
              </a:spcBef>
              <a:spcAft>
                <a:spcPts val="300"/>
              </a:spcAft>
            </a:pPr>
            <a:r>
              <a:rPr sz="1400" b="1">
                <a:solidFill>
                  <a:srgbClr val="BF3854"/>
                </a:solidFill>
                <a:latin typeface="Montserrat"/>
              </a:rPr>
              <a:t>Чужая машина</a:t>
            </a:r>
          </a:p>
          <a:p>
            <a:pPr>
              <a:spcBef>
                <a:spcPts val="0"/>
              </a:spcBef>
              <a:spcAft>
                <a:spcPts val="300"/>
              </a:spcAft>
            </a:pPr>
            <a:r>
              <a:rPr sz="1400" b="1">
                <a:solidFill>
                  <a:srgbClr val="BF3854"/>
                </a:solidFill>
                <a:latin typeface="Montserrat"/>
              </a:rPr>
              <a:t>из top-10</a:t>
            </a:r>
          </a:p>
        </p:txBody>
      </p:sp>
      <p:cxnSp>
        <p:nvCxnSpPr>
          <p:cNvPr id="29" name="Connector 28"/>
          <p:cNvCxnSpPr/>
          <p:nvPr/>
        </p:nvCxnSpPr>
        <p:spPr>
          <a:xfrm>
            <a:off x="4535424" y="3794760"/>
            <a:ext cx="640080"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285232" y="3145536"/>
            <a:ext cx="1847088" cy="1234440"/>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04104" y="3291840"/>
            <a:ext cx="1609344" cy="384048"/>
          </a:xfrm>
          <a:prstGeom prst="rect">
            <a:avLst/>
          </a:prstGeom>
          <a:noFill/>
        </p:spPr>
        <p:txBody>
          <a:bodyPr wrap="square" lIns="0" rIns="0" tIns="0" bIns="0">
            <a:spAutoFit/>
          </a:bodyPr>
          <a:lstStyle/>
          <a:p>
            <a:pPr algn="ctr">
              <a:spcBef>
                <a:spcPts val="0"/>
              </a:spcBef>
              <a:spcAft>
                <a:spcPts val="300"/>
              </a:spcAft>
            </a:pPr>
            <a:r>
              <a:rPr sz="1600" b="1">
                <a:solidFill>
                  <a:srgbClr val="FFFFFF"/>
                </a:solidFill>
                <a:latin typeface="Montserrat"/>
              </a:rPr>
              <a:t>DINO / CLIP</a:t>
            </a:r>
          </a:p>
        </p:txBody>
      </p:sp>
      <p:sp>
        <p:nvSpPr>
          <p:cNvPr id="32" name="TextBox 31"/>
          <p:cNvSpPr txBox="1"/>
          <p:nvPr/>
        </p:nvSpPr>
        <p:spPr>
          <a:xfrm>
            <a:off x="5394960" y="3776472"/>
            <a:ext cx="1627632" cy="557784"/>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Обучение признаков</a:t>
            </a:r>
          </a:p>
        </p:txBody>
      </p:sp>
      <p:cxnSp>
        <p:nvCxnSpPr>
          <p:cNvPr id="33" name="Connector 32"/>
          <p:cNvCxnSpPr/>
          <p:nvPr/>
        </p:nvCxnSpPr>
        <p:spPr>
          <a:xfrm>
            <a:off x="7251192" y="3794760"/>
            <a:ext cx="640080"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138160" y="4828032"/>
            <a:ext cx="3337560" cy="0"/>
          </a:xfrm>
          <a:prstGeom prst="line">
            <a:avLst/>
          </a:prstGeom>
          <a:ln w="12700">
            <a:solidFill>
              <a:srgbClr val="DED5E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138160" y="3090672"/>
            <a:ext cx="0" cy="1737360"/>
          </a:xfrm>
          <a:prstGeom prst="line">
            <a:avLst/>
          </a:prstGeom>
          <a:ln w="12700">
            <a:solidFill>
              <a:srgbClr val="DED5E6"/>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567928" y="4114800"/>
            <a:ext cx="201168" cy="201168"/>
          </a:xfrm>
          <a:prstGeom prst="ellipse">
            <a:avLst/>
          </a:prstGeom>
          <a:solidFill>
            <a:srgbClr val="1187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860536" y="3895344"/>
            <a:ext cx="201168" cy="201168"/>
          </a:xfrm>
          <a:prstGeom prst="ellipse">
            <a:avLst/>
          </a:prstGeom>
          <a:solidFill>
            <a:srgbClr val="1187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flipV="1">
            <a:off x="9235440" y="3255264"/>
            <a:ext cx="1298448" cy="594360"/>
          </a:xfrm>
          <a:prstGeom prst="line">
            <a:avLst/>
          </a:prstGeom>
          <a:ln w="20320">
            <a:solidFill>
              <a:srgbClr val="BF385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10753344" y="3008376"/>
            <a:ext cx="201168" cy="201168"/>
          </a:xfrm>
          <a:prstGeom prst="ellipse">
            <a:avLst/>
          </a:prstGeom>
          <a:solidFill>
            <a:srgbClr val="BF38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66760" y="4517136"/>
            <a:ext cx="2596896" cy="246888"/>
          </a:xfrm>
          <a:prstGeom prst="rect">
            <a:avLst/>
          </a:prstGeom>
          <a:noFill/>
        </p:spPr>
        <p:txBody>
          <a:bodyPr wrap="square" lIns="0" rIns="0" tIns="0" bIns="0">
            <a:spAutoFit/>
          </a:bodyPr>
          <a:lstStyle/>
          <a:p>
            <a:pPr>
              <a:spcBef>
                <a:spcPts val="0"/>
              </a:spcBef>
              <a:spcAft>
                <a:spcPts val="300"/>
              </a:spcAft>
            </a:pPr>
            <a:r>
              <a:rPr sz="1200" b="1">
                <a:solidFill>
                  <a:srgbClr val="118774"/>
                </a:solidFill>
                <a:latin typeface="Montserrat"/>
              </a:rPr>
              <a:t>Сблизить свою пару</a:t>
            </a:r>
          </a:p>
        </p:txBody>
      </p:sp>
      <p:sp>
        <p:nvSpPr>
          <p:cNvPr id="41" name="TextBox 40"/>
          <p:cNvSpPr txBox="1"/>
          <p:nvPr/>
        </p:nvSpPr>
        <p:spPr>
          <a:xfrm>
            <a:off x="9601200" y="3456432"/>
            <a:ext cx="2057400" cy="384048"/>
          </a:xfrm>
          <a:prstGeom prst="rect">
            <a:avLst/>
          </a:prstGeom>
          <a:noFill/>
        </p:spPr>
        <p:txBody>
          <a:bodyPr wrap="square" lIns="0" rIns="0" tIns="0" bIns="0">
            <a:spAutoFit/>
          </a:bodyPr>
          <a:lstStyle/>
          <a:p>
            <a:pPr>
              <a:spcBef>
                <a:spcPts val="0"/>
              </a:spcBef>
              <a:spcAft>
                <a:spcPts val="300"/>
              </a:spcAft>
            </a:pPr>
            <a:r>
              <a:rPr sz="1200" b="1">
                <a:solidFill>
                  <a:srgbClr val="BF3854"/>
                </a:solidFill>
                <a:latin typeface="Montserrat"/>
              </a:rPr>
              <a:t>Отдалить чужую</a:t>
            </a:r>
          </a:p>
        </p:txBody>
      </p:sp>
      <p:sp>
        <p:nvSpPr>
          <p:cNvPr id="42" name="TextBox 41"/>
          <p:cNvSpPr txBox="1"/>
          <p:nvPr/>
        </p:nvSpPr>
        <p:spPr>
          <a:xfrm>
            <a:off x="8138160" y="5001768"/>
            <a:ext cx="3511296" cy="274320"/>
          </a:xfrm>
          <a:prstGeom prst="rect">
            <a:avLst/>
          </a:prstGeom>
          <a:noFill/>
        </p:spPr>
        <p:txBody>
          <a:bodyPr wrap="square" lIns="0" rIns="0" tIns="0" bIns="0">
            <a:spAutoFit/>
          </a:bodyPr>
          <a:lstStyle/>
          <a:p>
            <a:pPr>
              <a:spcBef>
                <a:spcPts val="0"/>
              </a:spcBef>
              <a:spcAft>
                <a:spcPts val="300"/>
              </a:spcAft>
            </a:pPr>
            <a:r>
              <a:rPr sz="1300" b="1">
                <a:solidFill>
                  <a:srgbClr val="321044"/>
                </a:solidFill>
                <a:latin typeface="Montserrat"/>
              </a:rPr>
              <a:t>CE + triplet loss · margin 0,3</a:t>
            </a:r>
          </a:p>
        </p:txBody>
      </p:sp>
      <p:cxnSp>
        <p:nvCxnSpPr>
          <p:cNvPr id="43" name="Connector 42"/>
          <p:cNvCxnSpPr/>
          <p:nvPr/>
        </p:nvCxnSpPr>
        <p:spPr>
          <a:xfrm>
            <a:off x="5276088" y="5321808"/>
            <a:ext cx="6409944" cy="0"/>
          </a:xfrm>
          <a:prstGeom prst="line">
            <a:avLst/>
          </a:prstGeom>
          <a:ln w="12700">
            <a:solidFill>
              <a:srgbClr val="DED5E6"/>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85232" y="5486400"/>
            <a:ext cx="1920240" cy="566928"/>
          </a:xfrm>
          <a:prstGeom prst="rect">
            <a:avLst/>
          </a:prstGeom>
          <a:noFill/>
        </p:spPr>
        <p:txBody>
          <a:bodyPr wrap="square" lIns="0" rIns="0" tIns="0" bIns="0">
            <a:spAutoFit/>
          </a:bodyPr>
          <a:lstStyle/>
          <a:p>
            <a:pPr>
              <a:spcBef>
                <a:spcPts val="0"/>
              </a:spcBef>
              <a:spcAft>
                <a:spcPts val="300"/>
              </a:spcAft>
            </a:pPr>
            <a:r>
              <a:rPr sz="2200" b="1">
                <a:solidFill>
                  <a:srgbClr val="321044"/>
                </a:solidFill>
                <a:latin typeface="Montserrat"/>
              </a:rPr>
              <a:t>100</a:t>
            </a:r>
          </a:p>
        </p:txBody>
      </p:sp>
      <p:sp>
        <p:nvSpPr>
          <p:cNvPr id="45" name="TextBox 44"/>
          <p:cNvSpPr txBox="1"/>
          <p:nvPr/>
        </p:nvSpPr>
        <p:spPr>
          <a:xfrm>
            <a:off x="5285232" y="6163056"/>
            <a:ext cx="1920240"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эпох</a:t>
            </a:r>
          </a:p>
        </p:txBody>
      </p:sp>
      <p:sp>
        <p:nvSpPr>
          <p:cNvPr id="46" name="TextBox 45"/>
          <p:cNvSpPr txBox="1"/>
          <p:nvPr/>
        </p:nvSpPr>
        <p:spPr>
          <a:xfrm>
            <a:off x="7424927" y="5486400"/>
            <a:ext cx="1920240" cy="566928"/>
          </a:xfrm>
          <a:prstGeom prst="rect">
            <a:avLst/>
          </a:prstGeom>
          <a:noFill/>
        </p:spPr>
        <p:txBody>
          <a:bodyPr wrap="square" lIns="0" rIns="0" tIns="0" bIns="0">
            <a:spAutoFit/>
          </a:bodyPr>
          <a:lstStyle/>
          <a:p>
            <a:pPr>
              <a:spcBef>
                <a:spcPts val="0"/>
              </a:spcBef>
              <a:spcAft>
                <a:spcPts val="300"/>
              </a:spcAft>
            </a:pPr>
            <a:r>
              <a:rPr sz="2200" b="1">
                <a:solidFill>
                  <a:srgbClr val="321044"/>
                </a:solidFill>
                <a:latin typeface="Montserrat"/>
              </a:rPr>
              <a:t>16 × 4</a:t>
            </a:r>
          </a:p>
        </p:txBody>
      </p:sp>
      <p:sp>
        <p:nvSpPr>
          <p:cNvPr id="47" name="TextBox 46"/>
          <p:cNvSpPr txBox="1"/>
          <p:nvPr/>
        </p:nvSpPr>
        <p:spPr>
          <a:xfrm>
            <a:off x="7424927" y="6163056"/>
            <a:ext cx="1920240"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PK-batch</a:t>
            </a:r>
          </a:p>
        </p:txBody>
      </p:sp>
      <p:sp>
        <p:nvSpPr>
          <p:cNvPr id="48" name="TextBox 47"/>
          <p:cNvSpPr txBox="1"/>
          <p:nvPr/>
        </p:nvSpPr>
        <p:spPr>
          <a:xfrm>
            <a:off x="9802368" y="5486400"/>
            <a:ext cx="1920240" cy="566928"/>
          </a:xfrm>
          <a:prstGeom prst="rect">
            <a:avLst/>
          </a:prstGeom>
          <a:noFill/>
        </p:spPr>
        <p:txBody>
          <a:bodyPr wrap="square" lIns="0" rIns="0" tIns="0" bIns="0">
            <a:spAutoFit/>
          </a:bodyPr>
          <a:lstStyle/>
          <a:p>
            <a:pPr>
              <a:spcBef>
                <a:spcPts val="0"/>
              </a:spcBef>
              <a:spcAft>
                <a:spcPts val="300"/>
              </a:spcAft>
            </a:pPr>
            <a:r>
              <a:rPr sz="2200" b="1">
                <a:solidFill>
                  <a:srgbClr val="321044"/>
                </a:solidFill>
                <a:latin typeface="Montserrat"/>
              </a:rPr>
              <a:t>AdamW</a:t>
            </a:r>
          </a:p>
        </p:txBody>
      </p:sp>
      <p:sp>
        <p:nvSpPr>
          <p:cNvPr id="49" name="TextBox 48"/>
          <p:cNvSpPr txBox="1"/>
          <p:nvPr/>
        </p:nvSpPr>
        <p:spPr>
          <a:xfrm>
            <a:off x="9802368" y="6163056"/>
            <a:ext cx="1920240"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оптимизатор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ДО ФИНАЛА / D065</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100" b="1">
                <a:solidFill>
                  <a:srgbClr val="321044"/>
                </a:solidFill>
                <a:latin typeface="Montserrat"/>
              </a:rPr>
              <a:t>Архитектура до доработок</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ОСНОВА РЕШЕНИЯ</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09</a:t>
            </a:r>
          </a:p>
        </p:txBody>
      </p:sp>
      <p:sp>
        <p:nvSpPr>
          <p:cNvPr id="13" name="Rectangle 12"/>
          <p:cNvSpPr/>
          <p:nvPr/>
        </p:nvSpPr>
        <p:spPr>
          <a:xfrm>
            <a:off x="502920" y="3246120"/>
            <a:ext cx="1152144" cy="9692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r-0.png"/>
          <p:cNvPicPr>
            <a:picLocks noChangeAspect="1"/>
          </p:cNvPicPr>
          <p:nvPr/>
        </p:nvPicPr>
        <p:blipFill>
          <a:blip r:embed="rId2"/>
          <a:stretch>
            <a:fillRect/>
          </a:stretch>
        </p:blipFill>
        <p:spPr>
          <a:xfrm>
            <a:off x="502920" y="3302047"/>
            <a:ext cx="1152144" cy="857409"/>
          </a:xfrm>
          <a:prstGeom prst="rect">
            <a:avLst/>
          </a:prstGeom>
        </p:spPr>
      </p:pic>
      <p:sp>
        <p:nvSpPr>
          <p:cNvPr id="15" name="TextBox 14"/>
          <p:cNvSpPr txBox="1"/>
          <p:nvPr/>
        </p:nvSpPr>
        <p:spPr>
          <a:xfrm>
            <a:off x="502920" y="4434840"/>
            <a:ext cx="1298448" cy="512064"/>
          </a:xfrm>
          <a:prstGeom prst="rect">
            <a:avLst/>
          </a:prstGeom>
          <a:noFill/>
        </p:spPr>
        <p:txBody>
          <a:bodyPr wrap="square" lIns="0" rIns="0" tIns="0" bIns="0">
            <a:spAutoFit/>
          </a:bodyPr>
          <a:lstStyle/>
          <a:p>
            <a:pPr algn="ctr">
              <a:spcBef>
                <a:spcPts val="0"/>
              </a:spcBef>
              <a:spcAft>
                <a:spcPts val="300"/>
              </a:spcAft>
            </a:pPr>
            <a:r>
              <a:rPr sz="1200" b="1">
                <a:solidFill>
                  <a:srgbClr val="321044"/>
                </a:solidFill>
                <a:latin typeface="Montserrat"/>
              </a:rPr>
              <a:t>Кадр</a:t>
            </a:r>
          </a:p>
          <a:p>
            <a:pPr algn="ctr">
              <a:spcBef>
                <a:spcPts val="0"/>
              </a:spcBef>
              <a:spcAft>
                <a:spcPts val="300"/>
              </a:spcAft>
            </a:pPr>
            <a:r>
              <a:rPr sz="1200" b="1">
                <a:solidFill>
                  <a:srgbClr val="321044"/>
                </a:solidFill>
                <a:latin typeface="Montserrat"/>
              </a:rPr>
              <a:t>+ рамка</a:t>
            </a:r>
          </a:p>
        </p:txBody>
      </p:sp>
      <p:sp>
        <p:nvSpPr>
          <p:cNvPr id="16" name="Rectangle 15"/>
          <p:cNvSpPr/>
          <p:nvPr/>
        </p:nvSpPr>
        <p:spPr>
          <a:xfrm>
            <a:off x="1938528" y="3236976"/>
            <a:ext cx="1225296" cy="102412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57400" y="3383280"/>
            <a:ext cx="987552" cy="384048"/>
          </a:xfrm>
          <a:prstGeom prst="rect">
            <a:avLst/>
          </a:prstGeom>
          <a:noFill/>
        </p:spPr>
        <p:txBody>
          <a:bodyPr wrap="square" lIns="0" rIns="0" tIns="0" bIns="0">
            <a:spAutoFit/>
          </a:bodyPr>
          <a:lstStyle/>
          <a:p>
            <a:pPr algn="ctr">
              <a:spcBef>
                <a:spcPts val="0"/>
              </a:spcBef>
              <a:spcAft>
                <a:spcPts val="300"/>
              </a:spcAft>
            </a:pPr>
            <a:r>
              <a:rPr sz="1500" b="1">
                <a:solidFill>
                  <a:srgbClr val="321044"/>
                </a:solidFill>
                <a:latin typeface="Montserrat"/>
              </a:rPr>
              <a:t>JPEG</a:t>
            </a:r>
          </a:p>
        </p:txBody>
      </p:sp>
      <p:sp>
        <p:nvSpPr>
          <p:cNvPr id="18" name="TextBox 17"/>
          <p:cNvSpPr txBox="1"/>
          <p:nvPr/>
        </p:nvSpPr>
        <p:spPr>
          <a:xfrm>
            <a:off x="2048256" y="3867912"/>
            <a:ext cx="1005840" cy="347472"/>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crop / resize</a:t>
            </a:r>
          </a:p>
        </p:txBody>
      </p:sp>
      <p:cxnSp>
        <p:nvCxnSpPr>
          <p:cNvPr id="19" name="Connector 18"/>
          <p:cNvCxnSpPr/>
          <p:nvPr/>
        </p:nvCxnSpPr>
        <p:spPr>
          <a:xfrm>
            <a:off x="1664208" y="3721608"/>
            <a:ext cx="237744"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657600" y="2386584"/>
            <a:ext cx="1792224" cy="1033271"/>
          </a:xfrm>
          <a:prstGeom prst="rect">
            <a:avLst/>
          </a:prstGeom>
          <a:solidFill>
            <a:srgbClr val="EB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76472" y="2532888"/>
            <a:ext cx="1554480" cy="384048"/>
          </a:xfrm>
          <a:prstGeom prst="rect">
            <a:avLst/>
          </a:prstGeom>
          <a:noFill/>
        </p:spPr>
        <p:txBody>
          <a:bodyPr wrap="square" lIns="0" rIns="0" tIns="0" bIns="0">
            <a:spAutoFit/>
          </a:bodyPr>
          <a:lstStyle/>
          <a:p>
            <a:pPr algn="ctr">
              <a:spcBef>
                <a:spcPts val="0"/>
              </a:spcBef>
              <a:spcAft>
                <a:spcPts val="300"/>
              </a:spcAft>
            </a:pPr>
            <a:r>
              <a:rPr sz="1400" b="1">
                <a:solidFill>
                  <a:srgbClr val="5C6FC0"/>
                </a:solidFill>
                <a:latin typeface="Montserrat"/>
              </a:rPr>
              <a:t>DINOv2-B/14</a:t>
            </a:r>
          </a:p>
        </p:txBody>
      </p:sp>
      <p:sp>
        <p:nvSpPr>
          <p:cNvPr id="22" name="TextBox 21"/>
          <p:cNvSpPr txBox="1"/>
          <p:nvPr/>
        </p:nvSpPr>
        <p:spPr>
          <a:xfrm>
            <a:off x="3767328" y="3017520"/>
            <a:ext cx="1572768" cy="356615"/>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392 × 392</a:t>
            </a:r>
          </a:p>
        </p:txBody>
      </p:sp>
      <p:sp>
        <p:nvSpPr>
          <p:cNvPr id="23" name="Rectangle 22"/>
          <p:cNvSpPr/>
          <p:nvPr/>
        </p:nvSpPr>
        <p:spPr>
          <a:xfrm>
            <a:off x="3657600" y="3995928"/>
            <a:ext cx="1792224" cy="1033271"/>
          </a:xfrm>
          <a:prstGeom prst="rect">
            <a:avLst/>
          </a:prstGeom>
          <a:solidFill>
            <a:srgbClr val="E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76472" y="4142232"/>
            <a:ext cx="1554480" cy="384048"/>
          </a:xfrm>
          <a:prstGeom prst="rect">
            <a:avLst/>
          </a:prstGeom>
          <a:noFill/>
        </p:spPr>
        <p:txBody>
          <a:bodyPr wrap="square" lIns="0" rIns="0" tIns="0" bIns="0">
            <a:spAutoFit/>
          </a:bodyPr>
          <a:lstStyle/>
          <a:p>
            <a:pPr algn="ctr">
              <a:spcBef>
                <a:spcPts val="0"/>
              </a:spcBef>
              <a:spcAft>
                <a:spcPts val="300"/>
              </a:spcAft>
            </a:pPr>
            <a:r>
              <a:rPr sz="1400" b="1">
                <a:solidFill>
                  <a:srgbClr val="118774"/>
                </a:solidFill>
                <a:latin typeface="Montserrat"/>
              </a:rPr>
              <a:t>CLIP-B/16</a:t>
            </a:r>
          </a:p>
        </p:txBody>
      </p:sp>
      <p:sp>
        <p:nvSpPr>
          <p:cNvPr id="25" name="TextBox 24"/>
          <p:cNvSpPr txBox="1"/>
          <p:nvPr/>
        </p:nvSpPr>
        <p:spPr>
          <a:xfrm>
            <a:off x="3767328" y="4626864"/>
            <a:ext cx="1572768" cy="356615"/>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288 × 288</a:t>
            </a:r>
          </a:p>
        </p:txBody>
      </p:sp>
      <p:cxnSp>
        <p:nvCxnSpPr>
          <p:cNvPr id="26" name="Connector 25"/>
          <p:cNvCxnSpPr/>
          <p:nvPr/>
        </p:nvCxnSpPr>
        <p:spPr>
          <a:xfrm>
            <a:off x="3191256" y="3721608"/>
            <a:ext cx="219456" cy="0"/>
          </a:xfrm>
          <a:prstGeom prst="line">
            <a:avLst/>
          </a:prstGeom>
          <a:ln w="1778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10712" y="2898648"/>
            <a:ext cx="0" cy="822960"/>
          </a:xfrm>
          <a:prstGeom prst="line">
            <a:avLst/>
          </a:prstGeom>
          <a:ln w="1778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10712" y="2898648"/>
            <a:ext cx="228600" cy="0"/>
          </a:xfrm>
          <a:prstGeom prst="line">
            <a:avLst/>
          </a:prstGeom>
          <a:ln w="17780">
            <a:solidFill>
              <a:srgbClr val="5C6F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10712" y="3721608"/>
            <a:ext cx="0" cy="786384"/>
          </a:xfrm>
          <a:prstGeom prst="line">
            <a:avLst/>
          </a:prstGeom>
          <a:ln w="17780">
            <a:solidFill>
              <a:srgbClr val="118774"/>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10712" y="4507992"/>
            <a:ext cx="228600" cy="0"/>
          </a:xfrm>
          <a:prstGeom prst="line">
            <a:avLst/>
          </a:prstGeom>
          <a:ln w="17780">
            <a:solidFill>
              <a:srgbClr val="1187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925312" y="3236976"/>
            <a:ext cx="1234440" cy="1024128"/>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44184" y="3383280"/>
            <a:ext cx="996696" cy="384048"/>
          </a:xfrm>
          <a:prstGeom prst="rect">
            <a:avLst/>
          </a:prstGeom>
          <a:noFill/>
        </p:spPr>
        <p:txBody>
          <a:bodyPr wrap="square" lIns="0" rIns="0" tIns="0" bIns="0">
            <a:spAutoFit/>
          </a:bodyPr>
          <a:lstStyle/>
          <a:p>
            <a:pPr algn="ctr">
              <a:spcBef>
                <a:spcPts val="0"/>
              </a:spcBef>
              <a:spcAft>
                <a:spcPts val="300"/>
              </a:spcAft>
            </a:pPr>
            <a:r>
              <a:rPr sz="1600" b="1">
                <a:solidFill>
                  <a:srgbClr val="FFFFFF"/>
                </a:solidFill>
                <a:latin typeface="Montserrat"/>
              </a:rPr>
              <a:t>Fusion</a:t>
            </a:r>
          </a:p>
        </p:txBody>
      </p:sp>
      <p:sp>
        <p:nvSpPr>
          <p:cNvPr id="33" name="TextBox 32"/>
          <p:cNvSpPr txBox="1"/>
          <p:nvPr/>
        </p:nvSpPr>
        <p:spPr>
          <a:xfrm>
            <a:off x="6035040" y="3867912"/>
            <a:ext cx="1014984" cy="347472"/>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3072D</a:t>
            </a:r>
          </a:p>
        </p:txBody>
      </p:sp>
      <p:cxnSp>
        <p:nvCxnSpPr>
          <p:cNvPr id="34" name="Connector 33"/>
          <p:cNvCxnSpPr/>
          <p:nvPr/>
        </p:nvCxnSpPr>
        <p:spPr>
          <a:xfrm>
            <a:off x="5468112" y="2898648"/>
            <a:ext cx="237744" cy="0"/>
          </a:xfrm>
          <a:prstGeom prst="line">
            <a:avLst/>
          </a:prstGeom>
          <a:ln w="1778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705856" y="2898648"/>
            <a:ext cx="0" cy="850391"/>
          </a:xfrm>
          <a:prstGeom prst="line">
            <a:avLst/>
          </a:prstGeom>
          <a:ln w="1778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05856" y="3749039"/>
            <a:ext cx="201168" cy="0"/>
          </a:xfrm>
          <a:prstGeom prst="line">
            <a:avLst/>
          </a:prstGeom>
          <a:ln w="17780">
            <a:solidFill>
              <a:srgbClr val="5C6F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468112" y="4507992"/>
            <a:ext cx="237744" cy="0"/>
          </a:xfrm>
          <a:prstGeom prst="line">
            <a:avLst/>
          </a:prstGeom>
          <a:ln w="17780">
            <a:solidFill>
              <a:srgbClr val="118774"/>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705856" y="3749039"/>
            <a:ext cx="0" cy="758953"/>
          </a:xfrm>
          <a:prstGeom prst="line">
            <a:avLst/>
          </a:prstGeom>
          <a:ln w="17780">
            <a:solidFill>
              <a:srgbClr val="118774"/>
            </a:solidFill>
          </a:ln>
        </p:spPr>
        <p:style>
          <a:lnRef idx="2">
            <a:schemeClr val="accent1"/>
          </a:lnRef>
          <a:fillRef idx="0">
            <a:schemeClr val="accent1"/>
          </a:fillRef>
          <a:effectRef idx="1">
            <a:schemeClr val="accent1"/>
          </a:effectRef>
          <a:fontRef idx="minor">
            <a:schemeClr val="tx1"/>
          </a:fontRef>
        </p:style>
      </p:cxnSp>
      <p:sp>
        <p:nvSpPr>
          <p:cNvPr id="39" name="Can 38"/>
          <p:cNvSpPr/>
          <p:nvPr/>
        </p:nvSpPr>
        <p:spPr>
          <a:xfrm>
            <a:off x="7534656" y="1764792"/>
            <a:ext cx="1856231" cy="1069848"/>
          </a:xfrm>
          <a:prstGeom prst="can">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71816" y="1993391"/>
            <a:ext cx="1581911" cy="365760"/>
          </a:xfrm>
          <a:prstGeom prst="rect">
            <a:avLst/>
          </a:prstGeom>
          <a:noFill/>
        </p:spPr>
        <p:txBody>
          <a:bodyPr wrap="square" lIns="0" rIns="0" tIns="0" bIns="0">
            <a:spAutoFit/>
          </a:bodyPr>
          <a:lstStyle/>
          <a:p>
            <a:pPr algn="ctr">
              <a:spcBef>
                <a:spcPts val="0"/>
              </a:spcBef>
              <a:spcAft>
                <a:spcPts val="300"/>
              </a:spcAft>
            </a:pPr>
            <a:r>
              <a:rPr sz="1600" b="1">
                <a:solidFill>
                  <a:srgbClr val="321044"/>
                </a:solidFill>
                <a:latin typeface="Montserrat"/>
              </a:rPr>
              <a:t>База</a:t>
            </a:r>
          </a:p>
        </p:txBody>
      </p:sp>
      <p:sp>
        <p:nvSpPr>
          <p:cNvPr id="41" name="TextBox 40"/>
          <p:cNvSpPr txBox="1"/>
          <p:nvPr/>
        </p:nvSpPr>
        <p:spPr>
          <a:xfrm>
            <a:off x="7671816" y="2359152"/>
            <a:ext cx="1581911" cy="402335"/>
          </a:xfrm>
          <a:prstGeom prst="rect">
            <a:avLst/>
          </a:prstGeom>
          <a:noFill/>
        </p:spPr>
        <p:txBody>
          <a:bodyPr wrap="square" lIns="0" rIns="0" tIns="0" bIns="0">
            <a:spAutoFit/>
          </a:bodyPr>
          <a:lstStyle/>
          <a:p>
            <a:pPr algn="ctr">
              <a:spcBef>
                <a:spcPts val="0"/>
              </a:spcBef>
              <a:spcAft>
                <a:spcPts val="300"/>
              </a:spcAft>
            </a:pPr>
            <a:r>
              <a:rPr sz="1150" b="0">
                <a:solidFill>
                  <a:srgbClr val="6C6176"/>
                </a:solidFill>
                <a:latin typeface="Montserrat"/>
              </a:rPr>
              <a:t>Векторы + статистики</a:t>
            </a:r>
          </a:p>
        </p:txBody>
      </p:sp>
      <p:sp>
        <p:nvSpPr>
          <p:cNvPr id="42" name="Rectangle 41"/>
          <p:cNvSpPr/>
          <p:nvPr/>
        </p:nvSpPr>
        <p:spPr>
          <a:xfrm>
            <a:off x="7607808" y="3236976"/>
            <a:ext cx="1737360" cy="102412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26680" y="3383280"/>
            <a:ext cx="1499616" cy="384048"/>
          </a:xfrm>
          <a:prstGeom prst="rect">
            <a:avLst/>
          </a:prstGeom>
          <a:noFill/>
        </p:spPr>
        <p:txBody>
          <a:bodyPr wrap="square" lIns="0" rIns="0" tIns="0" bIns="0">
            <a:spAutoFit/>
          </a:bodyPr>
          <a:lstStyle/>
          <a:p>
            <a:pPr algn="ctr">
              <a:spcBef>
                <a:spcPts val="0"/>
              </a:spcBef>
              <a:spcAft>
                <a:spcPts val="300"/>
              </a:spcAft>
            </a:pPr>
            <a:r>
              <a:rPr sz="1500" b="1">
                <a:solidFill>
                  <a:srgbClr val="321044"/>
                </a:solidFill>
                <a:latin typeface="Montserrat"/>
              </a:rPr>
              <a:t>Поиск top-10</a:t>
            </a:r>
          </a:p>
        </p:txBody>
      </p:sp>
      <p:sp>
        <p:nvSpPr>
          <p:cNvPr id="44" name="TextBox 43"/>
          <p:cNvSpPr txBox="1"/>
          <p:nvPr/>
        </p:nvSpPr>
        <p:spPr>
          <a:xfrm>
            <a:off x="7717536" y="3867912"/>
            <a:ext cx="1517904" cy="347472"/>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Cosine + hub</a:t>
            </a:r>
          </a:p>
        </p:txBody>
      </p:sp>
      <p:cxnSp>
        <p:nvCxnSpPr>
          <p:cNvPr id="45" name="Connector 44"/>
          <p:cNvCxnSpPr/>
          <p:nvPr/>
        </p:nvCxnSpPr>
        <p:spPr>
          <a:xfrm>
            <a:off x="7187184" y="3749039"/>
            <a:ext cx="402336"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467344" y="2880360"/>
            <a:ext cx="0" cy="329184"/>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9784080" y="3236976"/>
            <a:ext cx="1901952" cy="102412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02952" y="3383280"/>
            <a:ext cx="1664208" cy="384048"/>
          </a:xfrm>
          <a:prstGeom prst="rect">
            <a:avLst/>
          </a:prstGeom>
          <a:noFill/>
        </p:spPr>
        <p:txBody>
          <a:bodyPr wrap="square" lIns="0" rIns="0" tIns="0" bIns="0">
            <a:spAutoFit/>
          </a:bodyPr>
          <a:lstStyle/>
          <a:p>
            <a:pPr algn="ctr">
              <a:spcBef>
                <a:spcPts val="0"/>
              </a:spcBef>
              <a:spcAft>
                <a:spcPts val="300"/>
              </a:spcAft>
            </a:pPr>
            <a:r>
              <a:rPr sz="1500" b="1">
                <a:solidFill>
                  <a:srgbClr val="321044"/>
                </a:solidFill>
                <a:latin typeface="Montserrat"/>
              </a:rPr>
              <a:t>Проверка пар</a:t>
            </a:r>
          </a:p>
        </p:txBody>
      </p:sp>
      <p:sp>
        <p:nvSpPr>
          <p:cNvPr id="49" name="TextBox 48"/>
          <p:cNvSpPr txBox="1"/>
          <p:nvPr/>
        </p:nvSpPr>
        <p:spPr>
          <a:xfrm>
            <a:off x="9893807" y="3867912"/>
            <a:ext cx="1682496" cy="347472"/>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DINOv2-S · 392 px</a:t>
            </a:r>
          </a:p>
        </p:txBody>
      </p:sp>
      <p:cxnSp>
        <p:nvCxnSpPr>
          <p:cNvPr id="50" name="Connector 49"/>
          <p:cNvCxnSpPr/>
          <p:nvPr/>
        </p:nvCxnSpPr>
        <p:spPr>
          <a:xfrm>
            <a:off x="9372600" y="3749039"/>
            <a:ext cx="384048"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735056" y="4288536"/>
            <a:ext cx="0" cy="932688"/>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9784080" y="5257800"/>
            <a:ext cx="1901952" cy="64922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902952" y="5404104"/>
            <a:ext cx="1664208" cy="384048"/>
          </a:xfrm>
          <a:prstGeom prst="rect">
            <a:avLst/>
          </a:prstGeom>
          <a:noFill/>
        </p:spPr>
        <p:txBody>
          <a:bodyPr wrap="square" lIns="0" rIns="0" tIns="0" bIns="0">
            <a:spAutoFit/>
          </a:bodyPr>
          <a:lstStyle/>
          <a:p>
            <a:pPr algn="ctr">
              <a:spcBef>
                <a:spcPts val="0"/>
              </a:spcBef>
              <a:spcAft>
                <a:spcPts val="300"/>
              </a:spcAft>
            </a:pPr>
            <a:r>
              <a:rPr sz="1400" b="1">
                <a:solidFill>
                  <a:srgbClr val="321044"/>
                </a:solidFill>
                <a:latin typeface="Montserrat"/>
              </a:rPr>
              <a:t>Порядок top-10</a:t>
            </a:r>
          </a:p>
        </p:txBody>
      </p:sp>
      <p:cxnSp>
        <p:nvCxnSpPr>
          <p:cNvPr id="54" name="Connector 53"/>
          <p:cNvCxnSpPr/>
          <p:nvPr/>
        </p:nvCxnSpPr>
        <p:spPr>
          <a:xfrm flipH="1">
            <a:off x="8567928" y="5586984"/>
            <a:ext cx="1179576"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629400" y="5257800"/>
            <a:ext cx="1901952" cy="64922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48272" y="5404104"/>
            <a:ext cx="1664208" cy="384048"/>
          </a:xfrm>
          <a:prstGeom prst="rect">
            <a:avLst/>
          </a:prstGeom>
          <a:noFill/>
        </p:spPr>
        <p:txBody>
          <a:bodyPr wrap="square" lIns="0" rIns="0" tIns="0" bIns="0">
            <a:spAutoFit/>
          </a:bodyPr>
          <a:lstStyle/>
          <a:p>
            <a:pPr algn="ctr">
              <a:spcBef>
                <a:spcPts val="0"/>
              </a:spcBef>
              <a:spcAft>
                <a:spcPts val="300"/>
              </a:spcAft>
            </a:pPr>
            <a:r>
              <a:rPr sz="1300" b="1">
                <a:solidFill>
                  <a:srgbClr val="321044"/>
                </a:solidFill>
                <a:latin typeface="Montserrat"/>
              </a:rPr>
              <a:t>Уверенность ≥ 6,6</a:t>
            </a:r>
          </a:p>
        </p:txBody>
      </p:sp>
      <p:cxnSp>
        <p:nvCxnSpPr>
          <p:cNvPr id="57" name="Connector 56"/>
          <p:cNvCxnSpPr/>
          <p:nvPr/>
        </p:nvCxnSpPr>
        <p:spPr>
          <a:xfrm flipH="1">
            <a:off x="5907024" y="5586984"/>
            <a:ext cx="676656"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014215" y="5404104"/>
            <a:ext cx="1746504" cy="530352"/>
          </a:xfrm>
          <a:prstGeom prst="rect">
            <a:avLst/>
          </a:prstGeom>
          <a:noFill/>
        </p:spPr>
        <p:txBody>
          <a:bodyPr wrap="square" lIns="0" rIns="0" tIns="0" bIns="0">
            <a:spAutoFit/>
          </a:bodyPr>
          <a:lstStyle/>
          <a:p>
            <a:pPr>
              <a:spcBef>
                <a:spcPts val="0"/>
              </a:spcBef>
              <a:spcAft>
                <a:spcPts val="300"/>
              </a:spcAft>
            </a:pPr>
            <a:r>
              <a:rPr sz="1300" b="1">
                <a:solidFill>
                  <a:srgbClr val="321044"/>
                </a:solidFill>
                <a:latin typeface="Montserrat"/>
              </a:rPr>
              <a:t>Совпадение</a:t>
            </a:r>
          </a:p>
          <a:p>
            <a:pPr>
              <a:spcBef>
                <a:spcPts val="0"/>
              </a:spcBef>
              <a:spcAft>
                <a:spcPts val="300"/>
              </a:spcAft>
            </a:pPr>
            <a:r>
              <a:rPr sz="1300" b="1">
                <a:solidFill>
                  <a:srgbClr val="321044"/>
                </a:solidFill>
                <a:latin typeface="Montserrat"/>
              </a:rPr>
              <a:t>или отказ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КОНСУЛЬТАЦИЯ / 16 ОКТЯБРЯ</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100" b="1">
                <a:solidFill>
                  <a:srgbClr val="321044"/>
                </a:solidFill>
                <a:latin typeface="Montserrat"/>
              </a:rPr>
              <a:t>Что потребовалось улучшить</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ОБРАТНАЯ СВЯЗЬ ЖЮРИ</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10</a:t>
            </a:r>
          </a:p>
        </p:txBody>
      </p:sp>
      <p:sp>
        <p:nvSpPr>
          <p:cNvPr id="13" name="Rectangle 12"/>
          <p:cNvSpPr/>
          <p:nvPr/>
        </p:nvSpPr>
        <p:spPr>
          <a:xfrm>
            <a:off x="502920" y="1984248"/>
            <a:ext cx="11183112" cy="83210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203704"/>
            <a:ext cx="1828800" cy="329184"/>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Порядок</a:t>
            </a:r>
          </a:p>
        </p:txBody>
      </p:sp>
      <p:sp>
        <p:nvSpPr>
          <p:cNvPr id="15" name="TextBox 14"/>
          <p:cNvSpPr txBox="1"/>
          <p:nvPr/>
        </p:nvSpPr>
        <p:spPr>
          <a:xfrm>
            <a:off x="2770632" y="2194560"/>
            <a:ext cx="4005072" cy="429768"/>
          </a:xfrm>
          <a:prstGeom prst="rect">
            <a:avLst/>
          </a:prstGeom>
          <a:noFill/>
        </p:spPr>
        <p:txBody>
          <a:bodyPr wrap="square" lIns="0" rIns="0" tIns="0" bIns="0">
            <a:spAutoFit/>
          </a:bodyPr>
          <a:lstStyle/>
          <a:p>
            <a:pPr>
              <a:spcBef>
                <a:spcPts val="0"/>
              </a:spcBef>
              <a:spcAft>
                <a:spcPts val="300"/>
              </a:spcAft>
            </a:pPr>
            <a:r>
              <a:rPr sz="1600" b="0">
                <a:solidFill>
                  <a:srgbClr val="6C6176"/>
                </a:solidFill>
                <a:latin typeface="Montserrat"/>
              </a:rPr>
              <a:t>Rank-5 ≈95% · Rank-1 ≈81%</a:t>
            </a:r>
          </a:p>
        </p:txBody>
      </p:sp>
      <p:cxnSp>
        <p:nvCxnSpPr>
          <p:cNvPr id="16" name="Connector 15"/>
          <p:cNvCxnSpPr/>
          <p:nvPr/>
        </p:nvCxnSpPr>
        <p:spPr>
          <a:xfrm>
            <a:off x="6986016" y="2414015"/>
            <a:ext cx="475488"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44968" y="2148840"/>
            <a:ext cx="3639312" cy="530352"/>
          </a:xfrm>
          <a:prstGeom prst="rect">
            <a:avLst/>
          </a:prstGeom>
          <a:noFill/>
        </p:spPr>
        <p:txBody>
          <a:bodyPr wrap="square" lIns="0" rIns="0" tIns="0" bIns="0">
            <a:spAutoFit/>
          </a:bodyPr>
          <a:lstStyle/>
          <a:p>
            <a:pPr>
              <a:spcBef>
                <a:spcPts val="0"/>
              </a:spcBef>
              <a:spcAft>
                <a:spcPts val="300"/>
              </a:spcAft>
            </a:pPr>
            <a:r>
              <a:rPr sz="1550" b="1">
                <a:solidFill>
                  <a:srgbClr val="321044"/>
                </a:solidFill>
                <a:latin typeface="Montserrat"/>
              </a:rPr>
              <a:t>Поднять верный ответ внутри top-10</a:t>
            </a:r>
          </a:p>
        </p:txBody>
      </p:sp>
      <p:sp>
        <p:nvSpPr>
          <p:cNvPr id="18" name="Rectangle 17"/>
          <p:cNvSpPr/>
          <p:nvPr/>
        </p:nvSpPr>
        <p:spPr>
          <a:xfrm>
            <a:off x="502920" y="2953512"/>
            <a:ext cx="11183112" cy="83210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172968"/>
            <a:ext cx="1828800" cy="329184"/>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Отказы</a:t>
            </a:r>
          </a:p>
        </p:txBody>
      </p:sp>
      <p:sp>
        <p:nvSpPr>
          <p:cNvPr id="20" name="TextBox 19"/>
          <p:cNvSpPr txBox="1"/>
          <p:nvPr/>
        </p:nvSpPr>
        <p:spPr>
          <a:xfrm>
            <a:off x="2770632" y="3163824"/>
            <a:ext cx="4005072" cy="429768"/>
          </a:xfrm>
          <a:prstGeom prst="rect">
            <a:avLst/>
          </a:prstGeom>
          <a:noFill/>
        </p:spPr>
        <p:txBody>
          <a:bodyPr wrap="square" lIns="0" rIns="0" tIns="0" bIns="0">
            <a:spAutoFit/>
          </a:bodyPr>
          <a:lstStyle/>
          <a:p>
            <a:pPr>
              <a:spcBef>
                <a:spcPts val="0"/>
              </a:spcBef>
              <a:spcAft>
                <a:spcPts val="300"/>
              </a:spcAft>
            </a:pPr>
            <a:r>
              <a:rPr sz="1600" b="0">
                <a:solidFill>
                  <a:srgbClr val="6C6176"/>
                </a:solidFill>
                <a:latin typeface="Montserrat"/>
              </a:rPr>
              <a:t>Recall ≈0,21 · высокий TNR</a:t>
            </a:r>
          </a:p>
        </p:txBody>
      </p:sp>
      <p:cxnSp>
        <p:nvCxnSpPr>
          <p:cNvPr id="21" name="Connector 20"/>
          <p:cNvCxnSpPr/>
          <p:nvPr/>
        </p:nvCxnSpPr>
        <p:spPr>
          <a:xfrm>
            <a:off x="6986016" y="3383280"/>
            <a:ext cx="475488"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44968" y="3118104"/>
            <a:ext cx="3639312" cy="530352"/>
          </a:xfrm>
          <a:prstGeom prst="rect">
            <a:avLst/>
          </a:prstGeom>
          <a:noFill/>
        </p:spPr>
        <p:txBody>
          <a:bodyPr wrap="square" lIns="0" rIns="0" tIns="0" bIns="0">
            <a:spAutoFit/>
          </a:bodyPr>
          <a:lstStyle/>
          <a:p>
            <a:pPr>
              <a:spcBef>
                <a:spcPts val="0"/>
              </a:spcBef>
              <a:spcAft>
                <a:spcPts val="300"/>
              </a:spcAft>
            </a:pPr>
            <a:r>
              <a:rPr sz="1550" b="1">
                <a:solidFill>
                  <a:srgbClr val="321044"/>
                </a:solidFill>
                <a:latin typeface="Montserrat"/>
              </a:rPr>
              <a:t>Проверить confidence и порог</a:t>
            </a:r>
          </a:p>
        </p:txBody>
      </p:sp>
      <p:sp>
        <p:nvSpPr>
          <p:cNvPr id="23" name="Rectangle 22"/>
          <p:cNvSpPr/>
          <p:nvPr/>
        </p:nvSpPr>
        <p:spPr>
          <a:xfrm>
            <a:off x="502920" y="3922776"/>
            <a:ext cx="11183112" cy="83210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4142232"/>
            <a:ext cx="1828800" cy="329184"/>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Скорость</a:t>
            </a:r>
          </a:p>
        </p:txBody>
      </p:sp>
      <p:sp>
        <p:nvSpPr>
          <p:cNvPr id="25" name="TextBox 24"/>
          <p:cNvSpPr txBox="1"/>
          <p:nvPr/>
        </p:nvSpPr>
        <p:spPr>
          <a:xfrm>
            <a:off x="2770632" y="4133088"/>
            <a:ext cx="4005072" cy="429768"/>
          </a:xfrm>
          <a:prstGeom prst="rect">
            <a:avLst/>
          </a:prstGeom>
          <a:noFill/>
        </p:spPr>
        <p:txBody>
          <a:bodyPr wrap="square" lIns="0" rIns="0" tIns="0" bIns="0">
            <a:spAutoFit/>
          </a:bodyPr>
          <a:lstStyle/>
          <a:p>
            <a:pPr>
              <a:spcBef>
                <a:spcPts val="0"/>
              </a:spcBef>
              <a:spcAft>
                <a:spcPts val="300"/>
              </a:spcAft>
            </a:pPr>
            <a:r>
              <a:rPr sz="1600" b="0">
                <a:solidFill>
                  <a:srgbClr val="6C6176"/>
                </a:solidFill>
                <a:latin typeface="Montserrat"/>
              </a:rPr>
              <a:t>Задержка одиночного запроса</a:t>
            </a:r>
          </a:p>
        </p:txBody>
      </p:sp>
      <p:cxnSp>
        <p:nvCxnSpPr>
          <p:cNvPr id="26" name="Connector 25"/>
          <p:cNvCxnSpPr/>
          <p:nvPr/>
        </p:nvCxnSpPr>
        <p:spPr>
          <a:xfrm>
            <a:off x="6986016" y="4352544"/>
            <a:ext cx="475488"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44968" y="4087368"/>
            <a:ext cx="3639312" cy="530352"/>
          </a:xfrm>
          <a:prstGeom prst="rect">
            <a:avLst/>
          </a:prstGeom>
          <a:noFill/>
        </p:spPr>
        <p:txBody>
          <a:bodyPr wrap="square" lIns="0" rIns="0" tIns="0" bIns="0">
            <a:spAutoFit/>
          </a:bodyPr>
          <a:lstStyle/>
          <a:p>
            <a:pPr>
              <a:spcBef>
                <a:spcPts val="0"/>
              </a:spcBef>
              <a:spcAft>
                <a:spcPts val="300"/>
              </a:spcAft>
            </a:pPr>
            <a:r>
              <a:rPr sz="1550" b="1">
                <a:solidFill>
                  <a:srgbClr val="321044"/>
                </a:solidFill>
                <a:latin typeface="Montserrat"/>
              </a:rPr>
              <a:t>Ускорить batch=1 и throughput</a:t>
            </a:r>
          </a:p>
        </p:txBody>
      </p:sp>
      <p:sp>
        <p:nvSpPr>
          <p:cNvPr id="28" name="Rectangle 27"/>
          <p:cNvSpPr/>
          <p:nvPr/>
        </p:nvSpPr>
        <p:spPr>
          <a:xfrm>
            <a:off x="502920" y="4892040"/>
            <a:ext cx="11183112" cy="83210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111496"/>
            <a:ext cx="1828800" cy="329184"/>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Инженерия</a:t>
            </a:r>
          </a:p>
        </p:txBody>
      </p:sp>
      <p:sp>
        <p:nvSpPr>
          <p:cNvPr id="30" name="TextBox 29"/>
          <p:cNvSpPr txBox="1"/>
          <p:nvPr/>
        </p:nvSpPr>
        <p:spPr>
          <a:xfrm>
            <a:off x="2770632" y="5102352"/>
            <a:ext cx="4005072" cy="429768"/>
          </a:xfrm>
          <a:prstGeom prst="rect">
            <a:avLst/>
          </a:prstGeom>
          <a:noFill/>
        </p:spPr>
        <p:txBody>
          <a:bodyPr wrap="square" lIns="0" rIns="0" tIns="0" bIns="0">
            <a:spAutoFit/>
          </a:bodyPr>
          <a:lstStyle/>
          <a:p>
            <a:pPr>
              <a:spcBef>
                <a:spcPts val="0"/>
              </a:spcBef>
              <a:spcAft>
                <a:spcPts val="300"/>
              </a:spcAft>
            </a:pPr>
            <a:r>
              <a:rPr sz="1600" b="0">
                <a:solidFill>
                  <a:srgbClr val="6C6176"/>
                </a:solidFill>
                <a:latin typeface="Montserrat"/>
              </a:rPr>
              <a:t>Логи и зависимости слоёв</a:t>
            </a:r>
          </a:p>
        </p:txBody>
      </p:sp>
      <p:cxnSp>
        <p:nvCxnSpPr>
          <p:cNvPr id="31" name="Connector 30"/>
          <p:cNvCxnSpPr/>
          <p:nvPr/>
        </p:nvCxnSpPr>
        <p:spPr>
          <a:xfrm>
            <a:off x="6986016" y="5321807"/>
            <a:ext cx="475488"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744968" y="5056631"/>
            <a:ext cx="3639312" cy="530352"/>
          </a:xfrm>
          <a:prstGeom prst="rect">
            <a:avLst/>
          </a:prstGeom>
          <a:noFill/>
        </p:spPr>
        <p:txBody>
          <a:bodyPr wrap="square" lIns="0" rIns="0" tIns="0" bIns="0">
            <a:spAutoFit/>
          </a:bodyPr>
          <a:lstStyle/>
          <a:p>
            <a:pPr>
              <a:spcBef>
                <a:spcPts val="0"/>
              </a:spcBef>
              <a:spcAft>
                <a:spcPts val="300"/>
              </a:spcAft>
            </a:pPr>
            <a:r>
              <a:rPr sz="1550" b="1">
                <a:solidFill>
                  <a:srgbClr val="321044"/>
                </a:solidFill>
                <a:latin typeface="Montserrat"/>
              </a:rPr>
              <a:t>Логирование и границы модулей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КАЧЕСТВО / ВАЛИДАЦИЯ</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100" b="1">
                <a:solidFill>
                  <a:srgbClr val="321044"/>
                </a:solidFill>
                <a:latin typeface="Montserrat"/>
              </a:rPr>
              <a:t>Результат доработок D082</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СРАВНЕНИЕ РЕЦЕПТОВ</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11</a:t>
            </a:r>
          </a:p>
        </p:txBody>
      </p:sp>
      <p:sp>
        <p:nvSpPr>
          <p:cNvPr id="13" name="Rectangle 12"/>
          <p:cNvSpPr/>
          <p:nvPr/>
        </p:nvSpPr>
        <p:spPr>
          <a:xfrm>
            <a:off x="502920" y="1947672"/>
            <a:ext cx="11183112" cy="55778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121408"/>
            <a:ext cx="2377440" cy="265176"/>
          </a:xfrm>
          <a:prstGeom prst="rect">
            <a:avLst/>
          </a:prstGeom>
          <a:noFill/>
        </p:spPr>
        <p:txBody>
          <a:bodyPr wrap="square" lIns="0" rIns="0" tIns="0" bIns="0">
            <a:spAutoFit/>
          </a:bodyPr>
          <a:lstStyle/>
          <a:p>
            <a:pPr>
              <a:spcBef>
                <a:spcPts val="0"/>
              </a:spcBef>
              <a:spcAft>
                <a:spcPts val="300"/>
              </a:spcAft>
            </a:pPr>
            <a:r>
              <a:rPr sz="1400" b="1">
                <a:solidFill>
                  <a:srgbClr val="321044"/>
                </a:solidFill>
                <a:latin typeface="Montserrat"/>
              </a:rPr>
              <a:t>Метрика</a:t>
            </a:r>
          </a:p>
        </p:txBody>
      </p:sp>
      <p:sp>
        <p:nvSpPr>
          <p:cNvPr id="15" name="TextBox 14"/>
          <p:cNvSpPr txBox="1"/>
          <p:nvPr/>
        </p:nvSpPr>
        <p:spPr>
          <a:xfrm>
            <a:off x="3657600" y="2121408"/>
            <a:ext cx="2432304" cy="265176"/>
          </a:xfrm>
          <a:prstGeom prst="rect">
            <a:avLst/>
          </a:prstGeom>
          <a:noFill/>
        </p:spPr>
        <p:txBody>
          <a:bodyPr wrap="square" lIns="0" rIns="0" tIns="0" bIns="0">
            <a:spAutoFit/>
          </a:bodyPr>
          <a:lstStyle/>
          <a:p>
            <a:pPr>
              <a:spcBef>
                <a:spcPts val="0"/>
              </a:spcBef>
              <a:spcAft>
                <a:spcPts val="300"/>
              </a:spcAft>
            </a:pPr>
            <a:r>
              <a:rPr sz="1400" b="1">
                <a:solidFill>
                  <a:srgbClr val="321044"/>
                </a:solidFill>
                <a:latin typeface="Montserrat"/>
              </a:rPr>
              <a:t>Базовый рецепт</a:t>
            </a:r>
          </a:p>
        </p:txBody>
      </p:sp>
      <p:sp>
        <p:nvSpPr>
          <p:cNvPr id="16" name="TextBox 15"/>
          <p:cNvSpPr txBox="1"/>
          <p:nvPr/>
        </p:nvSpPr>
        <p:spPr>
          <a:xfrm>
            <a:off x="6437376" y="2121408"/>
            <a:ext cx="2048256" cy="265176"/>
          </a:xfrm>
          <a:prstGeom prst="rect">
            <a:avLst/>
          </a:prstGeom>
          <a:noFill/>
        </p:spPr>
        <p:txBody>
          <a:bodyPr wrap="square" lIns="0" rIns="0" tIns="0" bIns="0">
            <a:spAutoFit/>
          </a:bodyPr>
          <a:lstStyle/>
          <a:p>
            <a:pPr>
              <a:spcBef>
                <a:spcPts val="0"/>
              </a:spcBef>
              <a:spcAft>
                <a:spcPts val="300"/>
              </a:spcAft>
            </a:pPr>
            <a:r>
              <a:rPr sz="1400" b="1">
                <a:solidFill>
                  <a:srgbClr val="321044"/>
                </a:solidFill>
                <a:latin typeface="Montserrat"/>
              </a:rPr>
              <a:t>D082</a:t>
            </a:r>
          </a:p>
        </p:txBody>
      </p:sp>
      <p:sp>
        <p:nvSpPr>
          <p:cNvPr id="17" name="TextBox 16"/>
          <p:cNvSpPr txBox="1"/>
          <p:nvPr/>
        </p:nvSpPr>
        <p:spPr>
          <a:xfrm>
            <a:off x="9299448" y="2121408"/>
            <a:ext cx="2139696" cy="265176"/>
          </a:xfrm>
          <a:prstGeom prst="rect">
            <a:avLst/>
          </a:prstGeom>
          <a:noFill/>
        </p:spPr>
        <p:txBody>
          <a:bodyPr wrap="square" lIns="0" rIns="0" tIns="0" bIns="0">
            <a:spAutoFit/>
          </a:bodyPr>
          <a:lstStyle/>
          <a:p>
            <a:pPr>
              <a:spcBef>
                <a:spcPts val="0"/>
              </a:spcBef>
              <a:spcAft>
                <a:spcPts val="300"/>
              </a:spcAft>
            </a:pPr>
            <a:r>
              <a:rPr sz="1400" b="1">
                <a:solidFill>
                  <a:srgbClr val="321044"/>
                </a:solidFill>
                <a:latin typeface="Montserrat"/>
              </a:rPr>
              <a:t>Изменение</a:t>
            </a:r>
          </a:p>
        </p:txBody>
      </p:sp>
      <p:sp>
        <p:nvSpPr>
          <p:cNvPr id="18" name="Rectangle 17"/>
          <p:cNvSpPr/>
          <p:nvPr/>
        </p:nvSpPr>
        <p:spPr>
          <a:xfrm>
            <a:off x="502920" y="2706624"/>
            <a:ext cx="11183112" cy="74066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807208"/>
            <a:ext cx="2194560" cy="502920"/>
          </a:xfrm>
          <a:prstGeom prst="rect">
            <a:avLst/>
          </a:prstGeom>
          <a:noFill/>
        </p:spPr>
        <p:txBody>
          <a:bodyPr wrap="square" lIns="0" rIns="0" tIns="0" bIns="0">
            <a:spAutoFit/>
          </a:bodyPr>
          <a:lstStyle/>
          <a:p>
            <a:pPr>
              <a:spcBef>
                <a:spcPts val="0"/>
              </a:spcBef>
              <a:spcAft>
                <a:spcPts val="300"/>
              </a:spcAft>
            </a:pPr>
            <a:r>
              <a:rPr sz="2500" b="1">
                <a:solidFill>
                  <a:srgbClr val="321044"/>
                </a:solidFill>
                <a:latin typeface="Montserrat"/>
              </a:rPr>
              <a:t>mAP@10</a:t>
            </a:r>
          </a:p>
        </p:txBody>
      </p:sp>
      <p:sp>
        <p:nvSpPr>
          <p:cNvPr id="20" name="TextBox 19"/>
          <p:cNvSpPr txBox="1"/>
          <p:nvPr/>
        </p:nvSpPr>
        <p:spPr>
          <a:xfrm>
            <a:off x="3657600" y="2807208"/>
            <a:ext cx="2432304" cy="502920"/>
          </a:xfrm>
          <a:prstGeom prst="rect">
            <a:avLst/>
          </a:prstGeom>
          <a:noFill/>
        </p:spPr>
        <p:txBody>
          <a:bodyPr wrap="square" lIns="0" rIns="0" tIns="0" bIns="0">
            <a:spAutoFit/>
          </a:bodyPr>
          <a:lstStyle/>
          <a:p>
            <a:pPr>
              <a:spcBef>
                <a:spcPts val="0"/>
              </a:spcBef>
              <a:spcAft>
                <a:spcPts val="300"/>
              </a:spcAft>
            </a:pPr>
            <a:r>
              <a:rPr sz="2500" b="0">
                <a:solidFill>
                  <a:srgbClr val="6C6176"/>
                </a:solidFill>
                <a:latin typeface="Montserrat"/>
              </a:rPr>
              <a:t>84,60%</a:t>
            </a:r>
          </a:p>
        </p:txBody>
      </p:sp>
      <p:sp>
        <p:nvSpPr>
          <p:cNvPr id="21" name="TextBox 20"/>
          <p:cNvSpPr txBox="1"/>
          <p:nvPr/>
        </p:nvSpPr>
        <p:spPr>
          <a:xfrm>
            <a:off x="6437376" y="2807208"/>
            <a:ext cx="2048256" cy="502920"/>
          </a:xfrm>
          <a:prstGeom prst="rect">
            <a:avLst/>
          </a:prstGeom>
          <a:noFill/>
        </p:spPr>
        <p:txBody>
          <a:bodyPr wrap="square" lIns="0" rIns="0" tIns="0" bIns="0">
            <a:spAutoFit/>
          </a:bodyPr>
          <a:lstStyle/>
          <a:p>
            <a:pPr>
              <a:spcBef>
                <a:spcPts val="0"/>
              </a:spcBef>
              <a:spcAft>
                <a:spcPts val="300"/>
              </a:spcAft>
            </a:pPr>
            <a:r>
              <a:rPr sz="2500" b="1">
                <a:solidFill>
                  <a:srgbClr val="321044"/>
                </a:solidFill>
                <a:latin typeface="Montserrat"/>
              </a:rPr>
              <a:t>85,22%</a:t>
            </a:r>
          </a:p>
        </p:txBody>
      </p:sp>
      <p:sp>
        <p:nvSpPr>
          <p:cNvPr id="22" name="TextBox 21"/>
          <p:cNvSpPr txBox="1"/>
          <p:nvPr/>
        </p:nvSpPr>
        <p:spPr>
          <a:xfrm>
            <a:off x="9299448" y="2862072"/>
            <a:ext cx="2139696" cy="448056"/>
          </a:xfrm>
          <a:prstGeom prst="rect">
            <a:avLst/>
          </a:prstGeom>
          <a:noFill/>
        </p:spPr>
        <p:txBody>
          <a:bodyPr wrap="square" lIns="0" rIns="0" tIns="0" bIns="0">
            <a:spAutoFit/>
          </a:bodyPr>
          <a:lstStyle/>
          <a:p>
            <a:pPr>
              <a:spcBef>
                <a:spcPts val="0"/>
              </a:spcBef>
              <a:spcAft>
                <a:spcPts val="300"/>
              </a:spcAft>
            </a:pPr>
            <a:r>
              <a:rPr sz="2100" b="1">
                <a:solidFill>
                  <a:srgbClr val="FF005B"/>
                </a:solidFill>
                <a:latin typeface="Montserrat"/>
              </a:rPr>
              <a:t>+0,62 п.п.</a:t>
            </a:r>
          </a:p>
        </p:txBody>
      </p:sp>
      <p:cxnSp>
        <p:nvCxnSpPr>
          <p:cNvPr id="23" name="Connector 22"/>
          <p:cNvCxnSpPr/>
          <p:nvPr/>
        </p:nvCxnSpPr>
        <p:spPr>
          <a:xfrm>
            <a:off x="502920" y="3529584"/>
            <a:ext cx="11183112" cy="0"/>
          </a:xfrm>
          <a:prstGeom prst="line">
            <a:avLst/>
          </a:prstGeom>
          <a:ln w="10160">
            <a:solidFill>
              <a:srgbClr val="DED5E6"/>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02920" y="3657599"/>
            <a:ext cx="11183112" cy="74066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3758183"/>
            <a:ext cx="2194560" cy="502920"/>
          </a:xfrm>
          <a:prstGeom prst="rect">
            <a:avLst/>
          </a:prstGeom>
          <a:noFill/>
        </p:spPr>
        <p:txBody>
          <a:bodyPr wrap="square" lIns="0" rIns="0" tIns="0" bIns="0">
            <a:spAutoFit/>
          </a:bodyPr>
          <a:lstStyle/>
          <a:p>
            <a:pPr>
              <a:spcBef>
                <a:spcPts val="0"/>
              </a:spcBef>
              <a:spcAft>
                <a:spcPts val="300"/>
              </a:spcAft>
            </a:pPr>
            <a:r>
              <a:rPr sz="2500" b="1">
                <a:solidFill>
                  <a:srgbClr val="321044"/>
                </a:solidFill>
                <a:latin typeface="Montserrat"/>
              </a:rPr>
              <a:t>Rank-1</a:t>
            </a:r>
          </a:p>
        </p:txBody>
      </p:sp>
      <p:sp>
        <p:nvSpPr>
          <p:cNvPr id="26" name="TextBox 25"/>
          <p:cNvSpPr txBox="1"/>
          <p:nvPr/>
        </p:nvSpPr>
        <p:spPr>
          <a:xfrm>
            <a:off x="3657600" y="3758183"/>
            <a:ext cx="2432304" cy="502920"/>
          </a:xfrm>
          <a:prstGeom prst="rect">
            <a:avLst/>
          </a:prstGeom>
          <a:noFill/>
        </p:spPr>
        <p:txBody>
          <a:bodyPr wrap="square" lIns="0" rIns="0" tIns="0" bIns="0">
            <a:spAutoFit/>
          </a:bodyPr>
          <a:lstStyle/>
          <a:p>
            <a:pPr>
              <a:spcBef>
                <a:spcPts val="0"/>
              </a:spcBef>
              <a:spcAft>
                <a:spcPts val="300"/>
              </a:spcAft>
            </a:pPr>
            <a:r>
              <a:rPr sz="2500" b="0">
                <a:solidFill>
                  <a:srgbClr val="6C6176"/>
                </a:solidFill>
                <a:latin typeface="Montserrat"/>
              </a:rPr>
              <a:t>81,60%</a:t>
            </a:r>
          </a:p>
        </p:txBody>
      </p:sp>
      <p:sp>
        <p:nvSpPr>
          <p:cNvPr id="27" name="TextBox 26"/>
          <p:cNvSpPr txBox="1"/>
          <p:nvPr/>
        </p:nvSpPr>
        <p:spPr>
          <a:xfrm>
            <a:off x="6437376" y="3758183"/>
            <a:ext cx="2048256" cy="502920"/>
          </a:xfrm>
          <a:prstGeom prst="rect">
            <a:avLst/>
          </a:prstGeom>
          <a:noFill/>
        </p:spPr>
        <p:txBody>
          <a:bodyPr wrap="square" lIns="0" rIns="0" tIns="0" bIns="0">
            <a:spAutoFit/>
          </a:bodyPr>
          <a:lstStyle/>
          <a:p>
            <a:pPr>
              <a:spcBef>
                <a:spcPts val="0"/>
              </a:spcBef>
              <a:spcAft>
                <a:spcPts val="300"/>
              </a:spcAft>
            </a:pPr>
            <a:r>
              <a:rPr sz="2500" b="1">
                <a:solidFill>
                  <a:srgbClr val="321044"/>
                </a:solidFill>
                <a:latin typeface="Montserrat"/>
              </a:rPr>
              <a:t>82,34%</a:t>
            </a:r>
          </a:p>
        </p:txBody>
      </p:sp>
      <p:sp>
        <p:nvSpPr>
          <p:cNvPr id="28" name="TextBox 27"/>
          <p:cNvSpPr txBox="1"/>
          <p:nvPr/>
        </p:nvSpPr>
        <p:spPr>
          <a:xfrm>
            <a:off x="9299448" y="3813047"/>
            <a:ext cx="2139696" cy="448056"/>
          </a:xfrm>
          <a:prstGeom prst="rect">
            <a:avLst/>
          </a:prstGeom>
          <a:noFill/>
        </p:spPr>
        <p:txBody>
          <a:bodyPr wrap="square" lIns="0" rIns="0" tIns="0" bIns="0">
            <a:spAutoFit/>
          </a:bodyPr>
          <a:lstStyle/>
          <a:p>
            <a:pPr>
              <a:spcBef>
                <a:spcPts val="0"/>
              </a:spcBef>
              <a:spcAft>
                <a:spcPts val="300"/>
              </a:spcAft>
            </a:pPr>
            <a:r>
              <a:rPr sz="2100" b="1">
                <a:solidFill>
                  <a:srgbClr val="FF005B"/>
                </a:solidFill>
                <a:latin typeface="Montserrat"/>
              </a:rPr>
              <a:t>+0,74 п.п.</a:t>
            </a:r>
          </a:p>
        </p:txBody>
      </p:sp>
      <p:cxnSp>
        <p:nvCxnSpPr>
          <p:cNvPr id="29" name="Connector 28"/>
          <p:cNvCxnSpPr/>
          <p:nvPr/>
        </p:nvCxnSpPr>
        <p:spPr>
          <a:xfrm>
            <a:off x="502920" y="4480559"/>
            <a:ext cx="11183112" cy="0"/>
          </a:xfrm>
          <a:prstGeom prst="line">
            <a:avLst/>
          </a:prstGeom>
          <a:ln w="10160">
            <a:solidFill>
              <a:srgbClr val="DED5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 y="4709160"/>
            <a:ext cx="2194560" cy="502920"/>
          </a:xfrm>
          <a:prstGeom prst="rect">
            <a:avLst/>
          </a:prstGeom>
          <a:noFill/>
        </p:spPr>
        <p:txBody>
          <a:bodyPr wrap="square" lIns="0" rIns="0" tIns="0" bIns="0">
            <a:spAutoFit/>
          </a:bodyPr>
          <a:lstStyle/>
          <a:p>
            <a:pPr>
              <a:spcBef>
                <a:spcPts val="0"/>
              </a:spcBef>
              <a:spcAft>
                <a:spcPts val="300"/>
              </a:spcAft>
            </a:pPr>
            <a:r>
              <a:rPr sz="2500" b="1">
                <a:solidFill>
                  <a:srgbClr val="321044"/>
                </a:solidFill>
                <a:latin typeface="Montserrat"/>
              </a:rPr>
              <a:t>Rank-5</a:t>
            </a:r>
          </a:p>
        </p:txBody>
      </p:sp>
      <p:sp>
        <p:nvSpPr>
          <p:cNvPr id="31" name="TextBox 30"/>
          <p:cNvSpPr txBox="1"/>
          <p:nvPr/>
        </p:nvSpPr>
        <p:spPr>
          <a:xfrm>
            <a:off x="3657600" y="4709160"/>
            <a:ext cx="2432304" cy="502920"/>
          </a:xfrm>
          <a:prstGeom prst="rect">
            <a:avLst/>
          </a:prstGeom>
          <a:noFill/>
        </p:spPr>
        <p:txBody>
          <a:bodyPr wrap="square" lIns="0" rIns="0" tIns="0" bIns="0">
            <a:spAutoFit/>
          </a:bodyPr>
          <a:lstStyle/>
          <a:p>
            <a:pPr>
              <a:spcBef>
                <a:spcPts val="0"/>
              </a:spcBef>
              <a:spcAft>
                <a:spcPts val="300"/>
              </a:spcAft>
            </a:pPr>
            <a:r>
              <a:rPr sz="2500" b="0">
                <a:solidFill>
                  <a:srgbClr val="6C6176"/>
                </a:solidFill>
                <a:latin typeface="Montserrat"/>
              </a:rPr>
              <a:t>94,95%</a:t>
            </a:r>
          </a:p>
        </p:txBody>
      </p:sp>
      <p:sp>
        <p:nvSpPr>
          <p:cNvPr id="32" name="TextBox 31"/>
          <p:cNvSpPr txBox="1"/>
          <p:nvPr/>
        </p:nvSpPr>
        <p:spPr>
          <a:xfrm>
            <a:off x="6437376" y="4709160"/>
            <a:ext cx="2048256" cy="502920"/>
          </a:xfrm>
          <a:prstGeom prst="rect">
            <a:avLst/>
          </a:prstGeom>
          <a:noFill/>
        </p:spPr>
        <p:txBody>
          <a:bodyPr wrap="square" lIns="0" rIns="0" tIns="0" bIns="0">
            <a:spAutoFit/>
          </a:bodyPr>
          <a:lstStyle/>
          <a:p>
            <a:pPr>
              <a:spcBef>
                <a:spcPts val="0"/>
              </a:spcBef>
              <a:spcAft>
                <a:spcPts val="300"/>
              </a:spcAft>
            </a:pPr>
            <a:r>
              <a:rPr sz="2500" b="1">
                <a:solidFill>
                  <a:srgbClr val="321044"/>
                </a:solidFill>
                <a:latin typeface="Montserrat"/>
              </a:rPr>
              <a:t>94,92%</a:t>
            </a:r>
          </a:p>
        </p:txBody>
      </p:sp>
      <p:sp>
        <p:nvSpPr>
          <p:cNvPr id="33" name="TextBox 32"/>
          <p:cNvSpPr txBox="1"/>
          <p:nvPr/>
        </p:nvSpPr>
        <p:spPr>
          <a:xfrm>
            <a:off x="9299448" y="4764024"/>
            <a:ext cx="2139696" cy="448056"/>
          </a:xfrm>
          <a:prstGeom prst="rect">
            <a:avLst/>
          </a:prstGeom>
          <a:noFill/>
        </p:spPr>
        <p:txBody>
          <a:bodyPr wrap="square" lIns="0" rIns="0" tIns="0" bIns="0">
            <a:spAutoFit/>
          </a:bodyPr>
          <a:lstStyle/>
          <a:p>
            <a:pPr>
              <a:spcBef>
                <a:spcPts val="0"/>
              </a:spcBef>
              <a:spcAft>
                <a:spcPts val="300"/>
              </a:spcAft>
            </a:pPr>
            <a:r>
              <a:rPr sz="1900" b="1">
                <a:solidFill>
                  <a:srgbClr val="6C6176"/>
                </a:solidFill>
                <a:latin typeface="Montserrat"/>
              </a:rPr>
              <a:t>−0,03 п.п.</a:t>
            </a:r>
          </a:p>
        </p:txBody>
      </p:sp>
      <p:cxnSp>
        <p:nvCxnSpPr>
          <p:cNvPr id="34" name="Connector 33"/>
          <p:cNvCxnSpPr/>
          <p:nvPr/>
        </p:nvCxnSpPr>
        <p:spPr>
          <a:xfrm>
            <a:off x="502920" y="5431536"/>
            <a:ext cx="11183112" cy="0"/>
          </a:xfrm>
          <a:prstGeom prst="line">
            <a:avLst/>
          </a:prstGeom>
          <a:ln w="10160">
            <a:solidFill>
              <a:srgbClr val="DED5E6"/>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02920" y="5705856"/>
            <a:ext cx="11064240" cy="420624"/>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Rank-5 почти не изменился; прирост — на первых позициях выдачи.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ПОСЛЕ ДОРАБОТОК / D082</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000" b="1">
                <a:solidFill>
                  <a:srgbClr val="321044"/>
                </a:solidFill>
                <a:latin typeface="Montserrat"/>
              </a:rPr>
              <a:t>Граф добавлен к поиску и проверке пар</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АРХИТЕКТУРА</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12</a:t>
            </a:r>
          </a:p>
        </p:txBody>
      </p:sp>
      <p:sp>
        <p:nvSpPr>
          <p:cNvPr id="13" name="Rectangle 12"/>
          <p:cNvSpPr/>
          <p:nvPr/>
        </p:nvSpPr>
        <p:spPr>
          <a:xfrm>
            <a:off x="502920" y="3008376"/>
            <a:ext cx="1106424" cy="9235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r-0.png"/>
          <p:cNvPicPr>
            <a:picLocks noChangeAspect="1"/>
          </p:cNvPicPr>
          <p:nvPr/>
        </p:nvPicPr>
        <p:blipFill>
          <a:blip r:embed="rId2"/>
          <a:stretch>
            <a:fillRect/>
          </a:stretch>
        </p:blipFill>
        <p:spPr>
          <a:xfrm>
            <a:off x="502920" y="3058455"/>
            <a:ext cx="1106424" cy="823385"/>
          </a:xfrm>
          <a:prstGeom prst="rect">
            <a:avLst/>
          </a:prstGeom>
        </p:spPr>
      </p:pic>
      <p:sp>
        <p:nvSpPr>
          <p:cNvPr id="15" name="TextBox 14"/>
          <p:cNvSpPr txBox="1"/>
          <p:nvPr/>
        </p:nvSpPr>
        <p:spPr>
          <a:xfrm>
            <a:off x="502920" y="4142232"/>
            <a:ext cx="1106424" cy="256032"/>
          </a:xfrm>
          <a:prstGeom prst="rect">
            <a:avLst/>
          </a:prstGeom>
          <a:noFill/>
        </p:spPr>
        <p:txBody>
          <a:bodyPr wrap="square" lIns="0" rIns="0" tIns="0" bIns="0">
            <a:spAutoFit/>
          </a:bodyPr>
          <a:lstStyle/>
          <a:p>
            <a:pPr algn="ctr">
              <a:spcBef>
                <a:spcPts val="0"/>
              </a:spcBef>
              <a:spcAft>
                <a:spcPts val="300"/>
              </a:spcAft>
            </a:pPr>
            <a:r>
              <a:rPr sz="1200" b="1">
                <a:solidFill>
                  <a:srgbClr val="321044"/>
                </a:solidFill>
                <a:latin typeface="Montserrat"/>
              </a:rPr>
              <a:t>Запрос</a:t>
            </a:r>
          </a:p>
        </p:txBody>
      </p:sp>
      <p:sp>
        <p:nvSpPr>
          <p:cNvPr id="16" name="Rectangle 15"/>
          <p:cNvSpPr/>
          <p:nvPr/>
        </p:nvSpPr>
        <p:spPr>
          <a:xfrm>
            <a:off x="2002536" y="2944368"/>
            <a:ext cx="1828800" cy="102412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21408" y="3090672"/>
            <a:ext cx="1591056" cy="384048"/>
          </a:xfrm>
          <a:prstGeom prst="rect">
            <a:avLst/>
          </a:prstGeom>
          <a:noFill/>
        </p:spPr>
        <p:txBody>
          <a:bodyPr wrap="square" lIns="0" rIns="0" tIns="0" bIns="0">
            <a:spAutoFit/>
          </a:bodyPr>
          <a:lstStyle/>
          <a:p>
            <a:pPr algn="ctr">
              <a:spcBef>
                <a:spcPts val="0"/>
              </a:spcBef>
              <a:spcAft>
                <a:spcPts val="300"/>
              </a:spcAft>
            </a:pPr>
            <a:r>
              <a:rPr sz="1500" b="1">
                <a:solidFill>
                  <a:srgbClr val="321044"/>
                </a:solidFill>
                <a:latin typeface="Montserrat"/>
              </a:rPr>
              <a:t>DINO + CLIP</a:t>
            </a:r>
          </a:p>
        </p:txBody>
      </p:sp>
      <p:sp>
        <p:nvSpPr>
          <p:cNvPr id="18" name="TextBox 17"/>
          <p:cNvSpPr txBox="1"/>
          <p:nvPr/>
        </p:nvSpPr>
        <p:spPr>
          <a:xfrm>
            <a:off x="2112264" y="3575304"/>
            <a:ext cx="1609344" cy="347472"/>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392 / 288 px</a:t>
            </a:r>
          </a:p>
        </p:txBody>
      </p:sp>
      <p:cxnSp>
        <p:nvCxnSpPr>
          <p:cNvPr id="19" name="Connector 18"/>
          <p:cNvCxnSpPr/>
          <p:nvPr/>
        </p:nvCxnSpPr>
        <p:spPr>
          <a:xfrm>
            <a:off x="1636776" y="3465576"/>
            <a:ext cx="338328"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279392" y="2944368"/>
            <a:ext cx="1746504" cy="102412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8264" y="3090672"/>
            <a:ext cx="1508760" cy="384048"/>
          </a:xfrm>
          <a:prstGeom prst="rect">
            <a:avLst/>
          </a:prstGeom>
          <a:noFill/>
        </p:spPr>
        <p:txBody>
          <a:bodyPr wrap="square" lIns="0" rIns="0" tIns="0" bIns="0">
            <a:spAutoFit/>
          </a:bodyPr>
          <a:lstStyle/>
          <a:p>
            <a:pPr algn="ctr">
              <a:spcBef>
                <a:spcPts val="0"/>
              </a:spcBef>
              <a:spcAft>
                <a:spcPts val="300"/>
              </a:spcAft>
            </a:pPr>
            <a:r>
              <a:rPr sz="1600" b="1">
                <a:solidFill>
                  <a:srgbClr val="321044"/>
                </a:solidFill>
                <a:latin typeface="Montserrat"/>
              </a:rPr>
              <a:t>Поиск</a:t>
            </a:r>
          </a:p>
        </p:txBody>
      </p:sp>
      <p:sp>
        <p:nvSpPr>
          <p:cNvPr id="22" name="TextBox 21"/>
          <p:cNvSpPr txBox="1"/>
          <p:nvPr/>
        </p:nvSpPr>
        <p:spPr>
          <a:xfrm>
            <a:off x="4389120" y="3575304"/>
            <a:ext cx="1527048" cy="347472"/>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10 кандидатов</a:t>
            </a:r>
          </a:p>
        </p:txBody>
      </p:sp>
      <p:cxnSp>
        <p:nvCxnSpPr>
          <p:cNvPr id="23" name="Connector 22"/>
          <p:cNvCxnSpPr/>
          <p:nvPr/>
        </p:nvCxnSpPr>
        <p:spPr>
          <a:xfrm>
            <a:off x="3858768" y="3465576"/>
            <a:ext cx="393192"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Can 23"/>
          <p:cNvSpPr/>
          <p:nvPr/>
        </p:nvSpPr>
        <p:spPr>
          <a:xfrm>
            <a:off x="3977639" y="5074920"/>
            <a:ext cx="2331720" cy="1005840"/>
          </a:xfrm>
          <a:prstGeom prst="can">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0" y="5303520"/>
            <a:ext cx="2057400" cy="365760"/>
          </a:xfrm>
          <a:prstGeom prst="rect">
            <a:avLst/>
          </a:prstGeom>
          <a:noFill/>
        </p:spPr>
        <p:txBody>
          <a:bodyPr wrap="square" lIns="0" rIns="0" tIns="0" bIns="0">
            <a:spAutoFit/>
          </a:bodyPr>
          <a:lstStyle/>
          <a:p>
            <a:pPr algn="ctr">
              <a:spcBef>
                <a:spcPts val="0"/>
              </a:spcBef>
              <a:spcAft>
                <a:spcPts val="300"/>
              </a:spcAft>
            </a:pPr>
            <a:r>
              <a:rPr sz="1600" b="1">
                <a:solidFill>
                  <a:srgbClr val="321044"/>
                </a:solidFill>
                <a:latin typeface="Montserrat"/>
              </a:rPr>
              <a:t>База</a:t>
            </a:r>
          </a:p>
        </p:txBody>
      </p:sp>
      <p:sp>
        <p:nvSpPr>
          <p:cNvPr id="26" name="TextBox 25"/>
          <p:cNvSpPr txBox="1"/>
          <p:nvPr/>
        </p:nvSpPr>
        <p:spPr>
          <a:xfrm>
            <a:off x="4114800" y="5669280"/>
            <a:ext cx="2057400" cy="338328"/>
          </a:xfrm>
          <a:prstGeom prst="rect">
            <a:avLst/>
          </a:prstGeom>
          <a:noFill/>
        </p:spPr>
        <p:txBody>
          <a:bodyPr wrap="square" lIns="0" rIns="0" tIns="0" bIns="0">
            <a:spAutoFit/>
          </a:bodyPr>
          <a:lstStyle/>
          <a:p>
            <a:pPr algn="ctr">
              <a:spcBef>
                <a:spcPts val="0"/>
              </a:spcBef>
              <a:spcAft>
                <a:spcPts val="300"/>
              </a:spcAft>
            </a:pPr>
            <a:r>
              <a:rPr sz="1150" b="0">
                <a:solidFill>
                  <a:srgbClr val="6C6176"/>
                </a:solidFill>
                <a:latin typeface="Montserrat"/>
              </a:rPr>
              <a:t>Векторы / фото</a:t>
            </a:r>
          </a:p>
        </p:txBody>
      </p:sp>
      <p:cxnSp>
        <p:nvCxnSpPr>
          <p:cNvPr id="27" name="Connector 26"/>
          <p:cNvCxnSpPr/>
          <p:nvPr/>
        </p:nvCxnSpPr>
        <p:spPr>
          <a:xfrm flipV="1">
            <a:off x="5157216" y="3995928"/>
            <a:ext cx="0" cy="105156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6528816" y="2322576"/>
            <a:ext cx="2066543" cy="1005840"/>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47688" y="2468880"/>
            <a:ext cx="1828799" cy="384048"/>
          </a:xfrm>
          <a:prstGeom prst="rect">
            <a:avLst/>
          </a:prstGeom>
          <a:noFill/>
        </p:spPr>
        <p:txBody>
          <a:bodyPr wrap="square" lIns="0" rIns="0" tIns="0" bIns="0">
            <a:spAutoFit/>
          </a:bodyPr>
          <a:lstStyle/>
          <a:p>
            <a:pPr algn="ctr">
              <a:spcBef>
                <a:spcPts val="0"/>
              </a:spcBef>
              <a:spcAft>
                <a:spcPts val="300"/>
              </a:spcAft>
            </a:pPr>
            <a:r>
              <a:rPr sz="1500" b="1">
                <a:solidFill>
                  <a:srgbClr val="321044"/>
                </a:solidFill>
                <a:latin typeface="Montserrat"/>
              </a:rPr>
              <a:t>Проверка пар</a:t>
            </a:r>
          </a:p>
        </p:txBody>
      </p:sp>
      <p:sp>
        <p:nvSpPr>
          <p:cNvPr id="30" name="TextBox 29"/>
          <p:cNvSpPr txBox="1"/>
          <p:nvPr/>
        </p:nvSpPr>
        <p:spPr>
          <a:xfrm>
            <a:off x="6638544" y="2953512"/>
            <a:ext cx="1847087" cy="329184"/>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Снимки каждой пары</a:t>
            </a:r>
          </a:p>
        </p:txBody>
      </p:sp>
      <p:sp>
        <p:nvSpPr>
          <p:cNvPr id="31" name="Rectangle 30"/>
          <p:cNvSpPr/>
          <p:nvPr/>
        </p:nvSpPr>
        <p:spPr>
          <a:xfrm>
            <a:off x="6528816" y="4078224"/>
            <a:ext cx="2066543" cy="1005840"/>
          </a:xfrm>
          <a:prstGeom prst="rect">
            <a:avLst/>
          </a:prstGeom>
          <a:solidFill>
            <a:srgbClr val="321044"/>
          </a:solidFill>
          <a:ln w="10160">
            <a:solidFill>
              <a:srgbClr val="FF0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7688" y="4224528"/>
            <a:ext cx="1828799" cy="384048"/>
          </a:xfrm>
          <a:prstGeom prst="rect">
            <a:avLst/>
          </a:prstGeom>
          <a:noFill/>
        </p:spPr>
        <p:txBody>
          <a:bodyPr wrap="square" lIns="0" rIns="0" tIns="0" bIns="0">
            <a:spAutoFit/>
          </a:bodyPr>
          <a:lstStyle/>
          <a:p>
            <a:pPr algn="ctr">
              <a:spcBef>
                <a:spcPts val="0"/>
              </a:spcBef>
              <a:spcAft>
                <a:spcPts val="300"/>
              </a:spcAft>
            </a:pPr>
            <a:r>
              <a:rPr sz="1600" b="1">
                <a:solidFill>
                  <a:srgbClr val="FFFFFF"/>
                </a:solidFill>
                <a:latin typeface="Montserrat"/>
              </a:rPr>
              <a:t>Граф top-10</a:t>
            </a:r>
          </a:p>
        </p:txBody>
      </p:sp>
      <p:sp>
        <p:nvSpPr>
          <p:cNvPr id="33" name="TextBox 32"/>
          <p:cNvSpPr txBox="1"/>
          <p:nvPr/>
        </p:nvSpPr>
        <p:spPr>
          <a:xfrm>
            <a:off x="6638544" y="4709160"/>
            <a:ext cx="1847087" cy="329184"/>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Связи кандидатов</a:t>
            </a:r>
          </a:p>
        </p:txBody>
      </p:sp>
      <p:sp>
        <p:nvSpPr>
          <p:cNvPr id="34" name="Rounded Rectangle 33"/>
          <p:cNvSpPr/>
          <p:nvPr/>
        </p:nvSpPr>
        <p:spPr>
          <a:xfrm>
            <a:off x="6528816" y="3685032"/>
            <a:ext cx="2066543" cy="320040"/>
          </a:xfrm>
          <a:prstGeom prst="roundRect">
            <a:avLst>
              <a:gd name="adj" fmla="val 10000"/>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744468"/>
            <a:ext cx="1920239" cy="210312"/>
          </a:xfrm>
          <a:prstGeom prst="rect">
            <a:avLst/>
          </a:prstGeom>
          <a:noFill/>
        </p:spPr>
        <p:txBody>
          <a:bodyPr wrap="square" lIns="0" rIns="0" tIns="0" bIns="0">
            <a:spAutoFit/>
          </a:bodyPr>
          <a:lstStyle/>
          <a:p>
            <a:pPr algn="ctr">
              <a:spcBef>
                <a:spcPts val="0"/>
              </a:spcBef>
              <a:spcAft>
                <a:spcPts val="300"/>
              </a:spcAft>
            </a:pPr>
            <a:r>
              <a:rPr sz="900" b="1">
                <a:solidFill>
                  <a:srgbClr val="FF005B"/>
                </a:solidFill>
                <a:latin typeface="Montserrat"/>
              </a:rPr>
              <a:t>НОВЫЙ КОМПОНЕНТ</a:t>
            </a:r>
          </a:p>
        </p:txBody>
      </p:sp>
      <p:cxnSp>
        <p:nvCxnSpPr>
          <p:cNvPr id="36" name="Connector 35"/>
          <p:cNvCxnSpPr/>
          <p:nvPr/>
        </p:nvCxnSpPr>
        <p:spPr>
          <a:xfrm>
            <a:off x="6062472" y="3465576"/>
            <a:ext cx="201168" cy="0"/>
          </a:xfrm>
          <a:prstGeom prst="line">
            <a:avLst/>
          </a:prstGeom>
          <a:ln w="1778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263640" y="2825496"/>
            <a:ext cx="0" cy="640080"/>
          </a:xfrm>
          <a:prstGeom prst="line">
            <a:avLst/>
          </a:prstGeom>
          <a:ln w="1778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263640" y="2825496"/>
            <a:ext cx="237744"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263640" y="3465576"/>
            <a:ext cx="0" cy="1115568"/>
          </a:xfrm>
          <a:prstGeom prst="line">
            <a:avLst/>
          </a:prstGeom>
          <a:ln w="2286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263640" y="4581144"/>
            <a:ext cx="237744" cy="0"/>
          </a:xfrm>
          <a:prstGeom prst="line">
            <a:avLst/>
          </a:prstGeom>
          <a:ln w="2286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345936" y="5550408"/>
            <a:ext cx="1207008" cy="0"/>
          </a:xfrm>
          <a:prstGeom prst="line">
            <a:avLst/>
          </a:prstGeom>
          <a:ln w="16510">
            <a:solidFill>
              <a:srgbClr val="FF005B"/>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552944" y="5111496"/>
            <a:ext cx="0" cy="438912"/>
          </a:xfrm>
          <a:prstGeom prst="line">
            <a:avLst/>
          </a:prstGeom>
          <a:ln w="16510">
            <a:solidFill>
              <a:srgbClr val="FF005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9281160" y="2944368"/>
            <a:ext cx="2395728" cy="1417320"/>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00032" y="3090672"/>
            <a:ext cx="2157984" cy="384048"/>
          </a:xfrm>
          <a:prstGeom prst="rect">
            <a:avLst/>
          </a:prstGeom>
          <a:noFill/>
        </p:spPr>
        <p:txBody>
          <a:bodyPr wrap="square" lIns="0" rIns="0" tIns="0" bIns="0">
            <a:spAutoFit/>
          </a:bodyPr>
          <a:lstStyle/>
          <a:p>
            <a:pPr algn="ctr">
              <a:spcBef>
                <a:spcPts val="0"/>
              </a:spcBef>
              <a:spcAft>
                <a:spcPts val="300"/>
              </a:spcAft>
            </a:pPr>
            <a:r>
              <a:rPr sz="1600" b="1">
                <a:solidFill>
                  <a:srgbClr val="321044"/>
                </a:solidFill>
                <a:latin typeface="Montserrat"/>
              </a:rPr>
              <a:t>Объединение оценок</a:t>
            </a:r>
          </a:p>
        </p:txBody>
      </p:sp>
      <p:sp>
        <p:nvSpPr>
          <p:cNvPr id="45" name="TextBox 44"/>
          <p:cNvSpPr txBox="1"/>
          <p:nvPr/>
        </p:nvSpPr>
        <p:spPr>
          <a:xfrm>
            <a:off x="9390888" y="3575304"/>
            <a:ext cx="2176272" cy="740664"/>
          </a:xfrm>
          <a:prstGeom prst="rect">
            <a:avLst/>
          </a:prstGeom>
          <a:noFill/>
        </p:spPr>
        <p:txBody>
          <a:bodyPr wrap="square" lIns="0" rIns="0" tIns="0" bIns="0">
            <a:spAutoFit/>
          </a:bodyPr>
          <a:lstStyle/>
          <a:p>
            <a:pPr algn="ctr">
              <a:spcBef>
                <a:spcPts val="0"/>
              </a:spcBef>
              <a:spcAft>
                <a:spcPts val="300"/>
              </a:spcAft>
            </a:pPr>
            <a:r>
              <a:rPr sz="1200" b="0">
                <a:solidFill>
                  <a:srgbClr val="6C6176"/>
                </a:solidFill>
                <a:latin typeface="Montserrat"/>
              </a:rPr>
              <a:t>Поиск + 0,15 × пары</a:t>
            </a:r>
          </a:p>
          <a:p>
            <a:pPr algn="ctr">
              <a:spcBef>
                <a:spcPts val="0"/>
              </a:spcBef>
              <a:spcAft>
                <a:spcPts val="300"/>
              </a:spcAft>
            </a:pPr>
            <a:r>
              <a:rPr sz="1200" b="0">
                <a:solidFill>
                  <a:srgbClr val="6C6176"/>
                </a:solidFill>
                <a:latin typeface="Montserrat"/>
              </a:rPr>
              <a:t>+ 0,50 × граф</a:t>
            </a:r>
          </a:p>
        </p:txBody>
      </p:sp>
      <p:cxnSp>
        <p:nvCxnSpPr>
          <p:cNvPr id="46" name="Connector 45"/>
          <p:cNvCxnSpPr/>
          <p:nvPr/>
        </p:nvCxnSpPr>
        <p:spPr>
          <a:xfrm>
            <a:off x="8622792" y="2825496"/>
            <a:ext cx="292608" cy="0"/>
          </a:xfrm>
          <a:prstGeom prst="line">
            <a:avLst/>
          </a:prstGeom>
          <a:ln w="1778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15400" y="2825496"/>
            <a:ext cx="0" cy="502920"/>
          </a:xfrm>
          <a:prstGeom prst="line">
            <a:avLst/>
          </a:prstGeom>
          <a:ln w="1778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915400" y="3328416"/>
            <a:ext cx="338328" cy="0"/>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622792" y="4581144"/>
            <a:ext cx="292608" cy="0"/>
          </a:xfrm>
          <a:prstGeom prst="line">
            <a:avLst/>
          </a:prstGeom>
          <a:ln w="2286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8915400" y="3977639"/>
            <a:ext cx="0" cy="603505"/>
          </a:xfrm>
          <a:prstGeom prst="line">
            <a:avLst/>
          </a:prstGeom>
          <a:ln w="2286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915400" y="3977639"/>
            <a:ext cx="338328" cy="0"/>
          </a:xfrm>
          <a:prstGeom prst="line">
            <a:avLst/>
          </a:prstGeom>
          <a:ln w="2286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479024" y="4389120"/>
            <a:ext cx="0" cy="539496"/>
          </a:xfrm>
          <a:prstGeom prst="line">
            <a:avLst/>
          </a:prstGeom>
          <a:ln w="1778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281160" y="5074920"/>
            <a:ext cx="2395728" cy="585216"/>
          </a:xfrm>
          <a:prstGeom prst="rect">
            <a:avLst/>
          </a:prstGeom>
          <a:noFill/>
        </p:spPr>
        <p:txBody>
          <a:bodyPr wrap="square" lIns="0" rIns="0" tIns="0" bIns="0">
            <a:spAutoFit/>
          </a:bodyPr>
          <a:lstStyle/>
          <a:p>
            <a:pPr algn="ctr">
              <a:spcBef>
                <a:spcPts val="0"/>
              </a:spcBef>
              <a:spcAft>
                <a:spcPts val="300"/>
              </a:spcAft>
            </a:pPr>
            <a:r>
              <a:rPr sz="1600" b="1">
                <a:solidFill>
                  <a:srgbClr val="321044"/>
                </a:solidFill>
                <a:latin typeface="Montserrat"/>
              </a:rPr>
              <a:t>Новый порядок</a:t>
            </a:r>
          </a:p>
          <a:p>
            <a:pPr algn="ctr">
              <a:spcBef>
                <a:spcPts val="0"/>
              </a:spcBef>
              <a:spcAft>
                <a:spcPts val="300"/>
              </a:spcAft>
            </a:pPr>
            <a:r>
              <a:rPr sz="1600" b="1">
                <a:solidFill>
                  <a:srgbClr val="321044"/>
                </a:solidFill>
                <a:latin typeface="Montserrat"/>
              </a:rPr>
              <a:t>той же десятки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ГРАФОВОЕ РАНЖИРОВАНИЕ</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2900" b="1">
                <a:solidFill>
                  <a:srgbClr val="321044"/>
                </a:solidFill>
                <a:latin typeface="Montserrat"/>
              </a:rPr>
              <a:t>Оцениваем кандидата вместе с его окружением</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МЕХАНИЗМ</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13</a:t>
            </a:r>
          </a:p>
        </p:txBody>
      </p:sp>
      <p:sp>
        <p:nvSpPr>
          <p:cNvPr id="13" name="TextBox 12"/>
          <p:cNvSpPr txBox="1"/>
          <p:nvPr/>
        </p:nvSpPr>
        <p:spPr>
          <a:xfrm>
            <a:off x="502920" y="1773936"/>
            <a:ext cx="2788920" cy="338328"/>
          </a:xfrm>
          <a:prstGeom prst="rect">
            <a:avLst/>
          </a:prstGeom>
          <a:noFill/>
        </p:spPr>
        <p:txBody>
          <a:bodyPr wrap="square" lIns="0" rIns="0" tIns="0" bIns="0">
            <a:spAutoFit/>
          </a:bodyPr>
          <a:lstStyle/>
          <a:p>
            <a:pPr>
              <a:spcBef>
                <a:spcPts val="0"/>
              </a:spcBef>
              <a:spcAft>
                <a:spcPts val="300"/>
              </a:spcAft>
            </a:pPr>
            <a:r>
              <a:rPr sz="1700" b="1">
                <a:solidFill>
                  <a:srgbClr val="321044"/>
                </a:solidFill>
                <a:latin typeface="Montserrat"/>
              </a:rPr>
              <a:t>1. Признаки кандидата</a:t>
            </a:r>
          </a:p>
        </p:txBody>
      </p:sp>
      <p:sp>
        <p:nvSpPr>
          <p:cNvPr id="14" name="Rectangle 13"/>
          <p:cNvSpPr/>
          <p:nvPr/>
        </p:nvSpPr>
        <p:spPr>
          <a:xfrm>
            <a:off x="502920" y="2432304"/>
            <a:ext cx="2770632" cy="55778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578608"/>
            <a:ext cx="722376" cy="256032"/>
          </a:xfrm>
          <a:prstGeom prst="rect">
            <a:avLst/>
          </a:prstGeom>
          <a:noFill/>
        </p:spPr>
        <p:txBody>
          <a:bodyPr wrap="square" lIns="0" rIns="0" tIns="0" bIns="0">
            <a:spAutoFit/>
          </a:bodyPr>
          <a:lstStyle/>
          <a:p>
            <a:pPr>
              <a:spcBef>
                <a:spcPts val="0"/>
              </a:spcBef>
              <a:spcAft>
                <a:spcPts val="300"/>
              </a:spcAft>
            </a:pPr>
            <a:r>
              <a:rPr sz="1200" b="1">
                <a:solidFill>
                  <a:srgbClr val="5C6FC0"/>
                </a:solidFill>
                <a:latin typeface="Montserrat"/>
              </a:rPr>
              <a:t>DINO</a:t>
            </a:r>
          </a:p>
        </p:txBody>
      </p:sp>
      <p:sp>
        <p:nvSpPr>
          <p:cNvPr id="16" name="TextBox 15"/>
          <p:cNvSpPr txBox="1"/>
          <p:nvPr/>
        </p:nvSpPr>
        <p:spPr>
          <a:xfrm>
            <a:off x="1444752" y="2578608"/>
            <a:ext cx="1645920" cy="274320"/>
          </a:xfrm>
          <a:prstGeom prst="rect">
            <a:avLst/>
          </a:prstGeom>
          <a:noFill/>
        </p:spPr>
        <p:txBody>
          <a:bodyPr wrap="square" lIns="0" rIns="0" tIns="0" bIns="0">
            <a:spAutoFit/>
          </a:bodyPr>
          <a:lstStyle/>
          <a:p>
            <a:pPr>
              <a:spcBef>
                <a:spcPts val="0"/>
              </a:spcBef>
              <a:spcAft>
                <a:spcPts val="300"/>
              </a:spcAft>
            </a:pPr>
            <a:r>
              <a:rPr sz="1050" b="0">
                <a:solidFill>
                  <a:srgbClr val="6C6176"/>
                </a:solidFill>
                <a:latin typeface="Montserrat"/>
              </a:rPr>
              <a:t>сходство и ранг</a:t>
            </a:r>
          </a:p>
        </p:txBody>
      </p:sp>
      <p:sp>
        <p:nvSpPr>
          <p:cNvPr id="17" name="Rectangle 16"/>
          <p:cNvSpPr/>
          <p:nvPr/>
        </p:nvSpPr>
        <p:spPr>
          <a:xfrm>
            <a:off x="502920" y="3127248"/>
            <a:ext cx="2770632" cy="55778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273552"/>
            <a:ext cx="722376" cy="256032"/>
          </a:xfrm>
          <a:prstGeom prst="rect">
            <a:avLst/>
          </a:prstGeom>
          <a:noFill/>
        </p:spPr>
        <p:txBody>
          <a:bodyPr wrap="square" lIns="0" rIns="0" tIns="0" bIns="0">
            <a:spAutoFit/>
          </a:bodyPr>
          <a:lstStyle/>
          <a:p>
            <a:pPr>
              <a:spcBef>
                <a:spcPts val="0"/>
              </a:spcBef>
              <a:spcAft>
                <a:spcPts val="300"/>
              </a:spcAft>
            </a:pPr>
            <a:r>
              <a:rPr sz="1200" b="1">
                <a:solidFill>
                  <a:srgbClr val="118774"/>
                </a:solidFill>
                <a:latin typeface="Montserrat"/>
              </a:rPr>
              <a:t>CLIP</a:t>
            </a:r>
          </a:p>
        </p:txBody>
      </p:sp>
      <p:sp>
        <p:nvSpPr>
          <p:cNvPr id="19" name="TextBox 18"/>
          <p:cNvSpPr txBox="1"/>
          <p:nvPr/>
        </p:nvSpPr>
        <p:spPr>
          <a:xfrm>
            <a:off x="1444752" y="3273552"/>
            <a:ext cx="1645920" cy="274320"/>
          </a:xfrm>
          <a:prstGeom prst="rect">
            <a:avLst/>
          </a:prstGeom>
          <a:noFill/>
        </p:spPr>
        <p:txBody>
          <a:bodyPr wrap="square" lIns="0" rIns="0" tIns="0" bIns="0">
            <a:spAutoFit/>
          </a:bodyPr>
          <a:lstStyle/>
          <a:p>
            <a:pPr>
              <a:spcBef>
                <a:spcPts val="0"/>
              </a:spcBef>
              <a:spcAft>
                <a:spcPts val="300"/>
              </a:spcAft>
            </a:pPr>
            <a:r>
              <a:rPr sz="1050" b="0">
                <a:solidFill>
                  <a:srgbClr val="6C6176"/>
                </a:solidFill>
                <a:latin typeface="Montserrat"/>
              </a:rPr>
              <a:t>сходство и ранг</a:t>
            </a:r>
          </a:p>
        </p:txBody>
      </p:sp>
      <p:sp>
        <p:nvSpPr>
          <p:cNvPr id="20" name="Rectangle 19"/>
          <p:cNvSpPr/>
          <p:nvPr/>
        </p:nvSpPr>
        <p:spPr>
          <a:xfrm>
            <a:off x="502920" y="3822191"/>
            <a:ext cx="2770632" cy="557784"/>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68496"/>
            <a:ext cx="722376" cy="256032"/>
          </a:xfrm>
          <a:prstGeom prst="rect">
            <a:avLst/>
          </a:prstGeom>
          <a:noFill/>
        </p:spPr>
        <p:txBody>
          <a:bodyPr wrap="square" lIns="0" rIns="0" tIns="0" bIns="0">
            <a:spAutoFit/>
          </a:bodyPr>
          <a:lstStyle/>
          <a:p>
            <a:pPr>
              <a:spcBef>
                <a:spcPts val="0"/>
              </a:spcBef>
              <a:spcAft>
                <a:spcPts val="300"/>
              </a:spcAft>
            </a:pPr>
            <a:r>
              <a:rPr sz="1200" b="1">
                <a:solidFill>
                  <a:srgbClr val="321044"/>
                </a:solidFill>
                <a:latin typeface="Montserrat"/>
              </a:rPr>
              <a:t>База</a:t>
            </a:r>
          </a:p>
        </p:txBody>
      </p:sp>
      <p:sp>
        <p:nvSpPr>
          <p:cNvPr id="22" name="TextBox 21"/>
          <p:cNvSpPr txBox="1"/>
          <p:nvPr/>
        </p:nvSpPr>
        <p:spPr>
          <a:xfrm>
            <a:off x="1444752" y="3968496"/>
            <a:ext cx="1645920" cy="274320"/>
          </a:xfrm>
          <a:prstGeom prst="rect">
            <a:avLst/>
          </a:prstGeom>
          <a:noFill/>
        </p:spPr>
        <p:txBody>
          <a:bodyPr wrap="square" lIns="0" rIns="0" tIns="0" bIns="0">
            <a:spAutoFit/>
          </a:bodyPr>
          <a:lstStyle/>
          <a:p>
            <a:pPr>
              <a:spcBef>
                <a:spcPts val="0"/>
              </a:spcBef>
              <a:spcAft>
                <a:spcPts val="300"/>
              </a:spcAft>
            </a:pPr>
            <a:r>
              <a:rPr sz="1050" b="0">
                <a:solidFill>
                  <a:srgbClr val="6C6176"/>
                </a:solidFill>
                <a:latin typeface="Montserrat"/>
              </a:rPr>
              <a:t>хабность и отступы</a:t>
            </a:r>
          </a:p>
        </p:txBody>
      </p:sp>
      <p:sp>
        <p:nvSpPr>
          <p:cNvPr id="23" name="TextBox 22"/>
          <p:cNvSpPr txBox="1"/>
          <p:nvPr/>
        </p:nvSpPr>
        <p:spPr>
          <a:xfrm>
            <a:off x="502920" y="4773168"/>
            <a:ext cx="2770632" cy="566928"/>
          </a:xfrm>
          <a:prstGeom prst="rect">
            <a:avLst/>
          </a:prstGeom>
          <a:noFill/>
        </p:spPr>
        <p:txBody>
          <a:bodyPr wrap="square" lIns="0" rIns="0" tIns="0" bIns="0">
            <a:spAutoFit/>
          </a:bodyPr>
          <a:lstStyle/>
          <a:p>
            <a:pPr>
              <a:spcBef>
                <a:spcPts val="0"/>
              </a:spcBef>
              <a:spcAft>
                <a:spcPts val="300"/>
              </a:spcAft>
            </a:pPr>
            <a:r>
              <a:rPr sz="3000" b="1">
                <a:solidFill>
                  <a:srgbClr val="321044"/>
                </a:solidFill>
                <a:latin typeface="Montserrat"/>
              </a:rPr>
              <a:t>13</a:t>
            </a:r>
          </a:p>
        </p:txBody>
      </p:sp>
      <p:sp>
        <p:nvSpPr>
          <p:cNvPr id="24" name="TextBox 23"/>
          <p:cNvSpPr txBox="1"/>
          <p:nvPr/>
        </p:nvSpPr>
        <p:spPr>
          <a:xfrm>
            <a:off x="502920" y="5449824"/>
            <a:ext cx="2770632"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признаков на кандидата</a:t>
            </a:r>
          </a:p>
        </p:txBody>
      </p:sp>
      <p:cxnSp>
        <p:nvCxnSpPr>
          <p:cNvPr id="25" name="Connector 24"/>
          <p:cNvCxnSpPr/>
          <p:nvPr/>
        </p:nvCxnSpPr>
        <p:spPr>
          <a:xfrm>
            <a:off x="3438144" y="3438144"/>
            <a:ext cx="484632"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151376" y="1773936"/>
            <a:ext cx="3575304" cy="338328"/>
          </a:xfrm>
          <a:prstGeom prst="rect">
            <a:avLst/>
          </a:prstGeom>
          <a:noFill/>
        </p:spPr>
        <p:txBody>
          <a:bodyPr wrap="square" lIns="0" rIns="0" tIns="0" bIns="0">
            <a:spAutoFit/>
          </a:bodyPr>
          <a:lstStyle/>
          <a:p>
            <a:pPr>
              <a:spcBef>
                <a:spcPts val="0"/>
              </a:spcBef>
              <a:spcAft>
                <a:spcPts val="300"/>
              </a:spcAft>
            </a:pPr>
            <a:r>
              <a:rPr sz="1700" b="1">
                <a:solidFill>
                  <a:srgbClr val="321044"/>
                </a:solidFill>
                <a:latin typeface="Montserrat"/>
              </a:rPr>
              <a:t>2. Сходства внутри top-10</a:t>
            </a:r>
          </a:p>
        </p:txBody>
      </p:sp>
      <p:cxnSp>
        <p:nvCxnSpPr>
          <p:cNvPr id="27" name="Connector 26"/>
          <p:cNvCxnSpPr/>
          <p:nvPr/>
        </p:nvCxnSpPr>
        <p:spPr>
          <a:xfrm>
            <a:off x="5925312" y="2212848"/>
            <a:ext cx="763208" cy="247981"/>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925312" y="2212848"/>
            <a:ext cx="1234897" cy="89720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25312" y="2212848"/>
            <a:ext cx="1234897" cy="1699690"/>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25312" y="2212848"/>
            <a:ext cx="763208" cy="234891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25312" y="2212848"/>
            <a:ext cx="0" cy="2596896"/>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5162103" y="2212848"/>
            <a:ext cx="763209" cy="234891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4690414" y="2212848"/>
            <a:ext cx="1234898" cy="1699690"/>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690414" y="2212848"/>
            <a:ext cx="1234898" cy="89720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5162103" y="2212848"/>
            <a:ext cx="763209" cy="247981"/>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688520" y="2460829"/>
            <a:ext cx="471689"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88520" y="2460829"/>
            <a:ext cx="471689"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88520" y="2460829"/>
            <a:ext cx="0" cy="2100933"/>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5925312" y="2460829"/>
            <a:ext cx="763208" cy="234891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162103" y="2460829"/>
            <a:ext cx="1526417" cy="2100933"/>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4690414" y="2460829"/>
            <a:ext cx="1998106"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4690414" y="2460829"/>
            <a:ext cx="1998106"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162103" y="2460829"/>
            <a:ext cx="1526417" cy="0"/>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60209" y="3110053"/>
            <a:ext cx="0" cy="80248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6688520" y="3110053"/>
            <a:ext cx="471689"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5925312" y="3110053"/>
            <a:ext cx="1234897" cy="1699691"/>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5162103" y="3110053"/>
            <a:ext cx="1998106"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690414" y="3110053"/>
            <a:ext cx="2469795" cy="80248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4690414" y="3110053"/>
            <a:ext cx="2469795" cy="0"/>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5162103" y="2460829"/>
            <a:ext cx="1998106"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6688520" y="3912538"/>
            <a:ext cx="471689"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5925312" y="3912538"/>
            <a:ext cx="1234897" cy="897206"/>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5162103" y="3912538"/>
            <a:ext cx="1998106"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4690414" y="3912538"/>
            <a:ext cx="2469795" cy="0"/>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690414" y="3110053"/>
            <a:ext cx="2469795" cy="80248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5162103" y="2460829"/>
            <a:ext cx="1998106"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5925312" y="4561762"/>
            <a:ext cx="763208" cy="247982"/>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5162103" y="4561762"/>
            <a:ext cx="1526417" cy="0"/>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4690414" y="3912538"/>
            <a:ext cx="1998106"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4690414" y="3110053"/>
            <a:ext cx="1998106"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5162103" y="2460829"/>
            <a:ext cx="1526417" cy="2100933"/>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5162103" y="4561762"/>
            <a:ext cx="763209" cy="247982"/>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4690414" y="3912538"/>
            <a:ext cx="1234898" cy="897206"/>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4690414" y="3110053"/>
            <a:ext cx="1234898" cy="1699691"/>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5162103" y="2460829"/>
            <a:ext cx="763209" cy="234891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690414" y="3912538"/>
            <a:ext cx="471689"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690414" y="3110053"/>
            <a:ext cx="471689"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5162103" y="2460829"/>
            <a:ext cx="0" cy="2100933"/>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690414" y="3110053"/>
            <a:ext cx="0" cy="802485"/>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690414" y="2460829"/>
            <a:ext cx="471689" cy="1451709"/>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690414" y="2460829"/>
            <a:ext cx="471689" cy="649224"/>
          </a:xfrm>
          <a:prstGeom prst="line">
            <a:avLst/>
          </a:prstGeom>
          <a:ln w="6985">
            <a:solidFill>
              <a:srgbClr val="E6DFED"/>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5925312" y="2212848"/>
            <a:ext cx="1234897" cy="1699690"/>
          </a:xfrm>
          <a:prstGeom prst="line">
            <a:avLst/>
          </a:prstGeom>
          <a:ln w="2286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5162103" y="3912538"/>
            <a:ext cx="1998106" cy="649224"/>
          </a:xfrm>
          <a:prstGeom prst="line">
            <a:avLst/>
          </a:prstGeom>
          <a:ln w="2286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162103" y="2460829"/>
            <a:ext cx="0" cy="2100933"/>
          </a:xfrm>
          <a:prstGeom prst="line">
            <a:avLst/>
          </a:prstGeom>
          <a:ln w="2286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5162103" y="2460829"/>
            <a:ext cx="1998106" cy="649224"/>
          </a:xfrm>
          <a:prstGeom prst="line">
            <a:avLst/>
          </a:prstGeom>
          <a:ln w="22860">
            <a:solidFill>
              <a:srgbClr val="5C6FC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5925312" y="2460829"/>
            <a:ext cx="763208" cy="2348915"/>
          </a:xfrm>
          <a:prstGeom prst="line">
            <a:avLst/>
          </a:prstGeom>
          <a:ln w="22860">
            <a:solidFill>
              <a:srgbClr val="118774"/>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4690414" y="3110053"/>
            <a:ext cx="1234898" cy="1699691"/>
          </a:xfrm>
          <a:prstGeom prst="line">
            <a:avLst/>
          </a:prstGeom>
          <a:ln w="22860">
            <a:solidFill>
              <a:srgbClr val="118774"/>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690414" y="3110053"/>
            <a:ext cx="1998106" cy="1451709"/>
          </a:xfrm>
          <a:prstGeom prst="line">
            <a:avLst/>
          </a:prstGeom>
          <a:ln w="22860">
            <a:solidFill>
              <a:srgbClr val="118774"/>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4690414" y="3912538"/>
            <a:ext cx="1998106" cy="649224"/>
          </a:xfrm>
          <a:prstGeom prst="line">
            <a:avLst/>
          </a:prstGeom>
          <a:ln w="22860">
            <a:solidFill>
              <a:srgbClr val="118774"/>
            </a:solidFill>
          </a:ln>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5774436" y="2061972"/>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774436" y="2144268"/>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1</a:t>
            </a:r>
          </a:p>
        </p:txBody>
      </p:sp>
      <p:sp>
        <p:nvSpPr>
          <p:cNvPr id="82" name="Oval 81"/>
          <p:cNvSpPr/>
          <p:nvPr/>
        </p:nvSpPr>
        <p:spPr>
          <a:xfrm>
            <a:off x="6537644" y="2309953"/>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537644" y="2392249"/>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2</a:t>
            </a:r>
          </a:p>
        </p:txBody>
      </p:sp>
      <p:sp>
        <p:nvSpPr>
          <p:cNvPr id="84" name="Oval 83"/>
          <p:cNvSpPr/>
          <p:nvPr/>
        </p:nvSpPr>
        <p:spPr>
          <a:xfrm>
            <a:off x="7009333" y="2959177"/>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009333" y="3041473"/>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3</a:t>
            </a:r>
          </a:p>
        </p:txBody>
      </p:sp>
      <p:sp>
        <p:nvSpPr>
          <p:cNvPr id="86" name="Oval 85"/>
          <p:cNvSpPr/>
          <p:nvPr/>
        </p:nvSpPr>
        <p:spPr>
          <a:xfrm>
            <a:off x="7009333" y="3761662"/>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009333" y="3843958"/>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4</a:t>
            </a:r>
          </a:p>
        </p:txBody>
      </p:sp>
      <p:sp>
        <p:nvSpPr>
          <p:cNvPr id="88" name="Oval 87"/>
          <p:cNvSpPr/>
          <p:nvPr/>
        </p:nvSpPr>
        <p:spPr>
          <a:xfrm>
            <a:off x="6537644" y="4410886"/>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537644" y="4493182"/>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5</a:t>
            </a:r>
          </a:p>
        </p:txBody>
      </p:sp>
      <p:sp>
        <p:nvSpPr>
          <p:cNvPr id="90" name="Oval 89"/>
          <p:cNvSpPr/>
          <p:nvPr/>
        </p:nvSpPr>
        <p:spPr>
          <a:xfrm>
            <a:off x="5774436" y="4658868"/>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774436" y="4741164"/>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6</a:t>
            </a:r>
          </a:p>
        </p:txBody>
      </p:sp>
      <p:sp>
        <p:nvSpPr>
          <p:cNvPr id="92" name="Oval 91"/>
          <p:cNvSpPr/>
          <p:nvPr/>
        </p:nvSpPr>
        <p:spPr>
          <a:xfrm>
            <a:off x="5011227" y="4410886"/>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011227" y="4493182"/>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7</a:t>
            </a:r>
          </a:p>
        </p:txBody>
      </p:sp>
      <p:sp>
        <p:nvSpPr>
          <p:cNvPr id="94" name="Oval 93"/>
          <p:cNvSpPr/>
          <p:nvPr/>
        </p:nvSpPr>
        <p:spPr>
          <a:xfrm>
            <a:off x="4539538" y="3761662"/>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4539538" y="3843958"/>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8</a:t>
            </a:r>
          </a:p>
        </p:txBody>
      </p:sp>
      <p:sp>
        <p:nvSpPr>
          <p:cNvPr id="96" name="Oval 95"/>
          <p:cNvSpPr/>
          <p:nvPr/>
        </p:nvSpPr>
        <p:spPr>
          <a:xfrm>
            <a:off x="4539538" y="2959177"/>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539538" y="3041473"/>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9</a:t>
            </a:r>
          </a:p>
        </p:txBody>
      </p:sp>
      <p:sp>
        <p:nvSpPr>
          <p:cNvPr id="98" name="Oval 97"/>
          <p:cNvSpPr/>
          <p:nvPr/>
        </p:nvSpPr>
        <p:spPr>
          <a:xfrm>
            <a:off x="5011227" y="2309953"/>
            <a:ext cx="301752" cy="301752"/>
          </a:xfrm>
          <a:prstGeom prst="ellipse">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011227" y="2392249"/>
            <a:ext cx="301752" cy="164592"/>
          </a:xfrm>
          <a:prstGeom prst="rect">
            <a:avLst/>
          </a:prstGeom>
          <a:noFill/>
        </p:spPr>
        <p:txBody>
          <a:bodyPr wrap="square" lIns="0" rIns="0" tIns="0" bIns="0">
            <a:spAutoFit/>
          </a:bodyPr>
          <a:lstStyle/>
          <a:p>
            <a:pPr algn="ctr">
              <a:spcBef>
                <a:spcPts val="0"/>
              </a:spcBef>
              <a:spcAft>
                <a:spcPts val="300"/>
              </a:spcAft>
            </a:pPr>
            <a:r>
              <a:rPr sz="850" b="1">
                <a:solidFill>
                  <a:srgbClr val="FFFFFF"/>
                </a:solidFill>
                <a:latin typeface="Montserrat"/>
              </a:rPr>
              <a:t>10</a:t>
            </a:r>
          </a:p>
        </p:txBody>
      </p:sp>
      <p:sp>
        <p:nvSpPr>
          <p:cNvPr id="100" name="TextBox 99"/>
          <p:cNvSpPr txBox="1"/>
          <p:nvPr/>
        </p:nvSpPr>
        <p:spPr>
          <a:xfrm>
            <a:off x="4169663" y="5038344"/>
            <a:ext cx="3657600" cy="484632"/>
          </a:xfrm>
          <a:prstGeom prst="rect">
            <a:avLst/>
          </a:prstGeom>
          <a:noFill/>
        </p:spPr>
        <p:txBody>
          <a:bodyPr wrap="square" lIns="0" rIns="0" tIns="0" bIns="0">
            <a:spAutoFit/>
          </a:bodyPr>
          <a:lstStyle/>
          <a:p>
            <a:pPr>
              <a:spcBef>
                <a:spcPts val="0"/>
              </a:spcBef>
              <a:spcAft>
                <a:spcPts val="300"/>
              </a:spcAft>
            </a:pPr>
            <a:r>
              <a:rPr sz="1400" b="1">
                <a:solidFill>
                  <a:srgbClr val="321044"/>
                </a:solidFill>
                <a:latin typeface="Montserrat"/>
              </a:rPr>
              <a:t>10 узлов · 2 канала связей</a:t>
            </a:r>
          </a:p>
        </p:txBody>
      </p:sp>
      <p:cxnSp>
        <p:nvCxnSpPr>
          <p:cNvPr id="101" name="Connector 100"/>
          <p:cNvCxnSpPr/>
          <p:nvPr/>
        </p:nvCxnSpPr>
        <p:spPr>
          <a:xfrm>
            <a:off x="4169663" y="5532120"/>
            <a:ext cx="310897" cy="0"/>
          </a:xfrm>
          <a:prstGeom prst="line">
            <a:avLst/>
          </a:prstGeom>
          <a:ln w="25400">
            <a:solidFill>
              <a:srgbClr val="5C6FC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599432" y="5431536"/>
            <a:ext cx="1097280" cy="228600"/>
          </a:xfrm>
          <a:prstGeom prst="rect">
            <a:avLst/>
          </a:prstGeom>
          <a:noFill/>
        </p:spPr>
        <p:txBody>
          <a:bodyPr wrap="square" lIns="0" rIns="0" tIns="0" bIns="0">
            <a:spAutoFit/>
          </a:bodyPr>
          <a:lstStyle/>
          <a:p>
            <a:pPr>
              <a:spcBef>
                <a:spcPts val="0"/>
              </a:spcBef>
              <a:spcAft>
                <a:spcPts val="300"/>
              </a:spcAft>
            </a:pPr>
            <a:r>
              <a:rPr sz="1100" b="1">
                <a:solidFill>
                  <a:srgbClr val="5C6FC0"/>
                </a:solidFill>
                <a:latin typeface="Montserrat"/>
              </a:rPr>
              <a:t>DINO</a:t>
            </a:r>
          </a:p>
        </p:txBody>
      </p:sp>
      <p:cxnSp>
        <p:nvCxnSpPr>
          <p:cNvPr id="103" name="Connector 102"/>
          <p:cNvCxnSpPr/>
          <p:nvPr/>
        </p:nvCxnSpPr>
        <p:spPr>
          <a:xfrm>
            <a:off x="5650992" y="5532120"/>
            <a:ext cx="310896" cy="0"/>
          </a:xfrm>
          <a:prstGeom prst="line">
            <a:avLst/>
          </a:prstGeom>
          <a:ln w="25400">
            <a:solidFill>
              <a:srgbClr val="118774"/>
            </a:solidFill>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6089904" y="5431536"/>
            <a:ext cx="1097280" cy="228600"/>
          </a:xfrm>
          <a:prstGeom prst="rect">
            <a:avLst/>
          </a:prstGeom>
          <a:noFill/>
        </p:spPr>
        <p:txBody>
          <a:bodyPr wrap="square" lIns="0" rIns="0" tIns="0" bIns="0">
            <a:spAutoFit/>
          </a:bodyPr>
          <a:lstStyle/>
          <a:p>
            <a:pPr>
              <a:spcBef>
                <a:spcPts val="0"/>
              </a:spcBef>
              <a:spcAft>
                <a:spcPts val="300"/>
              </a:spcAft>
            </a:pPr>
            <a:r>
              <a:rPr sz="1100" b="1">
                <a:solidFill>
                  <a:srgbClr val="118774"/>
                </a:solidFill>
                <a:latin typeface="Montserrat"/>
              </a:rPr>
              <a:t>CLIP</a:t>
            </a:r>
          </a:p>
        </p:txBody>
      </p:sp>
      <p:cxnSp>
        <p:nvCxnSpPr>
          <p:cNvPr id="105" name="Connector 104"/>
          <p:cNvCxnSpPr/>
          <p:nvPr/>
        </p:nvCxnSpPr>
        <p:spPr>
          <a:xfrm>
            <a:off x="7452360" y="3438144"/>
            <a:ext cx="530352" cy="0"/>
          </a:xfrm>
          <a:prstGeom prst="line">
            <a:avLst/>
          </a:prstGeom>
          <a:ln w="2159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8211312" y="1773936"/>
            <a:ext cx="3474720" cy="338328"/>
          </a:xfrm>
          <a:prstGeom prst="rect">
            <a:avLst/>
          </a:prstGeom>
          <a:noFill/>
        </p:spPr>
        <p:txBody>
          <a:bodyPr wrap="square" lIns="0" rIns="0" tIns="0" bIns="0">
            <a:spAutoFit/>
          </a:bodyPr>
          <a:lstStyle/>
          <a:p>
            <a:pPr>
              <a:spcBef>
                <a:spcPts val="0"/>
              </a:spcBef>
              <a:spcAft>
                <a:spcPts val="300"/>
              </a:spcAft>
            </a:pPr>
            <a:r>
              <a:rPr sz="1700" b="1">
                <a:solidFill>
                  <a:srgbClr val="321044"/>
                </a:solidFill>
                <a:latin typeface="Montserrat"/>
              </a:rPr>
              <a:t>3. Поправка к порядку</a:t>
            </a:r>
          </a:p>
        </p:txBody>
      </p:sp>
      <p:sp>
        <p:nvSpPr>
          <p:cNvPr id="107" name="TextBox 106"/>
          <p:cNvSpPr txBox="1"/>
          <p:nvPr/>
        </p:nvSpPr>
        <p:spPr>
          <a:xfrm>
            <a:off x="8247888" y="2450592"/>
            <a:ext cx="1216152" cy="246888"/>
          </a:xfrm>
          <a:prstGeom prst="rect">
            <a:avLst/>
          </a:prstGeom>
          <a:noFill/>
        </p:spPr>
        <p:txBody>
          <a:bodyPr wrap="square" lIns="0" rIns="0" tIns="0" bIns="0">
            <a:spAutoFit/>
          </a:bodyPr>
          <a:lstStyle/>
          <a:p>
            <a:pPr>
              <a:spcBef>
                <a:spcPts val="0"/>
              </a:spcBef>
              <a:spcAft>
                <a:spcPts val="300"/>
              </a:spcAft>
            </a:pPr>
            <a:r>
              <a:rPr sz="1150" b="0">
                <a:solidFill>
                  <a:srgbClr val="6C6176"/>
                </a:solidFill>
                <a:latin typeface="Montserrat"/>
              </a:rPr>
              <a:t>Кандидат 1</a:t>
            </a:r>
          </a:p>
        </p:txBody>
      </p:sp>
      <p:cxnSp>
        <p:nvCxnSpPr>
          <p:cNvPr id="108" name="Connector 107"/>
          <p:cNvCxnSpPr/>
          <p:nvPr/>
        </p:nvCxnSpPr>
        <p:spPr>
          <a:xfrm>
            <a:off x="9701784" y="2587752"/>
            <a:ext cx="502920" cy="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10442448" y="2450592"/>
            <a:ext cx="914400" cy="265176"/>
          </a:xfrm>
          <a:prstGeom prst="rect">
            <a:avLst/>
          </a:prstGeom>
          <a:noFill/>
        </p:spPr>
        <p:txBody>
          <a:bodyPr wrap="square" lIns="0" rIns="0" tIns="0" bIns="0">
            <a:spAutoFit/>
          </a:bodyPr>
          <a:lstStyle/>
          <a:p>
            <a:pPr>
              <a:spcBef>
                <a:spcPts val="0"/>
              </a:spcBef>
              <a:spcAft>
                <a:spcPts val="300"/>
              </a:spcAft>
            </a:pPr>
            <a:r>
              <a:rPr sz="1500" b="1">
                <a:solidFill>
                  <a:srgbClr val="FF005B"/>
                </a:solidFill>
                <a:latin typeface="Montserrat"/>
              </a:rPr>
              <a:t>Δ1</a:t>
            </a:r>
          </a:p>
        </p:txBody>
      </p:sp>
      <p:sp>
        <p:nvSpPr>
          <p:cNvPr id="110" name="TextBox 109"/>
          <p:cNvSpPr txBox="1"/>
          <p:nvPr/>
        </p:nvSpPr>
        <p:spPr>
          <a:xfrm>
            <a:off x="8247888" y="2999232"/>
            <a:ext cx="1216152" cy="246888"/>
          </a:xfrm>
          <a:prstGeom prst="rect">
            <a:avLst/>
          </a:prstGeom>
          <a:noFill/>
        </p:spPr>
        <p:txBody>
          <a:bodyPr wrap="square" lIns="0" rIns="0" tIns="0" bIns="0">
            <a:spAutoFit/>
          </a:bodyPr>
          <a:lstStyle/>
          <a:p>
            <a:pPr>
              <a:spcBef>
                <a:spcPts val="0"/>
              </a:spcBef>
              <a:spcAft>
                <a:spcPts val="300"/>
              </a:spcAft>
            </a:pPr>
            <a:r>
              <a:rPr sz="1150" b="0">
                <a:solidFill>
                  <a:srgbClr val="6C6176"/>
                </a:solidFill>
                <a:latin typeface="Montserrat"/>
              </a:rPr>
              <a:t>Кандидат 2</a:t>
            </a:r>
          </a:p>
        </p:txBody>
      </p:sp>
      <p:cxnSp>
        <p:nvCxnSpPr>
          <p:cNvPr id="111" name="Connector 110"/>
          <p:cNvCxnSpPr/>
          <p:nvPr/>
        </p:nvCxnSpPr>
        <p:spPr>
          <a:xfrm>
            <a:off x="9701784" y="3136392"/>
            <a:ext cx="502920" cy="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0442448" y="2999232"/>
            <a:ext cx="914400" cy="265176"/>
          </a:xfrm>
          <a:prstGeom prst="rect">
            <a:avLst/>
          </a:prstGeom>
          <a:noFill/>
        </p:spPr>
        <p:txBody>
          <a:bodyPr wrap="square" lIns="0" rIns="0" tIns="0" bIns="0">
            <a:spAutoFit/>
          </a:bodyPr>
          <a:lstStyle/>
          <a:p>
            <a:pPr>
              <a:spcBef>
                <a:spcPts val="0"/>
              </a:spcBef>
              <a:spcAft>
                <a:spcPts val="300"/>
              </a:spcAft>
            </a:pPr>
            <a:r>
              <a:rPr sz="1500" b="1">
                <a:solidFill>
                  <a:srgbClr val="FF005B"/>
                </a:solidFill>
                <a:latin typeface="Montserrat"/>
              </a:rPr>
              <a:t>Δ2</a:t>
            </a:r>
          </a:p>
        </p:txBody>
      </p:sp>
      <p:sp>
        <p:nvSpPr>
          <p:cNvPr id="113" name="TextBox 112"/>
          <p:cNvSpPr txBox="1"/>
          <p:nvPr/>
        </p:nvSpPr>
        <p:spPr>
          <a:xfrm>
            <a:off x="8247888" y="3547872"/>
            <a:ext cx="1216152" cy="246888"/>
          </a:xfrm>
          <a:prstGeom prst="rect">
            <a:avLst/>
          </a:prstGeom>
          <a:noFill/>
        </p:spPr>
        <p:txBody>
          <a:bodyPr wrap="square" lIns="0" rIns="0" tIns="0" bIns="0">
            <a:spAutoFit/>
          </a:bodyPr>
          <a:lstStyle/>
          <a:p>
            <a:pPr>
              <a:spcBef>
                <a:spcPts val="0"/>
              </a:spcBef>
              <a:spcAft>
                <a:spcPts val="300"/>
              </a:spcAft>
            </a:pPr>
            <a:r>
              <a:rPr sz="1300" b="0">
                <a:solidFill>
                  <a:srgbClr val="6C6176"/>
                </a:solidFill>
                <a:latin typeface="Montserrat"/>
              </a:rPr>
              <a:t>…</a:t>
            </a:r>
          </a:p>
        </p:txBody>
      </p:sp>
      <p:sp>
        <p:nvSpPr>
          <p:cNvPr id="114" name="TextBox 113"/>
          <p:cNvSpPr txBox="1"/>
          <p:nvPr/>
        </p:nvSpPr>
        <p:spPr>
          <a:xfrm>
            <a:off x="10442448" y="3547872"/>
            <a:ext cx="914400" cy="265176"/>
          </a:xfrm>
          <a:prstGeom prst="rect">
            <a:avLst/>
          </a:prstGeom>
          <a:noFill/>
        </p:spPr>
        <p:txBody>
          <a:bodyPr wrap="square" lIns="0" rIns="0" tIns="0" bIns="0">
            <a:spAutoFit/>
          </a:bodyPr>
          <a:lstStyle/>
          <a:p>
            <a:pPr>
              <a:spcBef>
                <a:spcPts val="0"/>
              </a:spcBef>
              <a:spcAft>
                <a:spcPts val="300"/>
              </a:spcAft>
            </a:pPr>
            <a:r>
              <a:rPr sz="1500" b="1">
                <a:solidFill>
                  <a:srgbClr val="FF005B"/>
                </a:solidFill>
                <a:latin typeface="Montserrat"/>
              </a:rPr>
              <a:t>…</a:t>
            </a:r>
          </a:p>
        </p:txBody>
      </p:sp>
      <p:sp>
        <p:nvSpPr>
          <p:cNvPr id="115" name="TextBox 114"/>
          <p:cNvSpPr txBox="1"/>
          <p:nvPr/>
        </p:nvSpPr>
        <p:spPr>
          <a:xfrm>
            <a:off x="8247888" y="4096512"/>
            <a:ext cx="1216152" cy="246888"/>
          </a:xfrm>
          <a:prstGeom prst="rect">
            <a:avLst/>
          </a:prstGeom>
          <a:noFill/>
        </p:spPr>
        <p:txBody>
          <a:bodyPr wrap="square" lIns="0" rIns="0" tIns="0" bIns="0">
            <a:spAutoFit/>
          </a:bodyPr>
          <a:lstStyle/>
          <a:p>
            <a:pPr>
              <a:spcBef>
                <a:spcPts val="0"/>
              </a:spcBef>
              <a:spcAft>
                <a:spcPts val="300"/>
              </a:spcAft>
            </a:pPr>
            <a:r>
              <a:rPr sz="1150" b="0">
                <a:solidFill>
                  <a:srgbClr val="6C6176"/>
                </a:solidFill>
                <a:latin typeface="Montserrat"/>
              </a:rPr>
              <a:t>Кандидат 10</a:t>
            </a:r>
          </a:p>
        </p:txBody>
      </p:sp>
      <p:cxnSp>
        <p:nvCxnSpPr>
          <p:cNvPr id="116" name="Connector 115"/>
          <p:cNvCxnSpPr/>
          <p:nvPr/>
        </p:nvCxnSpPr>
        <p:spPr>
          <a:xfrm>
            <a:off x="9701784" y="4233672"/>
            <a:ext cx="502920" cy="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10442448" y="4096512"/>
            <a:ext cx="914400" cy="265176"/>
          </a:xfrm>
          <a:prstGeom prst="rect">
            <a:avLst/>
          </a:prstGeom>
          <a:noFill/>
        </p:spPr>
        <p:txBody>
          <a:bodyPr wrap="square" lIns="0" rIns="0" tIns="0" bIns="0">
            <a:spAutoFit/>
          </a:bodyPr>
          <a:lstStyle/>
          <a:p>
            <a:pPr>
              <a:spcBef>
                <a:spcPts val="0"/>
              </a:spcBef>
              <a:spcAft>
                <a:spcPts val="300"/>
              </a:spcAft>
            </a:pPr>
            <a:r>
              <a:rPr sz="1500" b="1">
                <a:solidFill>
                  <a:srgbClr val="FF005B"/>
                </a:solidFill>
                <a:latin typeface="Montserrat"/>
              </a:rPr>
              <a:t>Δ10</a:t>
            </a:r>
          </a:p>
        </p:txBody>
      </p:sp>
      <p:sp>
        <p:nvSpPr>
          <p:cNvPr id="118" name="TextBox 117"/>
          <p:cNvSpPr txBox="1"/>
          <p:nvPr/>
        </p:nvSpPr>
        <p:spPr>
          <a:xfrm>
            <a:off x="8247888" y="4709160"/>
            <a:ext cx="3255264" cy="768096"/>
          </a:xfrm>
          <a:prstGeom prst="rect">
            <a:avLst/>
          </a:prstGeom>
          <a:noFill/>
        </p:spPr>
        <p:txBody>
          <a:bodyPr wrap="square" lIns="0" rIns="0" tIns="0" bIns="0">
            <a:spAutoFit/>
          </a:bodyPr>
          <a:lstStyle/>
          <a:p>
            <a:pPr>
              <a:spcBef>
                <a:spcPts val="0"/>
              </a:spcBef>
              <a:spcAft>
                <a:spcPts val="300"/>
              </a:spcAft>
            </a:pPr>
            <a:r>
              <a:rPr sz="1500" b="0">
                <a:solidFill>
                  <a:srgbClr val="6C6176"/>
                </a:solidFill>
                <a:latin typeface="Montserrat"/>
              </a:rPr>
              <a:t>Учится объединять оценки</a:t>
            </a:r>
          </a:p>
          <a:p>
            <a:pPr>
              <a:spcBef>
                <a:spcPts val="0"/>
              </a:spcBef>
              <a:spcAft>
                <a:spcPts val="300"/>
              </a:spcAft>
            </a:pPr>
            <a:r>
              <a:rPr sz="1500" b="0">
                <a:solidFill>
                  <a:srgbClr val="6C6176"/>
                </a:solidFill>
                <a:latin typeface="Montserrat"/>
              </a:rPr>
              <a:t>пары и связи с остальными</a:t>
            </a:r>
          </a:p>
          <a:p>
            <a:pPr>
              <a:spcBef>
                <a:spcPts val="0"/>
              </a:spcBef>
              <a:spcAft>
                <a:spcPts val="300"/>
              </a:spcAft>
            </a:pPr>
            <a:r>
              <a:rPr sz="1500" b="0">
                <a:solidFill>
                  <a:srgbClr val="6C6176"/>
                </a:solidFill>
                <a:latin typeface="Montserrat"/>
              </a:rPr>
              <a:t>кандидатами.</a:t>
            </a:r>
          </a:p>
        </p:txBody>
      </p:sp>
      <p:sp>
        <p:nvSpPr>
          <p:cNvPr id="119" name="Rectangle 118"/>
          <p:cNvSpPr/>
          <p:nvPr/>
        </p:nvSpPr>
        <p:spPr>
          <a:xfrm>
            <a:off x="502920" y="5879592"/>
            <a:ext cx="11183112" cy="420624"/>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704088" y="5980176"/>
            <a:ext cx="10789920" cy="237744"/>
          </a:xfrm>
          <a:prstGeom prst="rect">
            <a:avLst/>
          </a:prstGeom>
          <a:noFill/>
        </p:spPr>
        <p:txBody>
          <a:bodyPr wrap="square" lIns="0" rIns="0" tIns="0" bIns="0">
            <a:spAutoFit/>
          </a:bodyPr>
          <a:lstStyle/>
          <a:p>
            <a:pPr algn="ctr">
              <a:spcBef>
                <a:spcPts val="0"/>
              </a:spcBef>
              <a:spcAft>
                <a:spcPts val="300"/>
              </a:spcAft>
            </a:pPr>
            <a:r>
              <a:rPr sz="1700" b="1">
                <a:solidFill>
                  <a:srgbClr val="FFFFFF"/>
                </a:solidFill>
                <a:latin typeface="Montserrat"/>
              </a:rPr>
              <a:t>Итог = z(поиск) + 0,15 × z(проверка пары) + 0,50 × Δ графа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02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ОТКАЗЫ / РЕЗУЛЬТАТ КАЛИБРОВКИ</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2800" b="1">
                <a:solidFill>
                  <a:srgbClr val="FFFFFF"/>
                </a:solidFill>
                <a:latin typeface="Montserrat"/>
              </a:rPr>
              <a:t>Проверили более мягкий порог — сохранили 6,6</a:t>
            </a:r>
          </a:p>
        </p:txBody>
      </p:sp>
      <p:cxnSp>
        <p:nvCxnSpPr>
          <p:cNvPr id="9" name="Connector 8"/>
          <p:cNvCxnSpPr/>
          <p:nvPr/>
        </p:nvCxnSpPr>
        <p:spPr>
          <a:xfrm>
            <a:off x="484632" y="6419088"/>
            <a:ext cx="11228832" cy="0"/>
          </a:xfrm>
          <a:prstGeom prst="line">
            <a:avLst/>
          </a:prstGeom>
          <a:ln w="8890">
            <a:solidFill>
              <a:srgbClr val="38214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BDAFC9"/>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BDAFC9"/>
                </a:solidFill>
                <a:latin typeface="Montserrat"/>
              </a:rPr>
              <a:t>ПОЛИТИКА ОТКАЗА</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BDAFC9"/>
                </a:solidFill>
                <a:latin typeface="Montserrat"/>
              </a:rPr>
              <a:t>14</a:t>
            </a:r>
          </a:p>
        </p:txBody>
      </p:sp>
      <p:sp>
        <p:nvSpPr>
          <p:cNvPr id="13" name="TextBox 12"/>
          <p:cNvSpPr txBox="1"/>
          <p:nvPr/>
        </p:nvSpPr>
        <p:spPr>
          <a:xfrm>
            <a:off x="502920" y="1883664"/>
            <a:ext cx="5138928" cy="365760"/>
          </a:xfrm>
          <a:prstGeom prst="rect">
            <a:avLst/>
          </a:prstGeom>
          <a:noFill/>
        </p:spPr>
        <p:txBody>
          <a:bodyPr wrap="square" lIns="0" rIns="0" tIns="0" bIns="0">
            <a:spAutoFit/>
          </a:bodyPr>
          <a:lstStyle/>
          <a:p>
            <a:pPr>
              <a:spcBef>
                <a:spcPts val="0"/>
              </a:spcBef>
              <a:spcAft>
                <a:spcPts val="300"/>
              </a:spcAft>
            </a:pPr>
            <a:r>
              <a:rPr sz="1900" b="1">
                <a:solidFill>
                  <a:srgbClr val="FFFFFF"/>
                </a:solidFill>
                <a:latin typeface="Montserrat"/>
              </a:rPr>
              <a:t>Уверенность выбранной пары</a:t>
            </a:r>
          </a:p>
        </p:txBody>
      </p:sp>
      <p:sp>
        <p:nvSpPr>
          <p:cNvPr id="14" name="Rectangle 13"/>
          <p:cNvSpPr/>
          <p:nvPr/>
        </p:nvSpPr>
        <p:spPr>
          <a:xfrm>
            <a:off x="502920" y="2551176"/>
            <a:ext cx="5138928" cy="1188720"/>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2852928"/>
            <a:ext cx="4700016" cy="548640"/>
          </a:xfrm>
          <a:prstGeom prst="rect">
            <a:avLst/>
          </a:prstGeom>
          <a:noFill/>
        </p:spPr>
        <p:txBody>
          <a:bodyPr wrap="square" lIns="0" rIns="0" tIns="0" bIns="0">
            <a:spAutoFit/>
          </a:bodyPr>
          <a:lstStyle/>
          <a:p>
            <a:pPr algn="ctr">
              <a:spcBef>
                <a:spcPts val="0"/>
              </a:spcBef>
              <a:spcAft>
                <a:spcPts val="300"/>
              </a:spcAft>
            </a:pPr>
            <a:r>
              <a:rPr sz="2000" b="1">
                <a:solidFill>
                  <a:srgbClr val="FFFFFF"/>
                </a:solidFill>
                <a:latin typeface="Montserrat"/>
              </a:rPr>
              <a:t>z = (сходство − μ базы) / σ базы</a:t>
            </a:r>
          </a:p>
        </p:txBody>
      </p:sp>
      <p:cxnSp>
        <p:nvCxnSpPr>
          <p:cNvPr id="16" name="Connector 15"/>
          <p:cNvCxnSpPr/>
          <p:nvPr/>
        </p:nvCxnSpPr>
        <p:spPr>
          <a:xfrm>
            <a:off x="3072384" y="3840480"/>
            <a:ext cx="0" cy="448056"/>
          </a:xfrm>
          <a:prstGeom prst="line">
            <a:avLst/>
          </a:prstGeom>
          <a:ln w="19050">
            <a:solidFill>
              <a:srgbClr val="BDAF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819656" y="4425696"/>
            <a:ext cx="2505456" cy="320040"/>
          </a:xfrm>
          <a:prstGeom prst="roundRect">
            <a:avLst>
              <a:gd name="adj" fmla="val 10000"/>
            </a:avLst>
          </a:prstGeom>
          <a:solidFill>
            <a:srgbClr val="FF0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92807" y="4485132"/>
            <a:ext cx="2359152" cy="210312"/>
          </a:xfrm>
          <a:prstGeom prst="rect">
            <a:avLst/>
          </a:prstGeom>
          <a:noFill/>
        </p:spPr>
        <p:txBody>
          <a:bodyPr wrap="square" lIns="0" rIns="0" tIns="0" bIns="0">
            <a:spAutoFit/>
          </a:bodyPr>
          <a:lstStyle/>
          <a:p>
            <a:pPr algn="ctr">
              <a:spcBef>
                <a:spcPts val="0"/>
              </a:spcBef>
              <a:spcAft>
                <a:spcPts val="300"/>
              </a:spcAft>
            </a:pPr>
            <a:r>
              <a:rPr sz="1600" b="1">
                <a:solidFill>
                  <a:srgbClr val="FFFFFF"/>
                </a:solidFill>
                <a:latin typeface="Montserrat"/>
              </a:rPr>
              <a:t>ПОРОГ 6,6</a:t>
            </a:r>
          </a:p>
        </p:txBody>
      </p:sp>
      <p:cxnSp>
        <p:nvCxnSpPr>
          <p:cNvPr id="19" name="Connector 18"/>
          <p:cNvCxnSpPr/>
          <p:nvPr/>
        </p:nvCxnSpPr>
        <p:spPr>
          <a:xfrm flipH="1">
            <a:off x="1719072" y="4910328"/>
            <a:ext cx="265176" cy="0"/>
          </a:xfrm>
          <a:prstGeom prst="line">
            <a:avLst/>
          </a:prstGeom>
          <a:ln w="15240">
            <a:solidFill>
              <a:srgbClr val="BDAFC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719072" y="4910328"/>
            <a:ext cx="0" cy="530352"/>
          </a:xfrm>
          <a:prstGeom prst="line">
            <a:avLst/>
          </a:prstGeom>
          <a:ln w="15240">
            <a:solidFill>
              <a:srgbClr val="BDAF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160520" y="4910328"/>
            <a:ext cx="283464" cy="0"/>
          </a:xfrm>
          <a:prstGeom prst="line">
            <a:avLst/>
          </a:prstGeom>
          <a:ln w="15240">
            <a:solidFill>
              <a:srgbClr val="BDAFC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43984" y="4910328"/>
            <a:ext cx="0" cy="530352"/>
          </a:xfrm>
          <a:prstGeom prst="line">
            <a:avLst/>
          </a:prstGeom>
          <a:ln w="15240">
            <a:solidFill>
              <a:srgbClr val="BDAF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13232" y="5632704"/>
            <a:ext cx="2011680" cy="365760"/>
          </a:xfrm>
          <a:prstGeom prst="rect">
            <a:avLst/>
          </a:prstGeom>
          <a:noFill/>
        </p:spPr>
        <p:txBody>
          <a:bodyPr wrap="square" lIns="0" rIns="0" tIns="0" bIns="0">
            <a:spAutoFit/>
          </a:bodyPr>
          <a:lstStyle/>
          <a:p>
            <a:pPr algn="ctr">
              <a:spcBef>
                <a:spcPts val="0"/>
              </a:spcBef>
              <a:spcAft>
                <a:spcPts val="300"/>
              </a:spcAft>
            </a:pPr>
            <a:r>
              <a:rPr sz="1500" b="1">
                <a:solidFill>
                  <a:srgbClr val="BDAFC9"/>
                </a:solidFill>
                <a:latin typeface="Montserrat"/>
              </a:rPr>
              <a:t>z &lt; 6,6 → отказ</a:t>
            </a:r>
          </a:p>
        </p:txBody>
      </p:sp>
      <p:sp>
        <p:nvSpPr>
          <p:cNvPr id="24" name="TextBox 23"/>
          <p:cNvSpPr txBox="1"/>
          <p:nvPr/>
        </p:nvSpPr>
        <p:spPr>
          <a:xfrm>
            <a:off x="3410712" y="5632704"/>
            <a:ext cx="2084831" cy="365760"/>
          </a:xfrm>
          <a:prstGeom prst="rect">
            <a:avLst/>
          </a:prstGeom>
          <a:noFill/>
        </p:spPr>
        <p:txBody>
          <a:bodyPr wrap="square" lIns="0" rIns="0" tIns="0" bIns="0">
            <a:spAutoFit/>
          </a:bodyPr>
          <a:lstStyle/>
          <a:p>
            <a:pPr algn="ctr">
              <a:spcBef>
                <a:spcPts val="0"/>
              </a:spcBef>
              <a:spcAft>
                <a:spcPts val="300"/>
              </a:spcAft>
            </a:pPr>
            <a:r>
              <a:rPr sz="1500" b="1">
                <a:solidFill>
                  <a:srgbClr val="FFFFFF"/>
                </a:solidFill>
                <a:latin typeface="Montserrat"/>
              </a:rPr>
              <a:t>z ≥ 6,6 → ответ</a:t>
            </a:r>
          </a:p>
        </p:txBody>
      </p:sp>
      <p:sp>
        <p:nvSpPr>
          <p:cNvPr id="25" name="TextBox 24"/>
          <p:cNvSpPr txBox="1"/>
          <p:nvPr/>
        </p:nvSpPr>
        <p:spPr>
          <a:xfrm>
            <a:off x="6245352" y="1883664"/>
            <a:ext cx="5440680" cy="365760"/>
          </a:xfrm>
          <a:prstGeom prst="rect">
            <a:avLst/>
          </a:prstGeom>
          <a:noFill/>
        </p:spPr>
        <p:txBody>
          <a:bodyPr wrap="square" lIns="0" rIns="0" tIns="0" bIns="0">
            <a:spAutoFit/>
          </a:bodyPr>
          <a:lstStyle/>
          <a:p>
            <a:pPr>
              <a:spcBef>
                <a:spcPts val="0"/>
              </a:spcBef>
              <a:spcAft>
                <a:spcPts val="300"/>
              </a:spcAft>
            </a:pPr>
            <a:r>
              <a:rPr sz="1800" b="1">
                <a:solidFill>
                  <a:srgbClr val="FFFFFF"/>
                </a:solidFill>
                <a:latin typeface="Montserrat"/>
              </a:rPr>
              <a:t>CandidateScore · проверка переноса</a:t>
            </a:r>
          </a:p>
        </p:txBody>
      </p:sp>
      <p:sp>
        <p:nvSpPr>
          <p:cNvPr id="26" name="TextBox 25"/>
          <p:cNvSpPr txBox="1"/>
          <p:nvPr/>
        </p:nvSpPr>
        <p:spPr>
          <a:xfrm>
            <a:off x="6245352" y="2825496"/>
            <a:ext cx="731520" cy="365760"/>
          </a:xfrm>
          <a:prstGeom prst="rect">
            <a:avLst/>
          </a:prstGeom>
          <a:noFill/>
        </p:spPr>
        <p:txBody>
          <a:bodyPr wrap="square" lIns="0" rIns="0" tIns="0" bIns="0">
            <a:spAutoFit/>
          </a:bodyPr>
          <a:lstStyle/>
          <a:p>
            <a:pPr>
              <a:spcBef>
                <a:spcPts val="0"/>
              </a:spcBef>
              <a:spcAft>
                <a:spcPts val="300"/>
              </a:spcAft>
            </a:pPr>
            <a:r>
              <a:rPr sz="2100" b="1">
                <a:solidFill>
                  <a:srgbClr val="FFFFFF"/>
                </a:solidFill>
                <a:latin typeface="Montserrat"/>
              </a:rPr>
              <a:t>6,6</a:t>
            </a:r>
          </a:p>
        </p:txBody>
      </p:sp>
      <p:sp>
        <p:nvSpPr>
          <p:cNvPr id="27" name="Rectangle 26"/>
          <p:cNvSpPr/>
          <p:nvPr/>
        </p:nvSpPr>
        <p:spPr>
          <a:xfrm>
            <a:off x="7232904" y="2889503"/>
            <a:ext cx="2880360" cy="301752"/>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32904" y="2889503"/>
            <a:ext cx="2710485" cy="301752"/>
          </a:xfrm>
          <a:prstGeom prst="rect">
            <a:avLst/>
          </a:prstGeom>
          <a:solidFill>
            <a:srgbClr val="1187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78440" y="2816352"/>
            <a:ext cx="1307592" cy="402336"/>
          </a:xfrm>
          <a:prstGeom prst="rect">
            <a:avLst/>
          </a:prstGeom>
          <a:noFill/>
        </p:spPr>
        <p:txBody>
          <a:bodyPr wrap="square" lIns="0" rIns="0" tIns="0" bIns="0">
            <a:spAutoFit/>
          </a:bodyPr>
          <a:lstStyle/>
          <a:p>
            <a:pPr>
              <a:spcBef>
                <a:spcPts val="0"/>
              </a:spcBef>
              <a:spcAft>
                <a:spcPts val="300"/>
              </a:spcAft>
            </a:pPr>
            <a:r>
              <a:rPr sz="2000" b="1">
                <a:solidFill>
                  <a:srgbClr val="FFFFFF"/>
                </a:solidFill>
                <a:latin typeface="Montserrat"/>
              </a:rPr>
              <a:t>0,9410</a:t>
            </a:r>
          </a:p>
        </p:txBody>
      </p:sp>
      <p:sp>
        <p:nvSpPr>
          <p:cNvPr id="30" name="TextBox 29"/>
          <p:cNvSpPr txBox="1"/>
          <p:nvPr/>
        </p:nvSpPr>
        <p:spPr>
          <a:xfrm>
            <a:off x="6245352" y="4041648"/>
            <a:ext cx="731520" cy="365760"/>
          </a:xfrm>
          <a:prstGeom prst="rect">
            <a:avLst/>
          </a:prstGeom>
          <a:noFill/>
        </p:spPr>
        <p:txBody>
          <a:bodyPr wrap="square" lIns="0" rIns="0" tIns="0" bIns="0">
            <a:spAutoFit/>
          </a:bodyPr>
          <a:lstStyle/>
          <a:p>
            <a:pPr>
              <a:spcBef>
                <a:spcPts val="0"/>
              </a:spcBef>
              <a:spcAft>
                <a:spcPts val="300"/>
              </a:spcAft>
            </a:pPr>
            <a:r>
              <a:rPr sz="2100" b="1">
                <a:solidFill>
                  <a:srgbClr val="FFFFFF"/>
                </a:solidFill>
                <a:latin typeface="Montserrat"/>
              </a:rPr>
              <a:t>6,0</a:t>
            </a:r>
          </a:p>
        </p:txBody>
      </p:sp>
      <p:sp>
        <p:nvSpPr>
          <p:cNvPr id="31" name="Rectangle 30"/>
          <p:cNvSpPr/>
          <p:nvPr/>
        </p:nvSpPr>
        <p:spPr>
          <a:xfrm>
            <a:off x="7232904" y="4105656"/>
            <a:ext cx="2880360" cy="301752"/>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32904" y="4105656"/>
            <a:ext cx="2699493" cy="301752"/>
          </a:xfrm>
          <a:prstGeom prst="rect">
            <a:avLst/>
          </a:prstGeom>
          <a:solidFill>
            <a:srgbClr val="BF38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78440" y="4032504"/>
            <a:ext cx="1307592" cy="402336"/>
          </a:xfrm>
          <a:prstGeom prst="rect">
            <a:avLst/>
          </a:prstGeom>
          <a:noFill/>
        </p:spPr>
        <p:txBody>
          <a:bodyPr wrap="square" lIns="0" rIns="0" tIns="0" bIns="0">
            <a:spAutoFit/>
          </a:bodyPr>
          <a:lstStyle/>
          <a:p>
            <a:pPr>
              <a:spcBef>
                <a:spcPts val="0"/>
              </a:spcBef>
              <a:spcAft>
                <a:spcPts val="300"/>
              </a:spcAft>
            </a:pPr>
            <a:r>
              <a:rPr sz="2000" b="1">
                <a:solidFill>
                  <a:srgbClr val="FFFFFF"/>
                </a:solidFill>
                <a:latin typeface="Montserrat"/>
              </a:rPr>
              <a:t>0,9372</a:t>
            </a:r>
          </a:p>
        </p:txBody>
      </p:sp>
      <p:sp>
        <p:nvSpPr>
          <p:cNvPr id="34" name="TextBox 33"/>
          <p:cNvSpPr txBox="1"/>
          <p:nvPr/>
        </p:nvSpPr>
        <p:spPr>
          <a:xfrm>
            <a:off x="6245352" y="5120640"/>
            <a:ext cx="5440680" cy="539496"/>
          </a:xfrm>
          <a:prstGeom prst="rect">
            <a:avLst/>
          </a:prstGeom>
          <a:noFill/>
        </p:spPr>
        <p:txBody>
          <a:bodyPr wrap="square" lIns="0" rIns="0" tIns="0" bIns="0">
            <a:spAutoFit/>
          </a:bodyPr>
          <a:lstStyle/>
          <a:p>
            <a:pPr>
              <a:spcBef>
                <a:spcPts val="0"/>
              </a:spcBef>
              <a:spcAft>
                <a:spcPts val="300"/>
              </a:spcAft>
            </a:pPr>
            <a:r>
              <a:rPr sz="2300" b="1">
                <a:solidFill>
                  <a:srgbClr val="FFFFFF"/>
                </a:solidFill>
                <a:latin typeface="Montserrat"/>
              </a:rPr>
              <a:t>−0,0038 при снижении порога</a:t>
            </a:r>
          </a:p>
        </p:txBody>
      </p:sp>
      <p:sp>
        <p:nvSpPr>
          <p:cNvPr id="35" name="TextBox 34"/>
          <p:cNvSpPr txBox="1"/>
          <p:nvPr/>
        </p:nvSpPr>
        <p:spPr>
          <a:xfrm>
            <a:off x="6245352" y="5870448"/>
            <a:ext cx="5440680" cy="283464"/>
          </a:xfrm>
          <a:prstGeom prst="rect">
            <a:avLst/>
          </a:prstGeom>
          <a:noFill/>
        </p:spPr>
        <p:txBody>
          <a:bodyPr wrap="square" lIns="0" rIns="0" tIns="0" bIns="0">
            <a:spAutoFit/>
          </a:bodyPr>
          <a:lstStyle/>
          <a:p>
            <a:pPr>
              <a:spcBef>
                <a:spcPts val="0"/>
              </a:spcBef>
              <a:spcAft>
                <a:spcPts val="300"/>
              </a:spcAft>
            </a:pPr>
            <a:r>
              <a:rPr sz="1200" b="0">
                <a:solidFill>
                  <a:srgbClr val="BDAFC9"/>
                </a:solidFill>
                <a:latin typeface="Montserrat"/>
              </a:rPr>
              <a:t>Ранжирование в этом сравнении фиксировано.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УСКОРЕНИЕ / БЕЗ СМЕНЫ МОДЕЛЕЙ</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2800" b="1">
                <a:solidFill>
                  <a:srgbClr val="321044"/>
                </a:solidFill>
                <a:latin typeface="Montserrat"/>
              </a:rPr>
              <a:t>Throughput +48%: конвейер и CUDA Graphs</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СКОРОСТЬ ИСПОЛНЕНИЯ</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15</a:t>
            </a:r>
          </a:p>
        </p:txBody>
      </p:sp>
      <p:sp>
        <p:nvSpPr>
          <p:cNvPr id="13" name="TextBox 12"/>
          <p:cNvSpPr txBox="1"/>
          <p:nvPr/>
        </p:nvSpPr>
        <p:spPr>
          <a:xfrm>
            <a:off x="502920" y="1801368"/>
            <a:ext cx="6748272" cy="365760"/>
          </a:xfrm>
          <a:prstGeom prst="rect">
            <a:avLst/>
          </a:prstGeom>
          <a:noFill/>
        </p:spPr>
        <p:txBody>
          <a:bodyPr wrap="square" lIns="0" rIns="0" tIns="0" bIns="0">
            <a:spAutoFit/>
          </a:bodyPr>
          <a:lstStyle/>
          <a:p>
            <a:pPr>
              <a:spcBef>
                <a:spcPts val="0"/>
              </a:spcBef>
              <a:spcAft>
                <a:spcPts val="300"/>
              </a:spcAft>
            </a:pPr>
            <a:r>
              <a:rPr sz="1600" b="1">
                <a:solidFill>
                  <a:srgbClr val="321044"/>
                </a:solidFill>
                <a:latin typeface="Montserrat"/>
              </a:rPr>
              <a:t>CPU готовит следующий пакет, пока GPU считает текущий</a:t>
            </a:r>
          </a:p>
        </p:txBody>
      </p:sp>
      <p:sp>
        <p:nvSpPr>
          <p:cNvPr id="14" name="TextBox 13"/>
          <p:cNvSpPr txBox="1"/>
          <p:nvPr/>
        </p:nvSpPr>
        <p:spPr>
          <a:xfrm>
            <a:off x="502920" y="2606040"/>
            <a:ext cx="612648" cy="365760"/>
          </a:xfrm>
          <a:prstGeom prst="rect">
            <a:avLst/>
          </a:prstGeom>
          <a:noFill/>
        </p:spPr>
        <p:txBody>
          <a:bodyPr wrap="square" lIns="0" rIns="0" tIns="0" bIns="0">
            <a:spAutoFit/>
          </a:bodyPr>
          <a:lstStyle/>
          <a:p>
            <a:pPr>
              <a:spcBef>
                <a:spcPts val="0"/>
              </a:spcBef>
              <a:spcAft>
                <a:spcPts val="300"/>
              </a:spcAft>
            </a:pPr>
            <a:r>
              <a:rPr sz="1500" b="1">
                <a:solidFill>
                  <a:srgbClr val="321044"/>
                </a:solidFill>
                <a:latin typeface="Montserrat"/>
              </a:rPr>
              <a:t>CPU</a:t>
            </a:r>
          </a:p>
        </p:txBody>
      </p:sp>
      <p:sp>
        <p:nvSpPr>
          <p:cNvPr id="15" name="TextBox 14"/>
          <p:cNvSpPr txBox="1"/>
          <p:nvPr/>
        </p:nvSpPr>
        <p:spPr>
          <a:xfrm>
            <a:off x="502920" y="3456432"/>
            <a:ext cx="612648" cy="365760"/>
          </a:xfrm>
          <a:prstGeom prst="rect">
            <a:avLst/>
          </a:prstGeom>
          <a:noFill/>
        </p:spPr>
        <p:txBody>
          <a:bodyPr wrap="square" lIns="0" rIns="0" tIns="0" bIns="0">
            <a:spAutoFit/>
          </a:bodyPr>
          <a:lstStyle/>
          <a:p>
            <a:pPr>
              <a:spcBef>
                <a:spcPts val="0"/>
              </a:spcBef>
              <a:spcAft>
                <a:spcPts val="300"/>
              </a:spcAft>
            </a:pPr>
            <a:r>
              <a:rPr sz="1500" b="1">
                <a:solidFill>
                  <a:srgbClr val="321044"/>
                </a:solidFill>
                <a:latin typeface="Montserrat"/>
              </a:rPr>
              <a:t>GPU</a:t>
            </a:r>
          </a:p>
        </p:txBody>
      </p:sp>
      <p:sp>
        <p:nvSpPr>
          <p:cNvPr id="16" name="Rectangle 15"/>
          <p:cNvSpPr/>
          <p:nvPr/>
        </p:nvSpPr>
        <p:spPr>
          <a:xfrm>
            <a:off x="1353312" y="2523744"/>
            <a:ext cx="1719072" cy="484632"/>
          </a:xfrm>
          <a:prstGeom prst="rect">
            <a:avLst/>
          </a:prstGeom>
          <a:solidFill>
            <a:srgbClr val="EB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44752" y="2670048"/>
            <a:ext cx="1536192" cy="246888"/>
          </a:xfrm>
          <a:prstGeom prst="rect">
            <a:avLst/>
          </a:prstGeom>
          <a:noFill/>
        </p:spPr>
        <p:txBody>
          <a:bodyPr wrap="square" lIns="0" rIns="0" tIns="0" bIns="0">
            <a:spAutoFit/>
          </a:bodyPr>
          <a:lstStyle/>
          <a:p>
            <a:pPr algn="ctr">
              <a:spcBef>
                <a:spcPts val="0"/>
              </a:spcBef>
              <a:spcAft>
                <a:spcPts val="300"/>
              </a:spcAft>
            </a:pPr>
            <a:r>
              <a:rPr sz="1200" b="1">
                <a:solidFill>
                  <a:srgbClr val="5C6FC0"/>
                </a:solidFill>
                <a:latin typeface="Montserrat"/>
              </a:rPr>
              <a:t>Пакет 1</a:t>
            </a:r>
          </a:p>
        </p:txBody>
      </p:sp>
      <p:sp>
        <p:nvSpPr>
          <p:cNvPr id="18" name="Rectangle 17"/>
          <p:cNvSpPr/>
          <p:nvPr/>
        </p:nvSpPr>
        <p:spPr>
          <a:xfrm>
            <a:off x="3319272" y="2523744"/>
            <a:ext cx="1719072" cy="484632"/>
          </a:xfrm>
          <a:prstGeom prst="rect">
            <a:avLst/>
          </a:prstGeom>
          <a:solidFill>
            <a:srgbClr val="EB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0712" y="2670048"/>
            <a:ext cx="1536192" cy="246888"/>
          </a:xfrm>
          <a:prstGeom prst="rect">
            <a:avLst/>
          </a:prstGeom>
          <a:noFill/>
        </p:spPr>
        <p:txBody>
          <a:bodyPr wrap="square" lIns="0" rIns="0" tIns="0" bIns="0">
            <a:spAutoFit/>
          </a:bodyPr>
          <a:lstStyle/>
          <a:p>
            <a:pPr algn="ctr">
              <a:spcBef>
                <a:spcPts val="0"/>
              </a:spcBef>
              <a:spcAft>
                <a:spcPts val="300"/>
              </a:spcAft>
            </a:pPr>
            <a:r>
              <a:rPr sz="1200" b="1">
                <a:solidFill>
                  <a:srgbClr val="5C6FC0"/>
                </a:solidFill>
                <a:latin typeface="Montserrat"/>
              </a:rPr>
              <a:t>Пакет 2</a:t>
            </a:r>
          </a:p>
        </p:txBody>
      </p:sp>
      <p:sp>
        <p:nvSpPr>
          <p:cNvPr id="20" name="Rectangle 19"/>
          <p:cNvSpPr/>
          <p:nvPr/>
        </p:nvSpPr>
        <p:spPr>
          <a:xfrm>
            <a:off x="5285232" y="2523744"/>
            <a:ext cx="1719072" cy="484632"/>
          </a:xfrm>
          <a:prstGeom prst="rect">
            <a:avLst/>
          </a:prstGeom>
          <a:solidFill>
            <a:srgbClr val="EB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76672" y="2670048"/>
            <a:ext cx="1536192" cy="246888"/>
          </a:xfrm>
          <a:prstGeom prst="rect">
            <a:avLst/>
          </a:prstGeom>
          <a:noFill/>
        </p:spPr>
        <p:txBody>
          <a:bodyPr wrap="square" lIns="0" rIns="0" tIns="0" bIns="0">
            <a:spAutoFit/>
          </a:bodyPr>
          <a:lstStyle/>
          <a:p>
            <a:pPr algn="ctr">
              <a:spcBef>
                <a:spcPts val="0"/>
              </a:spcBef>
              <a:spcAft>
                <a:spcPts val="300"/>
              </a:spcAft>
            </a:pPr>
            <a:r>
              <a:rPr sz="1200" b="1">
                <a:solidFill>
                  <a:srgbClr val="5C6FC0"/>
                </a:solidFill>
                <a:latin typeface="Montserrat"/>
              </a:rPr>
              <a:t>Пакет 3</a:t>
            </a:r>
          </a:p>
        </p:txBody>
      </p:sp>
      <p:sp>
        <p:nvSpPr>
          <p:cNvPr id="22" name="Rectangle 21"/>
          <p:cNvSpPr/>
          <p:nvPr/>
        </p:nvSpPr>
        <p:spPr>
          <a:xfrm>
            <a:off x="3145536" y="3364992"/>
            <a:ext cx="1719072" cy="48463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36976" y="3511296"/>
            <a:ext cx="1536192" cy="246888"/>
          </a:xfrm>
          <a:prstGeom prst="rect">
            <a:avLst/>
          </a:prstGeom>
          <a:noFill/>
        </p:spPr>
        <p:txBody>
          <a:bodyPr wrap="square" lIns="0" rIns="0" tIns="0" bIns="0">
            <a:spAutoFit/>
          </a:bodyPr>
          <a:lstStyle/>
          <a:p>
            <a:pPr algn="ctr">
              <a:spcBef>
                <a:spcPts val="0"/>
              </a:spcBef>
              <a:spcAft>
                <a:spcPts val="300"/>
              </a:spcAft>
            </a:pPr>
            <a:r>
              <a:rPr sz="1200" b="1">
                <a:solidFill>
                  <a:srgbClr val="FFFFFF"/>
                </a:solidFill>
                <a:latin typeface="Montserrat"/>
              </a:rPr>
              <a:t>Пакет 1</a:t>
            </a:r>
          </a:p>
        </p:txBody>
      </p:sp>
      <p:sp>
        <p:nvSpPr>
          <p:cNvPr id="24" name="Rectangle 23"/>
          <p:cNvSpPr/>
          <p:nvPr/>
        </p:nvSpPr>
        <p:spPr>
          <a:xfrm>
            <a:off x="5111496" y="3364992"/>
            <a:ext cx="1719072" cy="48463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02936" y="3511296"/>
            <a:ext cx="1536192" cy="246888"/>
          </a:xfrm>
          <a:prstGeom prst="rect">
            <a:avLst/>
          </a:prstGeom>
          <a:noFill/>
        </p:spPr>
        <p:txBody>
          <a:bodyPr wrap="square" lIns="0" rIns="0" tIns="0" bIns="0">
            <a:spAutoFit/>
          </a:bodyPr>
          <a:lstStyle/>
          <a:p>
            <a:pPr algn="ctr">
              <a:spcBef>
                <a:spcPts val="0"/>
              </a:spcBef>
              <a:spcAft>
                <a:spcPts val="300"/>
              </a:spcAft>
            </a:pPr>
            <a:r>
              <a:rPr sz="1200" b="1">
                <a:solidFill>
                  <a:srgbClr val="FFFFFF"/>
                </a:solidFill>
                <a:latin typeface="Montserrat"/>
              </a:rPr>
              <a:t>Пакет 2</a:t>
            </a:r>
          </a:p>
        </p:txBody>
      </p:sp>
      <p:cxnSp>
        <p:nvCxnSpPr>
          <p:cNvPr id="26" name="Connector 25"/>
          <p:cNvCxnSpPr/>
          <p:nvPr/>
        </p:nvCxnSpPr>
        <p:spPr>
          <a:xfrm>
            <a:off x="3072384" y="3072384"/>
            <a:ext cx="0" cy="137160"/>
          </a:xfrm>
          <a:prstGeom prst="line">
            <a:avLst/>
          </a:prstGeom>
          <a:ln w="1270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072384" y="3209544"/>
            <a:ext cx="182880" cy="0"/>
          </a:xfrm>
          <a:prstGeom prst="line">
            <a:avLst/>
          </a:prstGeom>
          <a:ln w="1270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255264" y="3209544"/>
            <a:ext cx="0" cy="9144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38344" y="3072384"/>
            <a:ext cx="0" cy="137160"/>
          </a:xfrm>
          <a:prstGeom prst="line">
            <a:avLst/>
          </a:prstGeom>
          <a:ln w="1270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038344" y="3209544"/>
            <a:ext cx="182880" cy="0"/>
          </a:xfrm>
          <a:prstGeom prst="line">
            <a:avLst/>
          </a:prstGeom>
          <a:ln w="12700">
            <a:solidFill>
              <a:srgbClr val="6C617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221224" y="3209544"/>
            <a:ext cx="0" cy="9144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53312" y="4096512"/>
            <a:ext cx="5669280" cy="0"/>
          </a:xfrm>
          <a:prstGeom prst="line">
            <a:avLst/>
          </a:prstGeom>
          <a:ln w="12700">
            <a:solidFill>
              <a:srgbClr val="DED5E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4416552"/>
            <a:ext cx="6748272" cy="365760"/>
          </a:xfrm>
          <a:prstGeom prst="rect">
            <a:avLst/>
          </a:prstGeom>
          <a:noFill/>
        </p:spPr>
        <p:txBody>
          <a:bodyPr wrap="square" lIns="0" rIns="0" tIns="0" bIns="0">
            <a:spAutoFit/>
          </a:bodyPr>
          <a:lstStyle/>
          <a:p>
            <a:pPr>
              <a:spcBef>
                <a:spcPts val="0"/>
              </a:spcBef>
              <a:spcAft>
                <a:spcPts val="300"/>
              </a:spcAft>
            </a:pPr>
            <a:r>
              <a:rPr sz="1600" b="1">
                <a:solidFill>
                  <a:srgbClr val="321044"/>
                </a:solidFill>
                <a:latin typeface="Montserrat"/>
              </a:rPr>
              <a:t>CUDA Graphs: повторяем готовую цепочку операций</a:t>
            </a:r>
          </a:p>
        </p:txBody>
      </p:sp>
      <p:sp>
        <p:nvSpPr>
          <p:cNvPr id="34" name="Rectangle 33"/>
          <p:cNvSpPr/>
          <p:nvPr/>
        </p:nvSpPr>
        <p:spPr>
          <a:xfrm>
            <a:off x="585216" y="5074920"/>
            <a:ext cx="941832" cy="57607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248656"/>
            <a:ext cx="795528" cy="219456"/>
          </a:xfrm>
          <a:prstGeom prst="rect">
            <a:avLst/>
          </a:prstGeom>
          <a:noFill/>
        </p:spPr>
        <p:txBody>
          <a:bodyPr wrap="square" lIns="0" rIns="0" tIns="0" bIns="0">
            <a:spAutoFit/>
          </a:bodyPr>
          <a:lstStyle/>
          <a:p>
            <a:pPr algn="ctr">
              <a:spcBef>
                <a:spcPts val="0"/>
              </a:spcBef>
              <a:spcAft>
                <a:spcPts val="300"/>
              </a:spcAft>
            </a:pPr>
            <a:r>
              <a:rPr sz="1100" b="1">
                <a:solidFill>
                  <a:srgbClr val="FFFFFF"/>
                </a:solidFill>
                <a:latin typeface="Montserrat"/>
              </a:rPr>
              <a:t>op 1</a:t>
            </a:r>
          </a:p>
        </p:txBody>
      </p:sp>
      <p:cxnSp>
        <p:nvCxnSpPr>
          <p:cNvPr id="36" name="Connector 35"/>
          <p:cNvCxnSpPr/>
          <p:nvPr/>
        </p:nvCxnSpPr>
        <p:spPr>
          <a:xfrm>
            <a:off x="1563624" y="5358384"/>
            <a:ext cx="338328" cy="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938528" y="5074920"/>
            <a:ext cx="941832" cy="57607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5248656"/>
            <a:ext cx="795528" cy="219456"/>
          </a:xfrm>
          <a:prstGeom prst="rect">
            <a:avLst/>
          </a:prstGeom>
          <a:noFill/>
        </p:spPr>
        <p:txBody>
          <a:bodyPr wrap="square" lIns="0" rIns="0" tIns="0" bIns="0">
            <a:spAutoFit/>
          </a:bodyPr>
          <a:lstStyle/>
          <a:p>
            <a:pPr algn="ctr">
              <a:spcBef>
                <a:spcPts val="0"/>
              </a:spcBef>
              <a:spcAft>
                <a:spcPts val="300"/>
              </a:spcAft>
            </a:pPr>
            <a:r>
              <a:rPr sz="1100" b="1">
                <a:solidFill>
                  <a:srgbClr val="FFFFFF"/>
                </a:solidFill>
                <a:latin typeface="Montserrat"/>
              </a:rPr>
              <a:t>op 2</a:t>
            </a:r>
          </a:p>
        </p:txBody>
      </p:sp>
      <p:cxnSp>
        <p:nvCxnSpPr>
          <p:cNvPr id="39" name="Connector 38"/>
          <p:cNvCxnSpPr/>
          <p:nvPr/>
        </p:nvCxnSpPr>
        <p:spPr>
          <a:xfrm>
            <a:off x="2916936" y="5358384"/>
            <a:ext cx="338328" cy="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291840" y="5074920"/>
            <a:ext cx="941832" cy="57607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64992" y="5248656"/>
            <a:ext cx="795528" cy="219456"/>
          </a:xfrm>
          <a:prstGeom prst="rect">
            <a:avLst/>
          </a:prstGeom>
          <a:noFill/>
        </p:spPr>
        <p:txBody>
          <a:bodyPr wrap="square" lIns="0" rIns="0" tIns="0" bIns="0">
            <a:spAutoFit/>
          </a:bodyPr>
          <a:lstStyle/>
          <a:p>
            <a:pPr algn="ctr">
              <a:spcBef>
                <a:spcPts val="0"/>
              </a:spcBef>
              <a:spcAft>
                <a:spcPts val="300"/>
              </a:spcAft>
            </a:pPr>
            <a:r>
              <a:rPr sz="1100" b="1">
                <a:solidFill>
                  <a:srgbClr val="FFFFFF"/>
                </a:solidFill>
                <a:latin typeface="Montserrat"/>
              </a:rPr>
              <a:t>op 3</a:t>
            </a:r>
          </a:p>
        </p:txBody>
      </p:sp>
      <p:cxnSp>
        <p:nvCxnSpPr>
          <p:cNvPr id="42" name="Connector 41"/>
          <p:cNvCxnSpPr/>
          <p:nvPr/>
        </p:nvCxnSpPr>
        <p:spPr>
          <a:xfrm>
            <a:off x="4270248" y="5358384"/>
            <a:ext cx="338328" cy="0"/>
          </a:xfrm>
          <a:prstGeom prst="line">
            <a:avLst/>
          </a:prstGeom>
          <a:ln w="12700">
            <a:solidFill>
              <a:srgbClr val="6C61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645151" y="5074920"/>
            <a:ext cx="941832" cy="57607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3" y="5248656"/>
            <a:ext cx="795528" cy="219456"/>
          </a:xfrm>
          <a:prstGeom prst="rect">
            <a:avLst/>
          </a:prstGeom>
          <a:noFill/>
        </p:spPr>
        <p:txBody>
          <a:bodyPr wrap="square" lIns="0" rIns="0" tIns="0" bIns="0">
            <a:spAutoFit/>
          </a:bodyPr>
          <a:lstStyle/>
          <a:p>
            <a:pPr algn="ctr">
              <a:spcBef>
                <a:spcPts val="0"/>
              </a:spcBef>
              <a:spcAft>
                <a:spcPts val="300"/>
              </a:spcAft>
            </a:pPr>
            <a:r>
              <a:rPr sz="1100" b="1">
                <a:solidFill>
                  <a:srgbClr val="FFFFFF"/>
                </a:solidFill>
                <a:latin typeface="Montserrat"/>
              </a:rPr>
              <a:t>op 4</a:t>
            </a:r>
          </a:p>
        </p:txBody>
      </p:sp>
      <p:cxnSp>
        <p:nvCxnSpPr>
          <p:cNvPr id="45" name="Connector 44"/>
          <p:cNvCxnSpPr/>
          <p:nvPr/>
        </p:nvCxnSpPr>
        <p:spPr>
          <a:xfrm>
            <a:off x="5623560" y="5349240"/>
            <a:ext cx="1216152" cy="0"/>
          </a:xfrm>
          <a:prstGeom prst="line">
            <a:avLst/>
          </a:prstGeom>
          <a:ln w="1778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839712" y="5349240"/>
            <a:ext cx="0" cy="594360"/>
          </a:xfrm>
          <a:prstGeom prst="line">
            <a:avLst/>
          </a:prstGeom>
          <a:ln w="1778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585216" y="5943600"/>
            <a:ext cx="6254496" cy="0"/>
          </a:xfrm>
          <a:prstGeom prst="line">
            <a:avLst/>
          </a:prstGeom>
          <a:ln w="1778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85216" y="5705856"/>
            <a:ext cx="0" cy="237744"/>
          </a:xfrm>
          <a:prstGeom prst="line">
            <a:avLst/>
          </a:prstGeom>
          <a:ln w="1778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148840" y="6025896"/>
            <a:ext cx="3749039" cy="210312"/>
          </a:xfrm>
          <a:prstGeom prst="rect">
            <a:avLst/>
          </a:prstGeom>
          <a:noFill/>
        </p:spPr>
        <p:txBody>
          <a:bodyPr wrap="square" lIns="0" rIns="0" tIns="0" bIns="0">
            <a:spAutoFit/>
          </a:bodyPr>
          <a:lstStyle/>
          <a:p>
            <a:pPr algn="ctr">
              <a:spcBef>
                <a:spcPts val="0"/>
              </a:spcBef>
              <a:spcAft>
                <a:spcPts val="300"/>
              </a:spcAft>
            </a:pPr>
            <a:r>
              <a:rPr sz="1000" b="0">
                <a:solidFill>
                  <a:srgbClr val="6C6176"/>
                </a:solidFill>
                <a:latin typeface="Montserrat"/>
              </a:rPr>
              <a:t>Один replay вместо отдельных запусков</a:t>
            </a:r>
          </a:p>
        </p:txBody>
      </p:sp>
      <p:sp>
        <p:nvSpPr>
          <p:cNvPr id="50" name="Rectangle 49"/>
          <p:cNvSpPr/>
          <p:nvPr/>
        </p:nvSpPr>
        <p:spPr>
          <a:xfrm>
            <a:off x="7534656" y="1828800"/>
            <a:ext cx="4151376" cy="440740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99831" y="2075688"/>
            <a:ext cx="3621024" cy="466344"/>
          </a:xfrm>
          <a:prstGeom prst="rect">
            <a:avLst/>
          </a:prstGeom>
          <a:noFill/>
        </p:spPr>
        <p:txBody>
          <a:bodyPr wrap="square" lIns="0" rIns="0" tIns="0" bIns="0">
            <a:spAutoFit/>
          </a:bodyPr>
          <a:lstStyle/>
          <a:p>
            <a:pPr>
              <a:spcBef>
                <a:spcPts val="0"/>
              </a:spcBef>
              <a:spcAft>
                <a:spcPts val="300"/>
              </a:spcAft>
            </a:pPr>
            <a:r>
              <a:rPr sz="1900" b="1">
                <a:solidFill>
                  <a:srgbClr val="321044"/>
                </a:solidFill>
                <a:latin typeface="Montserrat"/>
              </a:rPr>
              <a:t>Один запрос: одна передача</a:t>
            </a:r>
          </a:p>
        </p:txBody>
      </p:sp>
      <p:sp>
        <p:nvSpPr>
          <p:cNvPr id="52" name="Rectangle 51"/>
          <p:cNvSpPr/>
          <p:nvPr/>
        </p:nvSpPr>
        <p:spPr>
          <a:xfrm>
            <a:off x="7790688" y="2926080"/>
            <a:ext cx="1234440" cy="65836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09560" y="3072384"/>
            <a:ext cx="996696" cy="384048"/>
          </a:xfrm>
          <a:prstGeom prst="rect">
            <a:avLst/>
          </a:prstGeom>
          <a:noFill/>
        </p:spPr>
        <p:txBody>
          <a:bodyPr wrap="square" lIns="0" rIns="0" tIns="0" bIns="0">
            <a:spAutoFit/>
          </a:bodyPr>
          <a:lstStyle/>
          <a:p>
            <a:pPr algn="ctr">
              <a:spcBef>
                <a:spcPts val="0"/>
              </a:spcBef>
              <a:spcAft>
                <a:spcPts val="300"/>
              </a:spcAft>
            </a:pPr>
            <a:r>
              <a:rPr sz="1600" b="1">
                <a:solidFill>
                  <a:srgbClr val="321044"/>
                </a:solidFill>
                <a:latin typeface="Montserrat"/>
              </a:rPr>
              <a:t>CPU</a:t>
            </a:r>
          </a:p>
        </p:txBody>
      </p:sp>
      <p:sp>
        <p:nvSpPr>
          <p:cNvPr id="54" name="Rectangle 53"/>
          <p:cNvSpPr/>
          <p:nvPr/>
        </p:nvSpPr>
        <p:spPr>
          <a:xfrm>
            <a:off x="10204704" y="2926080"/>
            <a:ext cx="1234440" cy="658368"/>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23576" y="3072384"/>
            <a:ext cx="996696" cy="384048"/>
          </a:xfrm>
          <a:prstGeom prst="rect">
            <a:avLst/>
          </a:prstGeom>
          <a:noFill/>
        </p:spPr>
        <p:txBody>
          <a:bodyPr wrap="square" lIns="0" rIns="0" tIns="0" bIns="0">
            <a:spAutoFit/>
          </a:bodyPr>
          <a:lstStyle/>
          <a:p>
            <a:pPr algn="ctr">
              <a:spcBef>
                <a:spcPts val="0"/>
              </a:spcBef>
              <a:spcAft>
                <a:spcPts val="300"/>
              </a:spcAft>
            </a:pPr>
            <a:r>
              <a:rPr sz="1600" b="1">
                <a:solidFill>
                  <a:srgbClr val="321044"/>
                </a:solidFill>
                <a:latin typeface="Montserrat"/>
              </a:rPr>
              <a:t>GPU</a:t>
            </a:r>
          </a:p>
        </p:txBody>
      </p:sp>
      <p:cxnSp>
        <p:nvCxnSpPr>
          <p:cNvPr id="56" name="Connector 55"/>
          <p:cNvCxnSpPr/>
          <p:nvPr/>
        </p:nvCxnSpPr>
        <p:spPr>
          <a:xfrm>
            <a:off x="9089136" y="3255264"/>
            <a:ext cx="1042416" cy="0"/>
          </a:xfrm>
          <a:prstGeom prst="line">
            <a:avLst/>
          </a:prstGeom>
          <a:ln w="2540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043416" y="3794760"/>
            <a:ext cx="1225296" cy="283464"/>
          </a:xfrm>
          <a:prstGeom prst="rect">
            <a:avLst/>
          </a:prstGeom>
          <a:noFill/>
        </p:spPr>
        <p:txBody>
          <a:bodyPr wrap="square" lIns="0" rIns="0" tIns="0" bIns="0">
            <a:spAutoFit/>
          </a:bodyPr>
          <a:lstStyle/>
          <a:p>
            <a:pPr algn="ctr">
              <a:spcBef>
                <a:spcPts val="0"/>
              </a:spcBef>
              <a:spcAft>
                <a:spcPts val="300"/>
              </a:spcAft>
            </a:pPr>
            <a:r>
              <a:rPr sz="1200" b="1">
                <a:solidFill>
                  <a:srgbClr val="FF005B"/>
                </a:solidFill>
                <a:latin typeface="Montserrat"/>
              </a:rPr>
              <a:t>1× вместо 4×</a:t>
            </a:r>
          </a:p>
        </p:txBody>
      </p:sp>
      <p:sp>
        <p:nvSpPr>
          <p:cNvPr id="58" name="TextBox 57"/>
          <p:cNvSpPr txBox="1"/>
          <p:nvPr/>
        </p:nvSpPr>
        <p:spPr>
          <a:xfrm>
            <a:off x="7799831" y="4535424"/>
            <a:ext cx="3621024" cy="566928"/>
          </a:xfrm>
          <a:prstGeom prst="rect">
            <a:avLst/>
          </a:prstGeom>
          <a:noFill/>
        </p:spPr>
        <p:txBody>
          <a:bodyPr wrap="square" lIns="0" rIns="0" tIns="0" bIns="0">
            <a:spAutoFit/>
          </a:bodyPr>
          <a:lstStyle/>
          <a:p>
            <a:pPr>
              <a:spcBef>
                <a:spcPts val="0"/>
              </a:spcBef>
              <a:spcAft>
                <a:spcPts val="300"/>
              </a:spcAft>
            </a:pPr>
            <a:r>
              <a:rPr sz="2800" b="1">
                <a:solidFill>
                  <a:srgbClr val="321044"/>
                </a:solidFill>
                <a:latin typeface="Montserrat"/>
              </a:rPr>
              <a:t>−8,52 МБ</a:t>
            </a:r>
          </a:p>
        </p:txBody>
      </p:sp>
      <p:sp>
        <p:nvSpPr>
          <p:cNvPr id="59" name="TextBox 58"/>
          <p:cNvSpPr txBox="1"/>
          <p:nvPr/>
        </p:nvSpPr>
        <p:spPr>
          <a:xfrm>
            <a:off x="7799831" y="5212080"/>
            <a:ext cx="3621024"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передачи на GPU / запрос</a:t>
            </a:r>
          </a:p>
        </p:txBody>
      </p:sp>
      <p:sp>
        <p:nvSpPr>
          <p:cNvPr id="60" name="TextBox 59"/>
          <p:cNvSpPr txBox="1"/>
          <p:nvPr/>
        </p:nvSpPr>
        <p:spPr>
          <a:xfrm>
            <a:off x="7799831" y="5760720"/>
            <a:ext cx="3621024" cy="301752"/>
          </a:xfrm>
          <a:prstGeom prst="rect">
            <a:avLst/>
          </a:prstGeom>
          <a:noFill/>
        </p:spPr>
        <p:txBody>
          <a:bodyPr wrap="square" lIns="0" rIns="0" tIns="0" bIns="0">
            <a:spAutoFit/>
          </a:bodyPr>
          <a:lstStyle/>
          <a:p>
            <a:pPr>
              <a:spcBef>
                <a:spcPts val="0"/>
              </a:spcBef>
              <a:spcAft>
                <a:spcPts val="300"/>
              </a:spcAft>
            </a:pPr>
            <a:r>
              <a:rPr sz="1200" b="1">
                <a:solidFill>
                  <a:srgbClr val="321044"/>
                </a:solidFill>
                <a:latin typeface="Montserrat"/>
              </a:rPr>
              <a:t>Веса, FP16 и порог сохранены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ИЗМЕРЕНИЯ / RTX A5000</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100" b="1">
                <a:solidFill>
                  <a:srgbClr val="321044"/>
                </a:solidFill>
                <a:latin typeface="Montserrat"/>
              </a:rPr>
              <a:t>Throughput и latency на A5000</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C5 · JPEG → ВЕКТОР</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16</a:t>
            </a:r>
          </a:p>
        </p:txBody>
      </p:sp>
      <p:sp>
        <p:nvSpPr>
          <p:cNvPr id="13" name="TextBox 12"/>
          <p:cNvSpPr txBox="1"/>
          <p:nvPr/>
        </p:nvSpPr>
        <p:spPr>
          <a:xfrm>
            <a:off x="502920" y="1819656"/>
            <a:ext cx="5276088" cy="365760"/>
          </a:xfrm>
          <a:prstGeom prst="rect">
            <a:avLst/>
          </a:prstGeom>
          <a:noFill/>
        </p:spPr>
        <p:txBody>
          <a:bodyPr wrap="square" lIns="0" rIns="0" tIns="0" bIns="0">
            <a:spAutoFit/>
          </a:bodyPr>
          <a:lstStyle/>
          <a:p>
            <a:pPr>
              <a:spcBef>
                <a:spcPts val="0"/>
              </a:spcBef>
              <a:spcAft>
                <a:spcPts val="300"/>
              </a:spcAft>
            </a:pPr>
            <a:r>
              <a:rPr sz="2000" b="1">
                <a:solidFill>
                  <a:srgbClr val="321044"/>
                </a:solidFill>
                <a:latin typeface="Montserrat"/>
              </a:rPr>
              <a:t>Throughput · batch=32</a:t>
            </a:r>
          </a:p>
        </p:txBody>
      </p:sp>
      <p:sp>
        <p:nvSpPr>
          <p:cNvPr id="14" name="TextBox 13"/>
          <p:cNvSpPr txBox="1"/>
          <p:nvPr/>
        </p:nvSpPr>
        <p:spPr>
          <a:xfrm>
            <a:off x="6537960" y="1819656"/>
            <a:ext cx="5138928" cy="365760"/>
          </a:xfrm>
          <a:prstGeom prst="rect">
            <a:avLst/>
          </a:prstGeom>
          <a:noFill/>
        </p:spPr>
        <p:txBody>
          <a:bodyPr wrap="square" lIns="0" rIns="0" tIns="0" bIns="0">
            <a:spAutoFit/>
          </a:bodyPr>
          <a:lstStyle/>
          <a:p>
            <a:pPr>
              <a:spcBef>
                <a:spcPts val="0"/>
              </a:spcBef>
              <a:spcAft>
                <a:spcPts val="300"/>
              </a:spcAft>
            </a:pPr>
            <a:r>
              <a:rPr sz="2000" b="1">
                <a:solidFill>
                  <a:srgbClr val="321044"/>
                </a:solidFill>
                <a:latin typeface="Montserrat"/>
              </a:rPr>
              <a:t>Latency · batch=1, p50</a:t>
            </a:r>
          </a:p>
        </p:txBody>
      </p:sp>
      <p:sp>
        <p:nvSpPr>
          <p:cNvPr id="15" name="TextBox 14"/>
          <p:cNvSpPr txBox="1"/>
          <p:nvPr/>
        </p:nvSpPr>
        <p:spPr>
          <a:xfrm>
            <a:off x="502920" y="2606040"/>
            <a:ext cx="2231136" cy="320040"/>
          </a:xfrm>
          <a:prstGeom prst="rect">
            <a:avLst/>
          </a:prstGeom>
          <a:noFill/>
        </p:spPr>
        <p:txBody>
          <a:bodyPr wrap="square" lIns="0" rIns="0" tIns="0" bIns="0">
            <a:spAutoFit/>
          </a:bodyPr>
          <a:lstStyle/>
          <a:p>
            <a:pPr>
              <a:spcBef>
                <a:spcPts val="0"/>
              </a:spcBef>
              <a:spcAft>
                <a:spcPts val="300"/>
              </a:spcAft>
            </a:pPr>
            <a:r>
              <a:rPr sz="1300" b="1">
                <a:solidFill>
                  <a:srgbClr val="321044"/>
                </a:solidFill>
                <a:latin typeface="Montserrat"/>
              </a:rPr>
              <a:t>Обычный режим</a:t>
            </a:r>
          </a:p>
        </p:txBody>
      </p:sp>
      <p:sp>
        <p:nvSpPr>
          <p:cNvPr id="16" name="Rectangle 15"/>
          <p:cNvSpPr/>
          <p:nvPr/>
        </p:nvSpPr>
        <p:spPr>
          <a:xfrm>
            <a:off x="2770632" y="2642616"/>
            <a:ext cx="1195906" cy="320040"/>
          </a:xfrm>
          <a:prstGeom prst="rect">
            <a:avLst/>
          </a:prstGeom>
          <a:solidFill>
            <a:srgbClr val="6C61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0632" y="3108960"/>
            <a:ext cx="3008376" cy="365760"/>
          </a:xfrm>
          <a:prstGeom prst="rect">
            <a:avLst/>
          </a:prstGeom>
          <a:noFill/>
        </p:spPr>
        <p:txBody>
          <a:bodyPr wrap="square" lIns="0" rIns="0" tIns="0" bIns="0">
            <a:spAutoFit/>
          </a:bodyPr>
          <a:lstStyle/>
          <a:p>
            <a:pPr>
              <a:spcBef>
                <a:spcPts val="0"/>
              </a:spcBef>
              <a:spcAft>
                <a:spcPts val="300"/>
              </a:spcAft>
            </a:pPr>
            <a:r>
              <a:rPr sz="1800" b="1">
                <a:solidFill>
                  <a:srgbClr val="6C6176"/>
                </a:solidFill>
                <a:latin typeface="Montserrat"/>
              </a:rPr>
              <a:t>80,58 FPS</a:t>
            </a:r>
          </a:p>
        </p:txBody>
      </p:sp>
      <p:sp>
        <p:nvSpPr>
          <p:cNvPr id="18" name="TextBox 17"/>
          <p:cNvSpPr txBox="1"/>
          <p:nvPr/>
        </p:nvSpPr>
        <p:spPr>
          <a:xfrm>
            <a:off x="502920" y="3657600"/>
            <a:ext cx="2231136" cy="320040"/>
          </a:xfrm>
          <a:prstGeom prst="rect">
            <a:avLst/>
          </a:prstGeom>
          <a:noFill/>
        </p:spPr>
        <p:txBody>
          <a:bodyPr wrap="square" lIns="0" rIns="0" tIns="0" bIns="0">
            <a:spAutoFit/>
          </a:bodyPr>
          <a:lstStyle/>
          <a:p>
            <a:pPr>
              <a:spcBef>
                <a:spcPts val="0"/>
              </a:spcBef>
              <a:spcAft>
                <a:spcPts val="300"/>
              </a:spcAft>
            </a:pPr>
            <a:r>
              <a:rPr sz="1300" b="1">
                <a:solidFill>
                  <a:srgbClr val="321044"/>
                </a:solidFill>
                <a:latin typeface="Montserrat"/>
              </a:rPr>
              <a:t>CPU/GPU + CUDA Graphs</a:t>
            </a:r>
          </a:p>
        </p:txBody>
      </p:sp>
      <p:sp>
        <p:nvSpPr>
          <p:cNvPr id="19" name="Rectangle 18"/>
          <p:cNvSpPr/>
          <p:nvPr/>
        </p:nvSpPr>
        <p:spPr>
          <a:xfrm>
            <a:off x="2770632" y="3694176"/>
            <a:ext cx="1772807" cy="320040"/>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0632" y="4160520"/>
            <a:ext cx="3008376" cy="365760"/>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119,03–119,87 FPS</a:t>
            </a:r>
          </a:p>
        </p:txBody>
      </p:sp>
      <p:sp>
        <p:nvSpPr>
          <p:cNvPr id="21" name="TextBox 20"/>
          <p:cNvSpPr txBox="1"/>
          <p:nvPr/>
        </p:nvSpPr>
        <p:spPr>
          <a:xfrm>
            <a:off x="502920" y="4709160"/>
            <a:ext cx="2231136" cy="320040"/>
          </a:xfrm>
          <a:prstGeom prst="rect">
            <a:avLst/>
          </a:prstGeom>
          <a:noFill/>
        </p:spPr>
        <p:txBody>
          <a:bodyPr wrap="square" lIns="0" rIns="0" tIns="0" bIns="0">
            <a:spAutoFit/>
          </a:bodyPr>
          <a:lstStyle/>
          <a:p>
            <a:pPr>
              <a:spcBef>
                <a:spcPts val="0"/>
              </a:spcBef>
              <a:spcAft>
                <a:spcPts val="300"/>
              </a:spcAft>
            </a:pPr>
            <a:r>
              <a:rPr sz="1300" b="1">
                <a:solidFill>
                  <a:srgbClr val="321044"/>
                </a:solidFill>
                <a:latin typeface="Montserrat"/>
              </a:rPr>
              <a:t>+ Передача 1×</a:t>
            </a:r>
          </a:p>
        </p:txBody>
      </p:sp>
      <p:sp>
        <p:nvSpPr>
          <p:cNvPr id="22" name="Rectangle 21"/>
          <p:cNvSpPr/>
          <p:nvPr/>
        </p:nvSpPr>
        <p:spPr>
          <a:xfrm>
            <a:off x="2770632" y="4745736"/>
            <a:ext cx="1822525" cy="320040"/>
          </a:xfrm>
          <a:prstGeom prst="rect">
            <a:avLst/>
          </a:prstGeom>
          <a:solidFill>
            <a:srgbClr val="FF0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70632" y="5212080"/>
            <a:ext cx="3008376" cy="365760"/>
          </a:xfrm>
          <a:prstGeom prst="rect">
            <a:avLst/>
          </a:prstGeom>
          <a:noFill/>
        </p:spPr>
        <p:txBody>
          <a:bodyPr wrap="square" lIns="0" rIns="0" tIns="0" bIns="0">
            <a:spAutoFit/>
          </a:bodyPr>
          <a:lstStyle/>
          <a:p>
            <a:pPr>
              <a:spcBef>
                <a:spcPts val="0"/>
              </a:spcBef>
              <a:spcAft>
                <a:spcPts val="300"/>
              </a:spcAft>
            </a:pPr>
            <a:r>
              <a:rPr sz="1800" b="1">
                <a:solidFill>
                  <a:srgbClr val="FF005B"/>
                </a:solidFill>
                <a:latin typeface="Montserrat"/>
              </a:rPr>
              <a:t>121,61–124,04 FPS</a:t>
            </a:r>
          </a:p>
        </p:txBody>
      </p:sp>
      <p:cxnSp>
        <p:nvCxnSpPr>
          <p:cNvPr id="24" name="Connector 23"/>
          <p:cNvCxnSpPr/>
          <p:nvPr/>
        </p:nvCxnSpPr>
        <p:spPr>
          <a:xfrm>
            <a:off x="6748272" y="5422392"/>
            <a:ext cx="4800600" cy="0"/>
          </a:xfrm>
          <a:prstGeom prst="line">
            <a:avLst/>
          </a:prstGeom>
          <a:ln w="12700">
            <a:solidFill>
              <a:srgbClr val="DED5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63640" y="5340096"/>
            <a:ext cx="365760" cy="219456"/>
          </a:xfrm>
          <a:prstGeom prst="rect">
            <a:avLst/>
          </a:prstGeom>
          <a:noFill/>
        </p:spPr>
        <p:txBody>
          <a:bodyPr wrap="square" lIns="0" rIns="0" tIns="0" bIns="0">
            <a:spAutoFit/>
          </a:bodyPr>
          <a:lstStyle/>
          <a:p>
            <a:pPr algn="r">
              <a:spcBef>
                <a:spcPts val="0"/>
              </a:spcBef>
              <a:spcAft>
                <a:spcPts val="300"/>
              </a:spcAft>
            </a:pPr>
            <a:r>
              <a:rPr sz="1000" b="0">
                <a:solidFill>
                  <a:srgbClr val="6C6176"/>
                </a:solidFill>
                <a:latin typeface="Montserrat"/>
              </a:rPr>
              <a:t>0</a:t>
            </a:r>
          </a:p>
        </p:txBody>
      </p:sp>
      <p:cxnSp>
        <p:nvCxnSpPr>
          <p:cNvPr id="26" name="Connector 25"/>
          <p:cNvCxnSpPr/>
          <p:nvPr/>
        </p:nvCxnSpPr>
        <p:spPr>
          <a:xfrm>
            <a:off x="6748272" y="4296664"/>
            <a:ext cx="4800600" cy="0"/>
          </a:xfrm>
          <a:prstGeom prst="line">
            <a:avLst/>
          </a:prstGeom>
          <a:ln w="12700">
            <a:solidFill>
              <a:srgbClr val="DED5E6"/>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263640" y="4214368"/>
            <a:ext cx="365760" cy="219456"/>
          </a:xfrm>
          <a:prstGeom prst="rect">
            <a:avLst/>
          </a:prstGeom>
          <a:noFill/>
        </p:spPr>
        <p:txBody>
          <a:bodyPr wrap="square" lIns="0" rIns="0" tIns="0" bIns="0">
            <a:spAutoFit/>
          </a:bodyPr>
          <a:lstStyle/>
          <a:p>
            <a:pPr algn="r">
              <a:spcBef>
                <a:spcPts val="0"/>
              </a:spcBef>
              <a:spcAft>
                <a:spcPts val="300"/>
              </a:spcAft>
            </a:pPr>
            <a:r>
              <a:rPr sz="1000" b="0">
                <a:solidFill>
                  <a:srgbClr val="6C6176"/>
                </a:solidFill>
                <a:latin typeface="Montserrat"/>
              </a:rPr>
              <a:t>20</a:t>
            </a:r>
          </a:p>
        </p:txBody>
      </p:sp>
      <p:cxnSp>
        <p:nvCxnSpPr>
          <p:cNvPr id="28" name="Connector 27"/>
          <p:cNvCxnSpPr/>
          <p:nvPr/>
        </p:nvCxnSpPr>
        <p:spPr>
          <a:xfrm>
            <a:off x="6748272" y="3170936"/>
            <a:ext cx="4800600" cy="0"/>
          </a:xfrm>
          <a:prstGeom prst="line">
            <a:avLst/>
          </a:prstGeom>
          <a:ln w="12700">
            <a:solidFill>
              <a:srgbClr val="FF005B"/>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263640" y="3088640"/>
            <a:ext cx="365760" cy="219456"/>
          </a:xfrm>
          <a:prstGeom prst="rect">
            <a:avLst/>
          </a:prstGeom>
          <a:noFill/>
        </p:spPr>
        <p:txBody>
          <a:bodyPr wrap="square" lIns="0" rIns="0" tIns="0" bIns="0">
            <a:spAutoFit/>
          </a:bodyPr>
          <a:lstStyle/>
          <a:p>
            <a:pPr algn="r">
              <a:spcBef>
                <a:spcPts val="0"/>
              </a:spcBef>
              <a:spcAft>
                <a:spcPts val="300"/>
              </a:spcAft>
            </a:pPr>
            <a:r>
              <a:rPr sz="1000" b="0">
                <a:solidFill>
                  <a:srgbClr val="FF005B"/>
                </a:solidFill>
                <a:latin typeface="Montserrat"/>
              </a:rPr>
              <a:t>40</a:t>
            </a:r>
          </a:p>
        </p:txBody>
      </p:sp>
      <p:sp>
        <p:nvSpPr>
          <p:cNvPr id="30" name="Rectangle 29"/>
          <p:cNvSpPr/>
          <p:nvPr/>
        </p:nvSpPr>
        <p:spPr>
          <a:xfrm>
            <a:off x="6976872" y="3136913"/>
            <a:ext cx="694944" cy="2285478"/>
          </a:xfrm>
          <a:prstGeom prst="rect">
            <a:avLst/>
          </a:prstGeom>
          <a:solidFill>
            <a:srgbClr val="6C61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2762009"/>
            <a:ext cx="1060704" cy="265176"/>
          </a:xfrm>
          <a:prstGeom prst="rect">
            <a:avLst/>
          </a:prstGeom>
          <a:noFill/>
        </p:spPr>
        <p:txBody>
          <a:bodyPr wrap="square" lIns="0" rIns="0" tIns="0" bIns="0">
            <a:spAutoFit/>
          </a:bodyPr>
          <a:lstStyle/>
          <a:p>
            <a:pPr algn="ctr">
              <a:spcBef>
                <a:spcPts val="0"/>
              </a:spcBef>
              <a:spcAft>
                <a:spcPts val="300"/>
              </a:spcAft>
            </a:pPr>
            <a:r>
              <a:rPr sz="1300" b="1">
                <a:solidFill>
                  <a:srgbClr val="6C6176"/>
                </a:solidFill>
                <a:latin typeface="Montserrat"/>
              </a:rPr>
              <a:t>40,60</a:t>
            </a:r>
          </a:p>
        </p:txBody>
      </p:sp>
      <p:sp>
        <p:nvSpPr>
          <p:cNvPr id="32" name="TextBox 31"/>
          <p:cNvSpPr txBox="1"/>
          <p:nvPr/>
        </p:nvSpPr>
        <p:spPr>
          <a:xfrm>
            <a:off x="6839712" y="5550408"/>
            <a:ext cx="969264" cy="256032"/>
          </a:xfrm>
          <a:prstGeom prst="rect">
            <a:avLst/>
          </a:prstGeom>
          <a:noFill/>
        </p:spPr>
        <p:txBody>
          <a:bodyPr wrap="square" lIns="0" rIns="0" tIns="0" bIns="0">
            <a:spAutoFit/>
          </a:bodyPr>
          <a:lstStyle/>
          <a:p>
            <a:pPr algn="ctr">
              <a:spcBef>
                <a:spcPts val="0"/>
              </a:spcBef>
              <a:spcAft>
                <a:spcPts val="300"/>
              </a:spcAft>
            </a:pPr>
            <a:r>
              <a:rPr sz="1100" b="1">
                <a:solidFill>
                  <a:srgbClr val="6C6176"/>
                </a:solidFill>
                <a:latin typeface="Montserrat"/>
              </a:rPr>
              <a:t>До</a:t>
            </a:r>
          </a:p>
        </p:txBody>
      </p:sp>
      <p:sp>
        <p:nvSpPr>
          <p:cNvPr id="33" name="Rectangle 32"/>
          <p:cNvSpPr/>
          <p:nvPr/>
        </p:nvSpPr>
        <p:spPr>
          <a:xfrm>
            <a:off x="8119871" y="3241856"/>
            <a:ext cx="694944" cy="2180535"/>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936992" y="2866952"/>
            <a:ext cx="1060704" cy="265176"/>
          </a:xfrm>
          <a:prstGeom prst="rect">
            <a:avLst/>
          </a:prstGeom>
          <a:noFill/>
        </p:spPr>
        <p:txBody>
          <a:bodyPr wrap="square" lIns="0" rIns="0" tIns="0" bIns="0">
            <a:spAutoFit/>
          </a:bodyPr>
          <a:lstStyle/>
          <a:p>
            <a:pPr algn="ctr">
              <a:spcBef>
                <a:spcPts val="0"/>
              </a:spcBef>
              <a:spcAft>
                <a:spcPts val="300"/>
              </a:spcAft>
            </a:pPr>
            <a:r>
              <a:rPr sz="1300" b="1">
                <a:solidFill>
                  <a:srgbClr val="321044"/>
                </a:solidFill>
                <a:latin typeface="Montserrat"/>
              </a:rPr>
              <a:t>38,74</a:t>
            </a:r>
          </a:p>
        </p:txBody>
      </p:sp>
      <p:sp>
        <p:nvSpPr>
          <p:cNvPr id="35" name="TextBox 34"/>
          <p:cNvSpPr txBox="1"/>
          <p:nvPr/>
        </p:nvSpPr>
        <p:spPr>
          <a:xfrm>
            <a:off x="7982711" y="5550408"/>
            <a:ext cx="969264" cy="256032"/>
          </a:xfrm>
          <a:prstGeom prst="rect">
            <a:avLst/>
          </a:prstGeom>
          <a:noFill/>
        </p:spPr>
        <p:txBody>
          <a:bodyPr wrap="square" lIns="0" rIns="0" tIns="0" bIns="0">
            <a:spAutoFit/>
          </a:bodyPr>
          <a:lstStyle/>
          <a:p>
            <a:pPr algn="ctr">
              <a:spcBef>
                <a:spcPts val="0"/>
              </a:spcBef>
              <a:spcAft>
                <a:spcPts val="300"/>
              </a:spcAft>
            </a:pPr>
            <a:r>
              <a:rPr sz="1100" b="1">
                <a:solidFill>
                  <a:srgbClr val="6C6176"/>
                </a:solidFill>
                <a:latin typeface="Montserrat"/>
              </a:rPr>
              <a:t>1</a:t>
            </a:r>
          </a:p>
        </p:txBody>
      </p:sp>
      <p:sp>
        <p:nvSpPr>
          <p:cNvPr id="36" name="Rectangle 35"/>
          <p:cNvSpPr/>
          <p:nvPr/>
        </p:nvSpPr>
        <p:spPr>
          <a:xfrm>
            <a:off x="9262872" y="3233960"/>
            <a:ext cx="694944" cy="2188431"/>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79992" y="2859056"/>
            <a:ext cx="1060704" cy="265176"/>
          </a:xfrm>
          <a:prstGeom prst="rect">
            <a:avLst/>
          </a:prstGeom>
          <a:noFill/>
        </p:spPr>
        <p:txBody>
          <a:bodyPr wrap="square" lIns="0" rIns="0" tIns="0" bIns="0">
            <a:spAutoFit/>
          </a:bodyPr>
          <a:lstStyle/>
          <a:p>
            <a:pPr algn="ctr">
              <a:spcBef>
                <a:spcPts val="0"/>
              </a:spcBef>
              <a:spcAft>
                <a:spcPts val="300"/>
              </a:spcAft>
            </a:pPr>
            <a:r>
              <a:rPr sz="1300" b="1">
                <a:solidFill>
                  <a:srgbClr val="321044"/>
                </a:solidFill>
                <a:latin typeface="Montserrat"/>
              </a:rPr>
              <a:t>38,88</a:t>
            </a:r>
          </a:p>
        </p:txBody>
      </p:sp>
      <p:sp>
        <p:nvSpPr>
          <p:cNvPr id="38" name="TextBox 37"/>
          <p:cNvSpPr txBox="1"/>
          <p:nvPr/>
        </p:nvSpPr>
        <p:spPr>
          <a:xfrm>
            <a:off x="9125711" y="5550408"/>
            <a:ext cx="969264" cy="256032"/>
          </a:xfrm>
          <a:prstGeom prst="rect">
            <a:avLst/>
          </a:prstGeom>
          <a:noFill/>
        </p:spPr>
        <p:txBody>
          <a:bodyPr wrap="square" lIns="0" rIns="0" tIns="0" bIns="0">
            <a:spAutoFit/>
          </a:bodyPr>
          <a:lstStyle/>
          <a:p>
            <a:pPr algn="ctr">
              <a:spcBef>
                <a:spcPts val="0"/>
              </a:spcBef>
              <a:spcAft>
                <a:spcPts val="300"/>
              </a:spcAft>
            </a:pPr>
            <a:r>
              <a:rPr sz="1100" b="1">
                <a:solidFill>
                  <a:srgbClr val="6C6176"/>
                </a:solidFill>
                <a:latin typeface="Montserrat"/>
              </a:rPr>
              <a:t>2</a:t>
            </a:r>
          </a:p>
        </p:txBody>
      </p:sp>
      <p:sp>
        <p:nvSpPr>
          <p:cNvPr id="39" name="Rectangle 38"/>
          <p:cNvSpPr/>
          <p:nvPr/>
        </p:nvSpPr>
        <p:spPr>
          <a:xfrm>
            <a:off x="10405872" y="3173776"/>
            <a:ext cx="694944" cy="2248615"/>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22992" y="2798872"/>
            <a:ext cx="1060704" cy="265176"/>
          </a:xfrm>
          <a:prstGeom prst="rect">
            <a:avLst/>
          </a:prstGeom>
          <a:noFill/>
        </p:spPr>
        <p:txBody>
          <a:bodyPr wrap="square" lIns="0" rIns="0" tIns="0" bIns="0">
            <a:spAutoFit/>
          </a:bodyPr>
          <a:lstStyle/>
          <a:p>
            <a:pPr algn="ctr">
              <a:spcBef>
                <a:spcPts val="0"/>
              </a:spcBef>
              <a:spcAft>
                <a:spcPts val="300"/>
              </a:spcAft>
            </a:pPr>
            <a:r>
              <a:rPr sz="1300" b="1">
                <a:solidFill>
                  <a:srgbClr val="321044"/>
                </a:solidFill>
                <a:latin typeface="Montserrat"/>
              </a:rPr>
              <a:t>39,95</a:t>
            </a:r>
          </a:p>
        </p:txBody>
      </p:sp>
      <p:sp>
        <p:nvSpPr>
          <p:cNvPr id="41" name="TextBox 40"/>
          <p:cNvSpPr txBox="1"/>
          <p:nvPr/>
        </p:nvSpPr>
        <p:spPr>
          <a:xfrm>
            <a:off x="10268711" y="5550408"/>
            <a:ext cx="969264" cy="256032"/>
          </a:xfrm>
          <a:prstGeom prst="rect">
            <a:avLst/>
          </a:prstGeom>
          <a:noFill/>
        </p:spPr>
        <p:txBody>
          <a:bodyPr wrap="square" lIns="0" rIns="0" tIns="0" bIns="0">
            <a:spAutoFit/>
          </a:bodyPr>
          <a:lstStyle/>
          <a:p>
            <a:pPr algn="ctr">
              <a:spcBef>
                <a:spcPts val="0"/>
              </a:spcBef>
              <a:spcAft>
                <a:spcPts val="300"/>
              </a:spcAft>
            </a:pPr>
            <a:r>
              <a:rPr sz="1100" b="1">
                <a:solidFill>
                  <a:srgbClr val="6C6176"/>
                </a:solidFill>
                <a:latin typeface="Montserrat"/>
              </a:rPr>
              <a:t>3</a:t>
            </a:r>
          </a:p>
        </p:txBody>
      </p:sp>
      <p:sp>
        <p:nvSpPr>
          <p:cNvPr id="42" name="TextBox 41"/>
          <p:cNvSpPr txBox="1"/>
          <p:nvPr/>
        </p:nvSpPr>
        <p:spPr>
          <a:xfrm>
            <a:off x="7991856" y="5897880"/>
            <a:ext cx="3364992" cy="219456"/>
          </a:xfrm>
          <a:prstGeom prst="rect">
            <a:avLst/>
          </a:prstGeom>
          <a:noFill/>
        </p:spPr>
        <p:txBody>
          <a:bodyPr wrap="square" lIns="0" rIns="0" tIns="0" bIns="0">
            <a:spAutoFit/>
          </a:bodyPr>
          <a:lstStyle/>
          <a:p>
            <a:pPr algn="ctr">
              <a:spcBef>
                <a:spcPts val="0"/>
              </a:spcBef>
              <a:spcAft>
                <a:spcPts val="300"/>
              </a:spcAft>
            </a:pPr>
            <a:r>
              <a:rPr sz="1100" b="0">
                <a:solidFill>
                  <a:srgbClr val="6C6176"/>
                </a:solidFill>
                <a:latin typeface="Montserrat"/>
              </a:rPr>
              <a:t>Три повтора после доработки</a:t>
            </a:r>
          </a:p>
        </p:txBody>
      </p:sp>
      <p:sp>
        <p:nvSpPr>
          <p:cNvPr id="43" name="TextBox 42"/>
          <p:cNvSpPr txBox="1"/>
          <p:nvPr/>
        </p:nvSpPr>
        <p:spPr>
          <a:xfrm>
            <a:off x="502920" y="6144768"/>
            <a:ext cx="5614416" cy="201168"/>
          </a:xfrm>
          <a:prstGeom prst="rect">
            <a:avLst/>
          </a:prstGeom>
          <a:noFill/>
        </p:spPr>
        <p:txBody>
          <a:bodyPr wrap="square" lIns="0" rIns="0" tIns="0" bIns="0">
            <a:spAutoFit/>
          </a:bodyPr>
          <a:lstStyle/>
          <a:p>
            <a:pPr>
              <a:spcBef>
                <a:spcPts val="0"/>
              </a:spcBef>
              <a:spcAft>
                <a:spcPts val="300"/>
              </a:spcAft>
            </a:pPr>
            <a:r>
              <a:rPr sz="1000" b="0">
                <a:solidFill>
                  <a:srgbClr val="6C6176"/>
                </a:solidFill>
                <a:latin typeface="Montserrat"/>
              </a:rPr>
              <a:t>Два этапа оптимизации, отдельные сессии A5000.</a:t>
            </a:r>
          </a:p>
        </p:txBody>
      </p:sp>
      <p:sp>
        <p:nvSpPr>
          <p:cNvPr id="44" name="TextBox 43"/>
          <p:cNvSpPr txBox="1"/>
          <p:nvPr/>
        </p:nvSpPr>
        <p:spPr>
          <a:xfrm>
            <a:off x="6537960" y="6144768"/>
            <a:ext cx="5138928" cy="201168"/>
          </a:xfrm>
          <a:prstGeom prst="rect">
            <a:avLst/>
          </a:prstGeom>
          <a:noFill/>
        </p:spPr>
        <p:txBody>
          <a:bodyPr wrap="square" lIns="0" rIns="0" tIns="0" bIns="0">
            <a:spAutoFit/>
          </a:bodyPr>
          <a:lstStyle/>
          <a:p>
            <a:pPr>
              <a:spcBef>
                <a:spcPts val="0"/>
              </a:spcBef>
              <a:spcAft>
                <a:spcPts val="300"/>
              </a:spcAft>
            </a:pPr>
            <a:r>
              <a:rPr sz="1000" b="0">
                <a:solidFill>
                  <a:srgbClr val="6C6176"/>
                </a:solidFill>
                <a:latin typeface="Montserrat"/>
              </a:rPr>
              <a:t>Сравнение одиночной передачи в одной сессии.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ИНЖЕНЕРИЯ</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000" b="1">
                <a:solidFill>
                  <a:srgbClr val="321044"/>
                </a:solidFill>
                <a:latin typeface="Montserrat"/>
              </a:rPr>
              <a:t>Офлайн-запуск и воспроизводимость результата</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DOCKER · PYTHON 3.10</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17</a:t>
            </a:r>
          </a:p>
        </p:txBody>
      </p:sp>
      <p:sp>
        <p:nvSpPr>
          <p:cNvPr id="13" name="Rectangle 12"/>
          <p:cNvSpPr/>
          <p:nvPr/>
        </p:nvSpPr>
        <p:spPr>
          <a:xfrm>
            <a:off x="502920" y="1883664"/>
            <a:ext cx="6784848" cy="3410712"/>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130552"/>
            <a:ext cx="6309360" cy="365760"/>
          </a:xfrm>
          <a:prstGeom prst="rect">
            <a:avLst/>
          </a:prstGeom>
          <a:noFill/>
        </p:spPr>
        <p:txBody>
          <a:bodyPr wrap="square" lIns="0" rIns="0" tIns="0" bIns="0">
            <a:spAutoFit/>
          </a:bodyPr>
          <a:lstStyle/>
          <a:p>
            <a:pPr>
              <a:spcBef>
                <a:spcPts val="0"/>
              </a:spcBef>
              <a:spcAft>
                <a:spcPts val="300"/>
              </a:spcAft>
            </a:pPr>
            <a:r>
              <a:rPr sz="1700" b="1">
                <a:solidFill>
                  <a:srgbClr val="321044"/>
                </a:solidFill>
                <a:latin typeface="Montserrat"/>
              </a:rPr>
              <a:t>docker compose run --build --rm reid</a:t>
            </a:r>
          </a:p>
        </p:txBody>
      </p:sp>
      <p:sp>
        <p:nvSpPr>
          <p:cNvPr id="15" name="Rectangle 14"/>
          <p:cNvSpPr/>
          <p:nvPr/>
        </p:nvSpPr>
        <p:spPr>
          <a:xfrm>
            <a:off x="740664" y="2852928"/>
            <a:ext cx="1947672" cy="1481328"/>
          </a:xfrm>
          <a:prstGeom prst="rect">
            <a:avLst/>
          </a:prstGeom>
          <a:solidFill>
            <a:srgbClr val="FFFFFF"/>
          </a:solidFill>
          <a:ln w="10160">
            <a:solidFill>
              <a:srgbClr val="DED5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3063240"/>
            <a:ext cx="1673352" cy="356616"/>
          </a:xfrm>
          <a:prstGeom prst="rect">
            <a:avLst/>
          </a:prstGeom>
          <a:noFill/>
        </p:spPr>
        <p:txBody>
          <a:bodyPr wrap="square" lIns="0" rIns="0" tIns="0" bIns="0">
            <a:spAutoFit/>
          </a:bodyPr>
          <a:lstStyle/>
          <a:p>
            <a:pPr>
              <a:spcBef>
                <a:spcPts val="0"/>
              </a:spcBef>
              <a:spcAft>
                <a:spcPts val="300"/>
              </a:spcAft>
            </a:pPr>
            <a:r>
              <a:rPr sz="1700" b="1">
                <a:solidFill>
                  <a:srgbClr val="321044"/>
                </a:solidFill>
                <a:latin typeface="Montserrat"/>
              </a:rPr>
              <a:t>Модели</a:t>
            </a:r>
          </a:p>
        </p:txBody>
      </p:sp>
      <p:sp>
        <p:nvSpPr>
          <p:cNvPr id="17" name="TextBox 16"/>
          <p:cNvSpPr txBox="1"/>
          <p:nvPr/>
        </p:nvSpPr>
        <p:spPr>
          <a:xfrm>
            <a:off x="877824" y="3694176"/>
            <a:ext cx="1673352" cy="27432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Версии + SHA</a:t>
            </a:r>
          </a:p>
        </p:txBody>
      </p:sp>
      <p:cxnSp>
        <p:nvCxnSpPr>
          <p:cNvPr id="18" name="Connector 17"/>
          <p:cNvCxnSpPr/>
          <p:nvPr/>
        </p:nvCxnSpPr>
        <p:spPr>
          <a:xfrm>
            <a:off x="2798064" y="3593592"/>
            <a:ext cx="530352" cy="0"/>
          </a:xfrm>
          <a:prstGeom prst="line">
            <a:avLst/>
          </a:prstGeom>
          <a:ln w="1905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3456432" y="2852928"/>
            <a:ext cx="1362456" cy="1481328"/>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75303" y="2999232"/>
            <a:ext cx="1124712" cy="384048"/>
          </a:xfrm>
          <a:prstGeom prst="rect">
            <a:avLst/>
          </a:prstGeom>
          <a:noFill/>
        </p:spPr>
        <p:txBody>
          <a:bodyPr wrap="square" lIns="0" rIns="0" tIns="0" bIns="0">
            <a:spAutoFit/>
          </a:bodyPr>
          <a:lstStyle/>
          <a:p>
            <a:pPr algn="ctr">
              <a:spcBef>
                <a:spcPts val="0"/>
              </a:spcBef>
              <a:spcAft>
                <a:spcPts val="300"/>
              </a:spcAft>
            </a:pPr>
            <a:r>
              <a:rPr sz="1600" b="1">
                <a:solidFill>
                  <a:srgbClr val="FFFFFF"/>
                </a:solidFill>
                <a:latin typeface="Montserrat"/>
              </a:rPr>
              <a:t>Запуск</a:t>
            </a:r>
          </a:p>
        </p:txBody>
      </p:sp>
      <p:sp>
        <p:nvSpPr>
          <p:cNvPr id="21" name="TextBox 20"/>
          <p:cNvSpPr txBox="1"/>
          <p:nvPr/>
        </p:nvSpPr>
        <p:spPr>
          <a:xfrm>
            <a:off x="3566160" y="3483864"/>
            <a:ext cx="1143000" cy="804672"/>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Без сети</a:t>
            </a:r>
          </a:p>
        </p:txBody>
      </p:sp>
      <p:cxnSp>
        <p:nvCxnSpPr>
          <p:cNvPr id="22" name="Connector 21"/>
          <p:cNvCxnSpPr/>
          <p:nvPr/>
        </p:nvCxnSpPr>
        <p:spPr>
          <a:xfrm>
            <a:off x="4928616" y="3593592"/>
            <a:ext cx="521208" cy="0"/>
          </a:xfrm>
          <a:prstGeom prst="line">
            <a:avLst/>
          </a:prstGeom>
          <a:ln w="19050">
            <a:solidFill>
              <a:srgbClr val="FF00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577840" y="2871216"/>
            <a:ext cx="1444752"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0" y="2944368"/>
            <a:ext cx="1261872" cy="201168"/>
          </a:xfrm>
          <a:prstGeom prst="rect">
            <a:avLst/>
          </a:prstGeom>
          <a:noFill/>
        </p:spPr>
        <p:txBody>
          <a:bodyPr wrap="square" lIns="0" rIns="0" tIns="0" bIns="0">
            <a:spAutoFit/>
          </a:bodyPr>
          <a:lstStyle/>
          <a:p>
            <a:pPr>
              <a:spcBef>
                <a:spcPts val="0"/>
              </a:spcBef>
              <a:spcAft>
                <a:spcPts val="300"/>
              </a:spcAft>
            </a:pPr>
            <a:r>
              <a:rPr sz="1070" b="1">
                <a:solidFill>
                  <a:srgbClr val="321044"/>
                </a:solidFill>
                <a:latin typeface="Montserrat"/>
              </a:rPr>
              <a:t>submission</a:t>
            </a:r>
          </a:p>
        </p:txBody>
      </p:sp>
      <p:sp>
        <p:nvSpPr>
          <p:cNvPr id="25" name="Rectangle 24"/>
          <p:cNvSpPr/>
          <p:nvPr/>
        </p:nvSpPr>
        <p:spPr>
          <a:xfrm>
            <a:off x="5577840" y="3364992"/>
            <a:ext cx="1444752"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0" y="3438144"/>
            <a:ext cx="1261872" cy="201168"/>
          </a:xfrm>
          <a:prstGeom prst="rect">
            <a:avLst/>
          </a:prstGeom>
          <a:noFill/>
        </p:spPr>
        <p:txBody>
          <a:bodyPr wrap="square" lIns="0" rIns="0" tIns="0" bIns="0">
            <a:spAutoFit/>
          </a:bodyPr>
          <a:lstStyle/>
          <a:p>
            <a:pPr>
              <a:spcBef>
                <a:spcPts val="0"/>
              </a:spcBef>
              <a:spcAft>
                <a:spcPts val="300"/>
              </a:spcAft>
            </a:pPr>
            <a:r>
              <a:rPr sz="1070" b="1">
                <a:solidFill>
                  <a:srgbClr val="321044"/>
                </a:solidFill>
                <a:latin typeface="Montserrat"/>
              </a:rPr>
              <a:t>embeddings</a:t>
            </a:r>
          </a:p>
        </p:txBody>
      </p:sp>
      <p:sp>
        <p:nvSpPr>
          <p:cNvPr id="27" name="Rectangle 26"/>
          <p:cNvSpPr/>
          <p:nvPr/>
        </p:nvSpPr>
        <p:spPr>
          <a:xfrm>
            <a:off x="5577840" y="3858768"/>
            <a:ext cx="1444752"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0" y="3931920"/>
            <a:ext cx="1261872" cy="201168"/>
          </a:xfrm>
          <a:prstGeom prst="rect">
            <a:avLst/>
          </a:prstGeom>
          <a:noFill/>
        </p:spPr>
        <p:txBody>
          <a:bodyPr wrap="square" lIns="0" rIns="0" tIns="0" bIns="0">
            <a:spAutoFit/>
          </a:bodyPr>
          <a:lstStyle/>
          <a:p>
            <a:pPr>
              <a:spcBef>
                <a:spcPts val="0"/>
              </a:spcBef>
              <a:spcAft>
                <a:spcPts val="300"/>
              </a:spcAft>
            </a:pPr>
            <a:r>
              <a:rPr sz="1070" b="1">
                <a:solidFill>
                  <a:srgbClr val="321044"/>
                </a:solidFill>
                <a:latin typeface="Montserrat"/>
              </a:rPr>
              <a:t>candidates</a:t>
            </a:r>
          </a:p>
        </p:txBody>
      </p:sp>
      <p:sp>
        <p:nvSpPr>
          <p:cNvPr id="29" name="TextBox 28"/>
          <p:cNvSpPr txBox="1"/>
          <p:nvPr/>
        </p:nvSpPr>
        <p:spPr>
          <a:xfrm>
            <a:off x="740664" y="4700016"/>
            <a:ext cx="6309360" cy="310896"/>
          </a:xfrm>
          <a:prstGeom prst="rect">
            <a:avLst/>
          </a:prstGeom>
          <a:noFill/>
        </p:spPr>
        <p:txBody>
          <a:bodyPr wrap="square" lIns="0" rIns="0" tIns="0" bIns="0">
            <a:spAutoFit/>
          </a:bodyPr>
          <a:lstStyle/>
          <a:p>
            <a:pPr>
              <a:spcBef>
                <a:spcPts val="0"/>
              </a:spcBef>
              <a:spcAft>
                <a:spcPts val="300"/>
              </a:spcAft>
            </a:pPr>
            <a:r>
              <a:rPr sz="1250" b="1">
                <a:solidFill>
                  <a:srgbClr val="321044"/>
                </a:solidFill>
                <a:latin typeface="Montserrat"/>
              </a:rPr>
              <a:t>Логирование вместо print · поиск отделён от адаптера модели</a:t>
            </a:r>
          </a:p>
        </p:txBody>
      </p:sp>
      <p:sp>
        <p:nvSpPr>
          <p:cNvPr id="30" name="TextBox 29"/>
          <p:cNvSpPr txBox="1"/>
          <p:nvPr/>
        </p:nvSpPr>
        <p:spPr>
          <a:xfrm>
            <a:off x="7845552" y="1938528"/>
            <a:ext cx="3813048" cy="566928"/>
          </a:xfrm>
          <a:prstGeom prst="rect">
            <a:avLst/>
          </a:prstGeom>
          <a:noFill/>
        </p:spPr>
        <p:txBody>
          <a:bodyPr wrap="square" lIns="0" rIns="0" tIns="0" bIns="0">
            <a:spAutoFit/>
          </a:bodyPr>
          <a:lstStyle/>
          <a:p>
            <a:pPr>
              <a:spcBef>
                <a:spcPts val="0"/>
              </a:spcBef>
              <a:spcAft>
                <a:spcPts val="300"/>
              </a:spcAft>
            </a:pPr>
            <a:r>
              <a:rPr sz="3600" b="1">
                <a:solidFill>
                  <a:srgbClr val="321044"/>
                </a:solidFill>
                <a:latin typeface="Montserrat"/>
              </a:rPr>
              <a:t>898</a:t>
            </a:r>
          </a:p>
        </p:txBody>
      </p:sp>
      <p:sp>
        <p:nvSpPr>
          <p:cNvPr id="31" name="TextBox 30"/>
          <p:cNvSpPr txBox="1"/>
          <p:nvPr/>
        </p:nvSpPr>
        <p:spPr>
          <a:xfrm>
            <a:off x="7845552" y="2615184"/>
            <a:ext cx="3813048"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тестов Python 3.10</a:t>
            </a:r>
          </a:p>
        </p:txBody>
      </p:sp>
      <p:sp>
        <p:nvSpPr>
          <p:cNvPr id="32" name="TextBox 31"/>
          <p:cNvSpPr txBox="1"/>
          <p:nvPr/>
        </p:nvSpPr>
        <p:spPr>
          <a:xfrm>
            <a:off x="7845552" y="3456432"/>
            <a:ext cx="3813048" cy="566928"/>
          </a:xfrm>
          <a:prstGeom prst="rect">
            <a:avLst/>
          </a:prstGeom>
          <a:noFill/>
        </p:spPr>
        <p:txBody>
          <a:bodyPr wrap="square" lIns="0" rIns="0" tIns="0" bIns="0">
            <a:spAutoFit/>
          </a:bodyPr>
          <a:lstStyle/>
          <a:p>
            <a:pPr>
              <a:spcBef>
                <a:spcPts val="0"/>
              </a:spcBef>
              <a:spcAft>
                <a:spcPts val="300"/>
              </a:spcAft>
            </a:pPr>
            <a:r>
              <a:rPr sz="2900" b="1">
                <a:solidFill>
                  <a:srgbClr val="321044"/>
                </a:solidFill>
                <a:latin typeface="Montserrat"/>
              </a:rPr>
              <a:t>3 файла</a:t>
            </a:r>
          </a:p>
        </p:txBody>
      </p:sp>
      <p:sp>
        <p:nvSpPr>
          <p:cNvPr id="33" name="TextBox 32"/>
          <p:cNvSpPr txBox="1"/>
          <p:nvPr/>
        </p:nvSpPr>
        <p:spPr>
          <a:xfrm>
            <a:off x="7845552" y="4133087"/>
            <a:ext cx="3813048" cy="365760"/>
          </a:xfrm>
          <a:prstGeom prst="rect">
            <a:avLst/>
          </a:prstGeom>
          <a:noFill/>
        </p:spPr>
        <p:txBody>
          <a:bodyPr wrap="square" lIns="0" rIns="0" tIns="0" bIns="0">
            <a:spAutoFit/>
          </a:bodyPr>
          <a:lstStyle/>
          <a:p>
            <a:pPr>
              <a:spcBef>
                <a:spcPts val="0"/>
              </a:spcBef>
              <a:spcAft>
                <a:spcPts val="300"/>
              </a:spcAft>
            </a:pPr>
            <a:r>
              <a:rPr sz="1200" b="0">
                <a:solidFill>
                  <a:srgbClr val="6C6176"/>
                </a:solidFill>
                <a:latin typeface="Montserrat"/>
              </a:rPr>
              <a:t>побитно совпали после ускорения</a:t>
            </a:r>
          </a:p>
        </p:txBody>
      </p:sp>
      <p:sp>
        <p:nvSpPr>
          <p:cNvPr id="34" name="TextBox 33"/>
          <p:cNvSpPr txBox="1"/>
          <p:nvPr/>
        </p:nvSpPr>
        <p:spPr>
          <a:xfrm>
            <a:off x="7845552" y="4928616"/>
            <a:ext cx="3813048" cy="329184"/>
          </a:xfrm>
          <a:prstGeom prst="rect">
            <a:avLst/>
          </a:prstGeom>
          <a:noFill/>
        </p:spPr>
        <p:txBody>
          <a:bodyPr wrap="square" lIns="0" rIns="0" tIns="0" bIns="0">
            <a:spAutoFit/>
          </a:bodyPr>
          <a:lstStyle/>
          <a:p>
            <a:pPr>
              <a:spcBef>
                <a:spcPts val="0"/>
              </a:spcBef>
              <a:spcAft>
                <a:spcPts val="300"/>
              </a:spcAft>
            </a:pPr>
            <a:r>
              <a:rPr sz="1500" b="1">
                <a:solidFill>
                  <a:srgbClr val="321044"/>
                </a:solidFill>
                <a:latin typeface="Montserrat"/>
              </a:rPr>
              <a:t>1 138 запросов / 636 в базе</a:t>
            </a:r>
          </a:p>
        </p:txBody>
      </p:sp>
      <p:sp>
        <p:nvSpPr>
          <p:cNvPr id="35" name="Rounded Rectangle 34"/>
          <p:cNvSpPr/>
          <p:nvPr/>
        </p:nvSpPr>
        <p:spPr>
          <a:xfrm>
            <a:off x="502920" y="5779008"/>
            <a:ext cx="3557016" cy="320040"/>
          </a:xfrm>
          <a:prstGeom prst="roundRect">
            <a:avLst>
              <a:gd name="adj" fmla="val 10000"/>
            </a:avLst>
          </a:prstGeom>
          <a:solidFill>
            <a:srgbClr val="E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072" y="5838444"/>
            <a:ext cx="3410712" cy="210312"/>
          </a:xfrm>
          <a:prstGeom prst="rect">
            <a:avLst/>
          </a:prstGeom>
          <a:noFill/>
        </p:spPr>
        <p:txBody>
          <a:bodyPr wrap="square" lIns="0" rIns="0" tIns="0" bIns="0">
            <a:spAutoFit/>
          </a:bodyPr>
          <a:lstStyle/>
          <a:p>
            <a:pPr algn="ctr">
              <a:spcBef>
                <a:spcPts val="0"/>
              </a:spcBef>
              <a:spcAft>
                <a:spcPts val="300"/>
              </a:spcAft>
            </a:pPr>
            <a:r>
              <a:rPr sz="1100" b="1">
                <a:solidFill>
                  <a:srgbClr val="118774"/>
                </a:solidFill>
                <a:latin typeface="Montserrat"/>
              </a:rPr>
              <a:t>Повторный запуск</a:t>
            </a:r>
          </a:p>
        </p:txBody>
      </p:sp>
      <p:sp>
        <p:nvSpPr>
          <p:cNvPr id="37" name="Rounded Rectangle 36"/>
          <p:cNvSpPr/>
          <p:nvPr/>
        </p:nvSpPr>
        <p:spPr>
          <a:xfrm>
            <a:off x="4315968" y="5779008"/>
            <a:ext cx="3557016" cy="320040"/>
          </a:xfrm>
          <a:prstGeom prst="roundRect">
            <a:avLst>
              <a:gd name="adj" fmla="val 10000"/>
            </a:avLst>
          </a:prstGeom>
          <a:solidFill>
            <a:srgbClr val="E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89120" y="5838444"/>
            <a:ext cx="3410712" cy="210312"/>
          </a:xfrm>
          <a:prstGeom prst="rect">
            <a:avLst/>
          </a:prstGeom>
          <a:noFill/>
        </p:spPr>
        <p:txBody>
          <a:bodyPr wrap="square" lIns="0" rIns="0" tIns="0" bIns="0">
            <a:spAutoFit/>
          </a:bodyPr>
          <a:lstStyle/>
          <a:p>
            <a:pPr algn="ctr">
              <a:spcBef>
                <a:spcPts val="0"/>
              </a:spcBef>
              <a:spcAft>
                <a:spcPts val="300"/>
              </a:spcAft>
            </a:pPr>
            <a:r>
              <a:rPr sz="1100" b="1">
                <a:solidFill>
                  <a:srgbClr val="118774"/>
                </a:solidFill>
                <a:latin typeface="Montserrat"/>
              </a:rPr>
              <a:t>Перестановка запросов</a:t>
            </a:r>
          </a:p>
        </p:txBody>
      </p:sp>
      <p:sp>
        <p:nvSpPr>
          <p:cNvPr id="39" name="Rounded Rectangle 38"/>
          <p:cNvSpPr/>
          <p:nvPr/>
        </p:nvSpPr>
        <p:spPr>
          <a:xfrm>
            <a:off x="8129016" y="5779008"/>
            <a:ext cx="3557016" cy="320040"/>
          </a:xfrm>
          <a:prstGeom prst="roundRect">
            <a:avLst>
              <a:gd name="adj" fmla="val 10000"/>
            </a:avLst>
          </a:prstGeom>
          <a:solidFill>
            <a:srgbClr val="E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02168" y="5838444"/>
            <a:ext cx="3410712" cy="210312"/>
          </a:xfrm>
          <a:prstGeom prst="rect">
            <a:avLst/>
          </a:prstGeom>
          <a:noFill/>
        </p:spPr>
        <p:txBody>
          <a:bodyPr wrap="square" lIns="0" rIns="0" tIns="0" bIns="0">
            <a:spAutoFit/>
          </a:bodyPr>
          <a:lstStyle/>
          <a:p>
            <a:pPr algn="ctr">
              <a:spcBef>
                <a:spcPts val="0"/>
              </a:spcBef>
              <a:spcAft>
                <a:spcPts val="300"/>
              </a:spcAft>
            </a:pPr>
            <a:r>
              <a:rPr sz="1100" b="1">
                <a:solidFill>
                  <a:srgbClr val="118774"/>
                </a:solidFill>
                <a:latin typeface="Montserrat"/>
              </a:rPr>
              <a:t>Один запрос / другие соседи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02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ИТОГОВОЕ РЕШЕНИЕ</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3400" b="1">
                <a:solidFill>
                  <a:srgbClr val="FFFFFF"/>
                </a:solidFill>
                <a:latin typeface="Montserrat"/>
              </a:rPr>
              <a:t>Falcon ReID · D082</a:t>
            </a:r>
          </a:p>
        </p:txBody>
      </p:sp>
      <p:cxnSp>
        <p:nvCxnSpPr>
          <p:cNvPr id="9" name="Connector 8"/>
          <p:cNvCxnSpPr/>
          <p:nvPr/>
        </p:nvCxnSpPr>
        <p:spPr>
          <a:xfrm>
            <a:off x="484632" y="6419088"/>
            <a:ext cx="11228832" cy="0"/>
          </a:xfrm>
          <a:prstGeom prst="line">
            <a:avLst/>
          </a:prstGeom>
          <a:ln w="8890">
            <a:solidFill>
              <a:srgbClr val="38214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BDAFC9"/>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BDAFC9"/>
                </a:solidFill>
                <a:latin typeface="Montserrat"/>
              </a:rPr>
              <a:t>DEEPTECH AI</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BDAFC9"/>
                </a:solidFill>
                <a:latin typeface="Montserrat"/>
              </a:rPr>
              <a:t>18</a:t>
            </a:r>
          </a:p>
        </p:txBody>
      </p:sp>
      <p:sp>
        <p:nvSpPr>
          <p:cNvPr id="13" name="Rectangle 12"/>
          <p:cNvSpPr/>
          <p:nvPr/>
        </p:nvSpPr>
        <p:spPr>
          <a:xfrm>
            <a:off x="502920" y="1856231"/>
            <a:ext cx="2331720" cy="1042415"/>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2002536"/>
            <a:ext cx="2093976" cy="384048"/>
          </a:xfrm>
          <a:prstGeom prst="rect">
            <a:avLst/>
          </a:prstGeom>
          <a:noFill/>
        </p:spPr>
        <p:txBody>
          <a:bodyPr wrap="square" lIns="0" rIns="0" tIns="0" bIns="0">
            <a:spAutoFit/>
          </a:bodyPr>
          <a:lstStyle/>
          <a:p>
            <a:pPr algn="ctr">
              <a:spcBef>
                <a:spcPts val="0"/>
              </a:spcBef>
              <a:spcAft>
                <a:spcPts val="300"/>
              </a:spcAft>
            </a:pPr>
            <a:r>
              <a:rPr sz="1700" b="1">
                <a:solidFill>
                  <a:srgbClr val="FFFFFF"/>
                </a:solidFill>
                <a:latin typeface="Montserrat"/>
              </a:rPr>
              <a:t>DINOv2 + CLIP</a:t>
            </a:r>
          </a:p>
        </p:txBody>
      </p:sp>
      <p:sp>
        <p:nvSpPr>
          <p:cNvPr id="15" name="TextBox 14"/>
          <p:cNvSpPr txBox="1"/>
          <p:nvPr/>
        </p:nvSpPr>
        <p:spPr>
          <a:xfrm>
            <a:off x="612648" y="2487168"/>
            <a:ext cx="2112263" cy="365759"/>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392 / 288 px</a:t>
            </a:r>
          </a:p>
        </p:txBody>
      </p:sp>
      <p:cxnSp>
        <p:nvCxnSpPr>
          <p:cNvPr id="16" name="Connector 15"/>
          <p:cNvCxnSpPr/>
          <p:nvPr/>
        </p:nvCxnSpPr>
        <p:spPr>
          <a:xfrm>
            <a:off x="2926079" y="2386584"/>
            <a:ext cx="411480" cy="0"/>
          </a:xfrm>
          <a:prstGeom prst="line">
            <a:avLst/>
          </a:prstGeom>
          <a:ln w="17780">
            <a:solidFill>
              <a:srgbClr val="BDAF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3438144" y="1856231"/>
            <a:ext cx="2331720" cy="1042415"/>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57015" y="2002536"/>
            <a:ext cx="2093976" cy="384048"/>
          </a:xfrm>
          <a:prstGeom prst="rect">
            <a:avLst/>
          </a:prstGeom>
          <a:noFill/>
        </p:spPr>
        <p:txBody>
          <a:bodyPr wrap="square" lIns="0" rIns="0" tIns="0" bIns="0">
            <a:spAutoFit/>
          </a:bodyPr>
          <a:lstStyle/>
          <a:p>
            <a:pPr algn="ctr">
              <a:spcBef>
                <a:spcPts val="0"/>
              </a:spcBef>
              <a:spcAft>
                <a:spcPts val="300"/>
              </a:spcAft>
            </a:pPr>
            <a:r>
              <a:rPr sz="1700" b="1">
                <a:solidFill>
                  <a:srgbClr val="FFFFFF"/>
                </a:solidFill>
                <a:latin typeface="Montserrat"/>
              </a:rPr>
              <a:t>Поиск top-10</a:t>
            </a:r>
          </a:p>
        </p:txBody>
      </p:sp>
      <p:sp>
        <p:nvSpPr>
          <p:cNvPr id="19" name="TextBox 18"/>
          <p:cNvSpPr txBox="1"/>
          <p:nvPr/>
        </p:nvSpPr>
        <p:spPr>
          <a:xfrm>
            <a:off x="3547872" y="2487168"/>
            <a:ext cx="2112263" cy="365759"/>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Вектор 3072D</a:t>
            </a:r>
          </a:p>
        </p:txBody>
      </p:sp>
      <p:cxnSp>
        <p:nvCxnSpPr>
          <p:cNvPr id="20" name="Connector 19"/>
          <p:cNvCxnSpPr/>
          <p:nvPr/>
        </p:nvCxnSpPr>
        <p:spPr>
          <a:xfrm>
            <a:off x="5861303" y="2386584"/>
            <a:ext cx="411480" cy="0"/>
          </a:xfrm>
          <a:prstGeom prst="line">
            <a:avLst/>
          </a:prstGeom>
          <a:ln w="17780">
            <a:solidFill>
              <a:srgbClr val="BDAF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373368" y="1856231"/>
            <a:ext cx="2331720" cy="1042415"/>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002536"/>
            <a:ext cx="2093976" cy="384048"/>
          </a:xfrm>
          <a:prstGeom prst="rect">
            <a:avLst/>
          </a:prstGeom>
          <a:noFill/>
        </p:spPr>
        <p:txBody>
          <a:bodyPr wrap="square" lIns="0" rIns="0" tIns="0" bIns="0">
            <a:spAutoFit/>
          </a:bodyPr>
          <a:lstStyle/>
          <a:p>
            <a:pPr algn="ctr">
              <a:spcBef>
                <a:spcPts val="0"/>
              </a:spcBef>
              <a:spcAft>
                <a:spcPts val="300"/>
              </a:spcAft>
            </a:pPr>
            <a:r>
              <a:rPr sz="1700" b="1">
                <a:solidFill>
                  <a:srgbClr val="FFFFFF"/>
                </a:solidFill>
                <a:latin typeface="Montserrat"/>
              </a:rPr>
              <a:t>Пары + граф</a:t>
            </a:r>
          </a:p>
        </p:txBody>
      </p:sp>
      <p:sp>
        <p:nvSpPr>
          <p:cNvPr id="23" name="TextBox 22"/>
          <p:cNvSpPr txBox="1"/>
          <p:nvPr/>
        </p:nvSpPr>
        <p:spPr>
          <a:xfrm>
            <a:off x="6483096" y="2487168"/>
            <a:ext cx="2112263" cy="365759"/>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Веса 0,15 / 0,50</a:t>
            </a:r>
          </a:p>
        </p:txBody>
      </p:sp>
      <p:cxnSp>
        <p:nvCxnSpPr>
          <p:cNvPr id="24" name="Connector 23"/>
          <p:cNvCxnSpPr/>
          <p:nvPr/>
        </p:nvCxnSpPr>
        <p:spPr>
          <a:xfrm>
            <a:off x="8796528" y="2386584"/>
            <a:ext cx="411480" cy="0"/>
          </a:xfrm>
          <a:prstGeom prst="line">
            <a:avLst/>
          </a:prstGeom>
          <a:ln w="17780">
            <a:solidFill>
              <a:srgbClr val="BDAF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308592" y="1856231"/>
            <a:ext cx="2377440" cy="1042415"/>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27464" y="2002536"/>
            <a:ext cx="2139696" cy="384048"/>
          </a:xfrm>
          <a:prstGeom prst="rect">
            <a:avLst/>
          </a:prstGeom>
          <a:noFill/>
        </p:spPr>
        <p:txBody>
          <a:bodyPr wrap="square" lIns="0" rIns="0" tIns="0" bIns="0">
            <a:spAutoFit/>
          </a:bodyPr>
          <a:lstStyle/>
          <a:p>
            <a:pPr algn="ctr">
              <a:spcBef>
                <a:spcPts val="0"/>
              </a:spcBef>
              <a:spcAft>
                <a:spcPts val="300"/>
              </a:spcAft>
            </a:pPr>
            <a:r>
              <a:rPr sz="1700" b="1">
                <a:solidFill>
                  <a:srgbClr val="FFFFFF"/>
                </a:solidFill>
                <a:latin typeface="Montserrat"/>
              </a:rPr>
              <a:t>Порог 6,6</a:t>
            </a:r>
          </a:p>
        </p:txBody>
      </p:sp>
      <p:sp>
        <p:nvSpPr>
          <p:cNvPr id="27" name="TextBox 26"/>
          <p:cNvSpPr txBox="1"/>
          <p:nvPr/>
        </p:nvSpPr>
        <p:spPr>
          <a:xfrm>
            <a:off x="9418319" y="2487168"/>
            <a:ext cx="2157984" cy="365759"/>
          </a:xfrm>
          <a:prstGeom prst="rect">
            <a:avLst/>
          </a:prstGeom>
          <a:noFill/>
        </p:spPr>
        <p:txBody>
          <a:bodyPr wrap="square" lIns="0" rIns="0" tIns="0" bIns="0">
            <a:spAutoFit/>
          </a:bodyPr>
          <a:lstStyle/>
          <a:p>
            <a:pPr algn="ctr">
              <a:spcBef>
                <a:spcPts val="0"/>
              </a:spcBef>
              <a:spcAft>
                <a:spcPts val="300"/>
              </a:spcAft>
            </a:pPr>
            <a:r>
              <a:rPr sz="1200" b="0">
                <a:solidFill>
                  <a:srgbClr val="BDAFC9"/>
                </a:solidFill>
                <a:latin typeface="Montserrat"/>
              </a:rPr>
              <a:t>gallery-z</a:t>
            </a:r>
          </a:p>
        </p:txBody>
      </p:sp>
      <p:sp>
        <p:nvSpPr>
          <p:cNvPr id="28" name="Rectangle 27"/>
          <p:cNvSpPr/>
          <p:nvPr/>
        </p:nvSpPr>
        <p:spPr>
          <a:xfrm>
            <a:off x="502920" y="3310128"/>
            <a:ext cx="5440680" cy="2532888"/>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352" y="3310128"/>
            <a:ext cx="5440680" cy="2532888"/>
          </a:xfrm>
          <a:prstGeom prst="rect">
            <a:avLst/>
          </a:prstGeom>
          <a:solidFill>
            <a:srgbClr val="3821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3547872"/>
            <a:ext cx="4910328" cy="320040"/>
          </a:xfrm>
          <a:prstGeom prst="rect">
            <a:avLst/>
          </a:prstGeom>
          <a:noFill/>
        </p:spPr>
        <p:txBody>
          <a:bodyPr wrap="square" lIns="0" rIns="0" tIns="0" bIns="0">
            <a:spAutoFit/>
          </a:bodyPr>
          <a:lstStyle/>
          <a:p>
            <a:pPr>
              <a:spcBef>
                <a:spcPts val="0"/>
              </a:spcBef>
              <a:spcAft>
                <a:spcPts val="300"/>
              </a:spcAft>
            </a:pPr>
            <a:r>
              <a:rPr sz="1200" b="1">
                <a:solidFill>
                  <a:srgbClr val="BDAFC9"/>
                </a:solidFill>
                <a:latin typeface="Montserrat"/>
              </a:rPr>
              <a:t>КАЧЕСТВО · ВАЛИДАЦИЯ</a:t>
            </a:r>
          </a:p>
        </p:txBody>
      </p:sp>
      <p:sp>
        <p:nvSpPr>
          <p:cNvPr id="31" name="TextBox 30"/>
          <p:cNvSpPr txBox="1"/>
          <p:nvPr/>
        </p:nvSpPr>
        <p:spPr>
          <a:xfrm>
            <a:off x="6510528" y="3547872"/>
            <a:ext cx="4910328" cy="320040"/>
          </a:xfrm>
          <a:prstGeom prst="rect">
            <a:avLst/>
          </a:prstGeom>
          <a:noFill/>
        </p:spPr>
        <p:txBody>
          <a:bodyPr wrap="square" lIns="0" rIns="0" tIns="0" bIns="0">
            <a:spAutoFit/>
          </a:bodyPr>
          <a:lstStyle/>
          <a:p>
            <a:pPr>
              <a:spcBef>
                <a:spcPts val="0"/>
              </a:spcBef>
              <a:spcAft>
                <a:spcPts val="300"/>
              </a:spcAft>
            </a:pPr>
            <a:r>
              <a:rPr sz="1200" b="1">
                <a:solidFill>
                  <a:srgbClr val="BDAFC9"/>
                </a:solidFill>
                <a:latin typeface="Montserrat"/>
              </a:rPr>
              <a:t>СКОРОСТЬ · RTX A5000 / C5</a:t>
            </a:r>
          </a:p>
        </p:txBody>
      </p:sp>
      <p:sp>
        <p:nvSpPr>
          <p:cNvPr id="32" name="TextBox 31"/>
          <p:cNvSpPr txBox="1"/>
          <p:nvPr/>
        </p:nvSpPr>
        <p:spPr>
          <a:xfrm>
            <a:off x="768096" y="4069080"/>
            <a:ext cx="2368296" cy="603504"/>
          </a:xfrm>
          <a:prstGeom prst="rect">
            <a:avLst/>
          </a:prstGeom>
          <a:noFill/>
        </p:spPr>
        <p:txBody>
          <a:bodyPr wrap="square" lIns="0" rIns="0" tIns="0" bIns="0">
            <a:spAutoFit/>
          </a:bodyPr>
          <a:lstStyle/>
          <a:p>
            <a:pPr>
              <a:spcBef>
                <a:spcPts val="0"/>
              </a:spcBef>
              <a:spcAft>
                <a:spcPts val="300"/>
              </a:spcAft>
            </a:pPr>
            <a:r>
              <a:rPr sz="3100" b="1">
                <a:solidFill>
                  <a:srgbClr val="FFFFFF"/>
                </a:solidFill>
                <a:latin typeface="Montserrat"/>
              </a:rPr>
              <a:t>85,22%</a:t>
            </a:r>
          </a:p>
        </p:txBody>
      </p:sp>
      <p:sp>
        <p:nvSpPr>
          <p:cNvPr id="33" name="TextBox 32"/>
          <p:cNvSpPr txBox="1"/>
          <p:nvPr/>
        </p:nvSpPr>
        <p:spPr>
          <a:xfrm>
            <a:off x="768096" y="4800600"/>
            <a:ext cx="2368296" cy="320040"/>
          </a:xfrm>
          <a:prstGeom prst="rect">
            <a:avLst/>
          </a:prstGeom>
          <a:noFill/>
        </p:spPr>
        <p:txBody>
          <a:bodyPr wrap="square" lIns="0" rIns="0" tIns="0" bIns="0">
            <a:spAutoFit/>
          </a:bodyPr>
          <a:lstStyle/>
          <a:p>
            <a:pPr>
              <a:spcBef>
                <a:spcPts val="0"/>
              </a:spcBef>
              <a:spcAft>
                <a:spcPts val="300"/>
              </a:spcAft>
            </a:pPr>
            <a:r>
              <a:rPr sz="1500" b="0">
                <a:solidFill>
                  <a:srgbClr val="BDAFC9"/>
                </a:solidFill>
                <a:latin typeface="Montserrat"/>
              </a:rPr>
              <a:t>mAP@10</a:t>
            </a:r>
          </a:p>
        </p:txBody>
      </p:sp>
      <p:sp>
        <p:nvSpPr>
          <p:cNvPr id="34" name="TextBox 33"/>
          <p:cNvSpPr txBox="1"/>
          <p:nvPr/>
        </p:nvSpPr>
        <p:spPr>
          <a:xfrm>
            <a:off x="768096" y="5385816"/>
            <a:ext cx="2368296" cy="292608"/>
          </a:xfrm>
          <a:prstGeom prst="rect">
            <a:avLst/>
          </a:prstGeom>
          <a:noFill/>
        </p:spPr>
        <p:txBody>
          <a:bodyPr wrap="square" lIns="0" rIns="0" tIns="0" bIns="0">
            <a:spAutoFit/>
          </a:bodyPr>
          <a:lstStyle/>
          <a:p>
            <a:pPr>
              <a:spcBef>
                <a:spcPts val="0"/>
              </a:spcBef>
              <a:spcAft>
                <a:spcPts val="300"/>
              </a:spcAft>
            </a:pPr>
            <a:r>
              <a:rPr sz="1700" b="1">
                <a:solidFill>
                  <a:srgbClr val="FF005B"/>
                </a:solidFill>
                <a:latin typeface="Montserrat"/>
              </a:rPr>
              <a:t>+0,62 п.п.</a:t>
            </a:r>
          </a:p>
        </p:txBody>
      </p:sp>
      <p:sp>
        <p:nvSpPr>
          <p:cNvPr id="35" name="TextBox 34"/>
          <p:cNvSpPr txBox="1"/>
          <p:nvPr/>
        </p:nvSpPr>
        <p:spPr>
          <a:xfrm>
            <a:off x="3319272" y="4069080"/>
            <a:ext cx="2368296" cy="603504"/>
          </a:xfrm>
          <a:prstGeom prst="rect">
            <a:avLst/>
          </a:prstGeom>
          <a:noFill/>
        </p:spPr>
        <p:txBody>
          <a:bodyPr wrap="square" lIns="0" rIns="0" tIns="0" bIns="0">
            <a:spAutoFit/>
          </a:bodyPr>
          <a:lstStyle/>
          <a:p>
            <a:pPr>
              <a:spcBef>
                <a:spcPts val="0"/>
              </a:spcBef>
              <a:spcAft>
                <a:spcPts val="300"/>
              </a:spcAft>
            </a:pPr>
            <a:r>
              <a:rPr sz="3100" b="1">
                <a:solidFill>
                  <a:srgbClr val="FFFFFF"/>
                </a:solidFill>
                <a:latin typeface="Montserrat"/>
              </a:rPr>
              <a:t>82,34%</a:t>
            </a:r>
          </a:p>
        </p:txBody>
      </p:sp>
      <p:sp>
        <p:nvSpPr>
          <p:cNvPr id="36" name="TextBox 35"/>
          <p:cNvSpPr txBox="1"/>
          <p:nvPr/>
        </p:nvSpPr>
        <p:spPr>
          <a:xfrm>
            <a:off x="3319272" y="4800600"/>
            <a:ext cx="2368296" cy="320040"/>
          </a:xfrm>
          <a:prstGeom prst="rect">
            <a:avLst/>
          </a:prstGeom>
          <a:noFill/>
        </p:spPr>
        <p:txBody>
          <a:bodyPr wrap="square" lIns="0" rIns="0" tIns="0" bIns="0">
            <a:spAutoFit/>
          </a:bodyPr>
          <a:lstStyle/>
          <a:p>
            <a:pPr>
              <a:spcBef>
                <a:spcPts val="0"/>
              </a:spcBef>
              <a:spcAft>
                <a:spcPts val="300"/>
              </a:spcAft>
            </a:pPr>
            <a:r>
              <a:rPr sz="1500" b="0">
                <a:solidFill>
                  <a:srgbClr val="BDAFC9"/>
                </a:solidFill>
                <a:latin typeface="Montserrat"/>
              </a:rPr>
              <a:t>Rank-1</a:t>
            </a:r>
          </a:p>
        </p:txBody>
      </p:sp>
      <p:sp>
        <p:nvSpPr>
          <p:cNvPr id="37" name="TextBox 36"/>
          <p:cNvSpPr txBox="1"/>
          <p:nvPr/>
        </p:nvSpPr>
        <p:spPr>
          <a:xfrm>
            <a:off x="3319272" y="5385816"/>
            <a:ext cx="2368296" cy="292608"/>
          </a:xfrm>
          <a:prstGeom prst="rect">
            <a:avLst/>
          </a:prstGeom>
          <a:noFill/>
        </p:spPr>
        <p:txBody>
          <a:bodyPr wrap="square" lIns="0" rIns="0" tIns="0" bIns="0">
            <a:spAutoFit/>
          </a:bodyPr>
          <a:lstStyle/>
          <a:p>
            <a:pPr>
              <a:spcBef>
                <a:spcPts val="0"/>
              </a:spcBef>
              <a:spcAft>
                <a:spcPts val="300"/>
              </a:spcAft>
            </a:pPr>
            <a:r>
              <a:rPr sz="1700" b="1">
                <a:solidFill>
                  <a:srgbClr val="FF005B"/>
                </a:solidFill>
                <a:latin typeface="Montserrat"/>
              </a:rPr>
              <a:t>+0,74 п.п.</a:t>
            </a:r>
          </a:p>
        </p:txBody>
      </p:sp>
      <p:sp>
        <p:nvSpPr>
          <p:cNvPr id="38" name="TextBox 37"/>
          <p:cNvSpPr txBox="1"/>
          <p:nvPr/>
        </p:nvSpPr>
        <p:spPr>
          <a:xfrm>
            <a:off x="6510528" y="4069080"/>
            <a:ext cx="4910328" cy="521207"/>
          </a:xfrm>
          <a:prstGeom prst="rect">
            <a:avLst/>
          </a:prstGeom>
          <a:noFill/>
        </p:spPr>
        <p:txBody>
          <a:bodyPr wrap="square" lIns="0" rIns="0" tIns="0" bIns="0">
            <a:spAutoFit/>
          </a:bodyPr>
          <a:lstStyle/>
          <a:p>
            <a:pPr>
              <a:spcBef>
                <a:spcPts val="0"/>
              </a:spcBef>
              <a:spcAft>
                <a:spcPts val="300"/>
              </a:spcAft>
            </a:pPr>
            <a:r>
              <a:rPr sz="2700" b="1">
                <a:solidFill>
                  <a:srgbClr val="FFFFFF"/>
                </a:solidFill>
                <a:latin typeface="Montserrat"/>
              </a:rPr>
              <a:t>121,6–124,0 FPS</a:t>
            </a:r>
          </a:p>
        </p:txBody>
      </p:sp>
      <p:sp>
        <p:nvSpPr>
          <p:cNvPr id="39" name="TextBox 38"/>
          <p:cNvSpPr txBox="1"/>
          <p:nvPr/>
        </p:nvSpPr>
        <p:spPr>
          <a:xfrm>
            <a:off x="6510528" y="4654296"/>
            <a:ext cx="4910328" cy="256032"/>
          </a:xfrm>
          <a:prstGeom prst="rect">
            <a:avLst/>
          </a:prstGeom>
          <a:noFill/>
        </p:spPr>
        <p:txBody>
          <a:bodyPr wrap="square" lIns="0" rIns="0" tIns="0" bIns="0">
            <a:spAutoFit/>
          </a:bodyPr>
          <a:lstStyle/>
          <a:p>
            <a:pPr>
              <a:spcBef>
                <a:spcPts val="0"/>
              </a:spcBef>
              <a:spcAft>
                <a:spcPts val="300"/>
              </a:spcAft>
            </a:pPr>
            <a:r>
              <a:rPr sz="1200" b="0">
                <a:solidFill>
                  <a:srgbClr val="BDAFC9"/>
                </a:solidFill>
                <a:latin typeface="Montserrat"/>
              </a:rPr>
              <a:t>Throughput · batch=32</a:t>
            </a:r>
          </a:p>
        </p:txBody>
      </p:sp>
      <p:sp>
        <p:nvSpPr>
          <p:cNvPr id="40" name="TextBox 39"/>
          <p:cNvSpPr txBox="1"/>
          <p:nvPr/>
        </p:nvSpPr>
        <p:spPr>
          <a:xfrm>
            <a:off x="6510528" y="5138928"/>
            <a:ext cx="4910328" cy="438912"/>
          </a:xfrm>
          <a:prstGeom prst="rect">
            <a:avLst/>
          </a:prstGeom>
          <a:noFill/>
        </p:spPr>
        <p:txBody>
          <a:bodyPr wrap="square" lIns="0" rIns="0" tIns="0" bIns="0">
            <a:spAutoFit/>
          </a:bodyPr>
          <a:lstStyle/>
          <a:p>
            <a:pPr>
              <a:spcBef>
                <a:spcPts val="0"/>
              </a:spcBef>
              <a:spcAft>
                <a:spcPts val="300"/>
              </a:spcAft>
            </a:pPr>
            <a:r>
              <a:rPr sz="2500" b="1">
                <a:solidFill>
                  <a:srgbClr val="FFFFFF"/>
                </a:solidFill>
                <a:latin typeface="Montserrat"/>
              </a:rPr>
              <a:t>38,74–39,95 мс</a:t>
            </a:r>
          </a:p>
        </p:txBody>
      </p:sp>
      <p:sp>
        <p:nvSpPr>
          <p:cNvPr id="41" name="TextBox 40"/>
          <p:cNvSpPr txBox="1"/>
          <p:nvPr/>
        </p:nvSpPr>
        <p:spPr>
          <a:xfrm>
            <a:off x="6510528" y="5623560"/>
            <a:ext cx="4910328" cy="219456"/>
          </a:xfrm>
          <a:prstGeom prst="rect">
            <a:avLst/>
          </a:prstGeom>
          <a:noFill/>
        </p:spPr>
        <p:txBody>
          <a:bodyPr wrap="square" lIns="0" rIns="0" tIns="0" bIns="0">
            <a:spAutoFit/>
          </a:bodyPr>
          <a:lstStyle/>
          <a:p>
            <a:pPr>
              <a:spcBef>
                <a:spcPts val="0"/>
              </a:spcBef>
              <a:spcAft>
                <a:spcPts val="300"/>
              </a:spcAft>
            </a:pPr>
            <a:r>
              <a:rPr sz="1100" b="0">
                <a:solidFill>
                  <a:srgbClr val="BDAFC9"/>
                </a:solidFill>
                <a:latin typeface="Montserrat"/>
              </a:rPr>
              <a:t>Latency p50 · batch=1</a:t>
            </a:r>
          </a:p>
        </p:txBody>
      </p:sp>
      <p:sp>
        <p:nvSpPr>
          <p:cNvPr id="42" name="TextBox 41"/>
          <p:cNvSpPr txBox="1"/>
          <p:nvPr/>
        </p:nvSpPr>
        <p:spPr>
          <a:xfrm>
            <a:off x="502920" y="6117336"/>
            <a:ext cx="6492240" cy="237744"/>
          </a:xfrm>
          <a:prstGeom prst="rect">
            <a:avLst/>
          </a:prstGeom>
          <a:noFill/>
        </p:spPr>
        <p:txBody>
          <a:bodyPr wrap="square" lIns="0" rIns="0" tIns="0" bIns="0">
            <a:spAutoFit/>
          </a:bodyPr>
          <a:lstStyle/>
          <a:p>
            <a:pPr>
              <a:spcBef>
                <a:spcPts val="0"/>
              </a:spcBef>
              <a:spcAft>
                <a:spcPts val="300"/>
              </a:spcAft>
            </a:pPr>
            <a:r>
              <a:rPr sz="1400" b="1">
                <a:solidFill>
                  <a:srgbClr val="FFFFFF"/>
                </a:solidFill>
                <a:latin typeface="Montserrat"/>
                <a:hlinkClick r:id="rId2"/>
              </a:rPr>
              <a:t>github.com/Timur713/hf_2026</a:t>
            </a:r>
          </a:p>
        </p:txBody>
      </p:sp>
      <p:sp>
        <p:nvSpPr>
          <p:cNvPr id="43" name="TextBox 42"/>
          <p:cNvSpPr txBox="1"/>
          <p:nvPr/>
        </p:nvSpPr>
        <p:spPr>
          <a:xfrm>
            <a:off x="7845552" y="6117336"/>
            <a:ext cx="3840480" cy="237744"/>
          </a:xfrm>
          <a:prstGeom prst="rect">
            <a:avLst/>
          </a:prstGeom>
          <a:noFill/>
        </p:spPr>
        <p:txBody>
          <a:bodyPr wrap="square" lIns="0" rIns="0" tIns="0" bIns="0">
            <a:spAutoFit/>
          </a:bodyPr>
          <a:lstStyle/>
          <a:p>
            <a:pPr algn="r">
              <a:spcBef>
                <a:spcPts val="0"/>
              </a:spcBef>
              <a:spcAft>
                <a:spcPts val="300"/>
              </a:spcAft>
            </a:pPr>
            <a:r>
              <a:rPr sz="1300" b="0">
                <a:solidFill>
                  <a:srgbClr val="BDAFC9"/>
                </a:solidFill>
                <a:latin typeface="Montserrat"/>
              </a:rPr>
              <a:t>Все веса: 0,789 ГБ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ПРИМЕНЕНИЕ В ПРОДАКШЕНЕ</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2900" b="1">
                <a:solidFill>
                  <a:srgbClr val="321044"/>
                </a:solidFill>
                <a:latin typeface="Montserrat"/>
              </a:rPr>
              <a:t>Поиск учитывает особенности архива заказчика</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КОНТЕКСТ АРХИВА</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19</a:t>
            </a:r>
          </a:p>
        </p:txBody>
      </p:sp>
      <p:sp>
        <p:nvSpPr>
          <p:cNvPr id="13" name="TextBox 12"/>
          <p:cNvSpPr txBox="1"/>
          <p:nvPr/>
        </p:nvSpPr>
        <p:spPr>
          <a:xfrm>
            <a:off x="502920" y="1499616"/>
            <a:ext cx="11183112" cy="384048"/>
          </a:xfrm>
          <a:prstGeom prst="rect">
            <a:avLst/>
          </a:prstGeom>
          <a:noFill/>
        </p:spPr>
        <p:txBody>
          <a:bodyPr wrap="square" lIns="0" rIns="0" tIns="0" bIns="0">
            <a:spAutoFit/>
          </a:bodyPr>
          <a:lstStyle/>
          <a:p>
            <a:pPr>
              <a:spcBef>
                <a:spcPts val="0"/>
              </a:spcBef>
              <a:spcAft>
                <a:spcPts val="300"/>
              </a:spcAft>
            </a:pPr>
            <a:r>
              <a:rPr sz="1600" b="0">
                <a:solidFill>
                  <a:srgbClr val="6C6176"/>
                </a:solidFill>
                <a:latin typeface="Montserrat"/>
              </a:rPr>
              <a:t>Оценка кандидата учитывает, насколько его внешность типична для базы.</a:t>
            </a:r>
          </a:p>
        </p:txBody>
      </p:sp>
      <p:sp>
        <p:nvSpPr>
          <p:cNvPr id="14" name="Rectangle 13"/>
          <p:cNvSpPr/>
          <p:nvPr/>
        </p:nvSpPr>
        <p:spPr>
          <a:xfrm>
            <a:off x="502920" y="2048256"/>
            <a:ext cx="6940296" cy="3044952"/>
          </a:xfrm>
          <a:prstGeom prst="rect">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231136"/>
            <a:ext cx="4800600" cy="310896"/>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Контекст кандидата в архиве</a:t>
            </a:r>
          </a:p>
        </p:txBody>
      </p:sp>
      <p:sp>
        <p:nvSpPr>
          <p:cNvPr id="16" name="TextBox 15"/>
          <p:cNvSpPr txBox="1"/>
          <p:nvPr/>
        </p:nvSpPr>
        <p:spPr>
          <a:xfrm>
            <a:off x="6126480" y="2286000"/>
            <a:ext cx="1024128" cy="182880"/>
          </a:xfrm>
          <a:prstGeom prst="rect">
            <a:avLst/>
          </a:prstGeom>
          <a:noFill/>
        </p:spPr>
        <p:txBody>
          <a:bodyPr wrap="square" lIns="0" rIns="0" tIns="0" bIns="0">
            <a:spAutoFit/>
          </a:bodyPr>
          <a:lstStyle/>
          <a:p>
            <a:pPr algn="r">
              <a:spcBef>
                <a:spcPts val="0"/>
              </a:spcBef>
              <a:spcAft>
                <a:spcPts val="300"/>
              </a:spcAft>
            </a:pPr>
            <a:r>
              <a:rPr sz="900" b="1">
                <a:solidFill>
                  <a:srgbClr val="6C6176"/>
                </a:solidFill>
                <a:latin typeface="Montserrat"/>
              </a:rPr>
              <a:t>СХЕМА</a:t>
            </a:r>
          </a:p>
        </p:txBody>
      </p:sp>
      <p:cxnSp>
        <p:nvCxnSpPr>
          <p:cNvPr id="17" name="Connector 16"/>
          <p:cNvCxnSpPr/>
          <p:nvPr/>
        </p:nvCxnSpPr>
        <p:spPr>
          <a:xfrm flipV="1">
            <a:off x="1883664" y="2980944"/>
            <a:ext cx="1581912" cy="100584"/>
          </a:xfrm>
          <a:prstGeom prst="line">
            <a:avLst/>
          </a:prstGeom>
          <a:ln w="2286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883664" y="2980944"/>
            <a:ext cx="1581912" cy="1344168"/>
          </a:xfrm>
          <a:prstGeom prst="line">
            <a:avLst/>
          </a:prstGeom>
          <a:ln w="12700">
            <a:solidFill>
              <a:srgbClr val="5C6FC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883664" y="3081528"/>
            <a:ext cx="1581912" cy="621792"/>
          </a:xfrm>
          <a:prstGeom prst="line">
            <a:avLst/>
          </a:prstGeom>
          <a:ln w="2286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883664" y="3703320"/>
            <a:ext cx="1581912" cy="621792"/>
          </a:xfrm>
          <a:prstGeom prst="line">
            <a:avLst/>
          </a:prstGeom>
          <a:ln w="12700">
            <a:solidFill>
              <a:srgbClr val="5C6FC0"/>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83664" y="3081528"/>
            <a:ext cx="1581912" cy="1344168"/>
          </a:xfrm>
          <a:prstGeom prst="line">
            <a:avLst/>
          </a:prstGeom>
          <a:ln w="22860">
            <a:solidFill>
              <a:srgbClr val="FF005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83664" y="4325112"/>
            <a:ext cx="1581912" cy="100584"/>
          </a:xfrm>
          <a:prstGeom prst="line">
            <a:avLst/>
          </a:prstGeom>
          <a:ln w="12700">
            <a:solidFill>
              <a:srgbClr val="5C6FC0"/>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1296" y="2888406"/>
            <a:ext cx="446592" cy="236829"/>
          </a:xfrm>
          <a:prstGeom prst="roundRect">
            <a:avLst>
              <a:gd name="adj" fmla="val 10000"/>
            </a:avLst>
          </a:prstGeom>
          <a:solidFill>
            <a:srgbClr val="A69B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rapezoid 23"/>
          <p:cNvSpPr/>
          <p:nvPr/>
        </p:nvSpPr>
        <p:spPr>
          <a:xfrm>
            <a:off x="3578961" y="2807208"/>
            <a:ext cx="311261" cy="196230"/>
          </a:xfrm>
          <a:prstGeom prst="trapezoid">
            <a:avLst/>
          </a:prstGeom>
          <a:solidFill>
            <a:srgbClr val="A69B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26327" y="2854573"/>
            <a:ext cx="216529" cy="74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562045" y="3071103"/>
            <a:ext cx="74432" cy="87965"/>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832707" y="3071103"/>
            <a:ext cx="74432" cy="87965"/>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51895" y="2983138"/>
            <a:ext cx="74432" cy="4059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842857" y="2983138"/>
            <a:ext cx="74432" cy="4059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511296" y="3610782"/>
            <a:ext cx="446592" cy="236829"/>
          </a:xfrm>
          <a:prstGeom prst="roundRect">
            <a:avLst>
              <a:gd name="adj" fmla="val 10000"/>
            </a:avLst>
          </a:prstGeom>
          <a:solidFill>
            <a:srgbClr val="A69B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rapezoid 30"/>
          <p:cNvSpPr/>
          <p:nvPr/>
        </p:nvSpPr>
        <p:spPr>
          <a:xfrm>
            <a:off x="3578961" y="3529584"/>
            <a:ext cx="311261" cy="196230"/>
          </a:xfrm>
          <a:prstGeom prst="trapezoid">
            <a:avLst/>
          </a:prstGeom>
          <a:solidFill>
            <a:srgbClr val="A69B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26327" y="3576949"/>
            <a:ext cx="216529" cy="74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562045" y="3793479"/>
            <a:ext cx="74432" cy="87965"/>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832707" y="3793479"/>
            <a:ext cx="74432" cy="87965"/>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51895" y="3705514"/>
            <a:ext cx="74432" cy="4059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42857" y="3705514"/>
            <a:ext cx="74432" cy="4059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511296" y="4333158"/>
            <a:ext cx="446592" cy="236829"/>
          </a:xfrm>
          <a:prstGeom prst="roundRect">
            <a:avLst>
              <a:gd name="adj" fmla="val 10000"/>
            </a:avLst>
          </a:prstGeom>
          <a:solidFill>
            <a:srgbClr val="A69B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rapezoid 37"/>
          <p:cNvSpPr/>
          <p:nvPr/>
        </p:nvSpPr>
        <p:spPr>
          <a:xfrm>
            <a:off x="3578961" y="4251960"/>
            <a:ext cx="311261" cy="196230"/>
          </a:xfrm>
          <a:prstGeom prst="trapezoid">
            <a:avLst/>
          </a:prstGeom>
          <a:solidFill>
            <a:srgbClr val="A69B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26327" y="4299325"/>
            <a:ext cx="216529" cy="74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562045" y="4515855"/>
            <a:ext cx="74432" cy="87965"/>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832707" y="4515855"/>
            <a:ext cx="74432" cy="87965"/>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551895" y="4427890"/>
            <a:ext cx="74432" cy="4059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842857" y="4427890"/>
            <a:ext cx="74432" cy="4059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307592" y="2965216"/>
            <a:ext cx="567293" cy="300837"/>
          </a:xfrm>
          <a:prstGeom prst="roundRect">
            <a:avLst>
              <a:gd name="adj" fmla="val 10000"/>
            </a:avLst>
          </a:prstGeom>
          <a:solidFill>
            <a:srgbClr val="FF0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rapezoid 44"/>
          <p:cNvSpPr/>
          <p:nvPr/>
        </p:nvSpPr>
        <p:spPr>
          <a:xfrm>
            <a:off x="1393545" y="2862072"/>
            <a:ext cx="395386" cy="249265"/>
          </a:xfrm>
          <a:prstGeom prst="trapezoid">
            <a:avLst/>
          </a:prstGeom>
          <a:solidFill>
            <a:srgbClr val="FF0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53713" y="2922239"/>
            <a:ext cx="275051" cy="945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372057" y="3197291"/>
            <a:ext cx="94548" cy="111739"/>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715871" y="3197291"/>
            <a:ext cx="94548" cy="111739"/>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359164" y="3085551"/>
            <a:ext cx="94548" cy="515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728764" y="3085551"/>
            <a:ext cx="94548" cy="515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307592" y="4208800"/>
            <a:ext cx="567293" cy="300837"/>
          </a:xfrm>
          <a:prstGeom prst="roundRect">
            <a:avLst>
              <a:gd name="adj" fmla="val 10000"/>
            </a:avLst>
          </a:prstGeom>
          <a:solidFill>
            <a:srgbClr val="5C6F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rapezoid 51"/>
          <p:cNvSpPr/>
          <p:nvPr/>
        </p:nvSpPr>
        <p:spPr>
          <a:xfrm>
            <a:off x="1393545" y="4105656"/>
            <a:ext cx="395386" cy="249265"/>
          </a:xfrm>
          <a:prstGeom prst="trapezoid">
            <a:avLst/>
          </a:prstGeom>
          <a:solidFill>
            <a:srgbClr val="5C6F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453713" y="4165823"/>
            <a:ext cx="275051" cy="945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372057" y="4440875"/>
            <a:ext cx="94548" cy="111739"/>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715871" y="4440875"/>
            <a:ext cx="94548" cy="111739"/>
          </a:xfrm>
          <a:prstGeom prst="roundRect">
            <a:avLst>
              <a:gd name="adj" fmla="val 10000"/>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59164" y="4329135"/>
            <a:ext cx="94548" cy="515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728764" y="4329135"/>
            <a:ext cx="94548" cy="515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49808" y="2999232"/>
            <a:ext cx="393192" cy="292608"/>
          </a:xfrm>
          <a:prstGeom prst="rect">
            <a:avLst/>
          </a:prstGeom>
          <a:noFill/>
        </p:spPr>
        <p:txBody>
          <a:bodyPr wrap="square" lIns="0" rIns="0" tIns="0" bIns="0">
            <a:spAutoFit/>
          </a:bodyPr>
          <a:lstStyle/>
          <a:p>
            <a:pPr>
              <a:spcBef>
                <a:spcPts val="0"/>
              </a:spcBef>
              <a:spcAft>
                <a:spcPts val="300"/>
              </a:spcAft>
            </a:pPr>
            <a:r>
              <a:rPr sz="1500" b="1">
                <a:solidFill>
                  <a:srgbClr val="FF005B"/>
                </a:solidFill>
                <a:latin typeface="Montserrat"/>
              </a:rPr>
              <a:t>A</a:t>
            </a:r>
          </a:p>
        </p:txBody>
      </p:sp>
      <p:sp>
        <p:nvSpPr>
          <p:cNvPr id="59" name="TextBox 58"/>
          <p:cNvSpPr txBox="1"/>
          <p:nvPr/>
        </p:nvSpPr>
        <p:spPr>
          <a:xfrm>
            <a:off x="749808" y="4242816"/>
            <a:ext cx="393192" cy="292608"/>
          </a:xfrm>
          <a:prstGeom prst="rect">
            <a:avLst/>
          </a:prstGeom>
          <a:noFill/>
        </p:spPr>
        <p:txBody>
          <a:bodyPr wrap="square" lIns="0" rIns="0" tIns="0" bIns="0">
            <a:spAutoFit/>
          </a:bodyPr>
          <a:lstStyle/>
          <a:p>
            <a:pPr>
              <a:spcBef>
                <a:spcPts val="0"/>
              </a:spcBef>
              <a:spcAft>
                <a:spcPts val="300"/>
              </a:spcAft>
            </a:pPr>
            <a:r>
              <a:rPr sz="1500" b="1">
                <a:solidFill>
                  <a:srgbClr val="5C6FC0"/>
                </a:solidFill>
                <a:latin typeface="Montserrat"/>
              </a:rPr>
              <a:t>B</a:t>
            </a:r>
          </a:p>
        </p:txBody>
      </p:sp>
      <p:sp>
        <p:nvSpPr>
          <p:cNvPr id="60" name="TextBox 59"/>
          <p:cNvSpPr txBox="1"/>
          <p:nvPr/>
        </p:nvSpPr>
        <p:spPr>
          <a:xfrm>
            <a:off x="4370832" y="2871216"/>
            <a:ext cx="2788920" cy="603504"/>
          </a:xfrm>
          <a:prstGeom prst="rect">
            <a:avLst/>
          </a:prstGeom>
          <a:noFill/>
        </p:spPr>
        <p:txBody>
          <a:bodyPr wrap="square" lIns="0" rIns="0" tIns="0" bIns="0">
            <a:spAutoFit/>
          </a:bodyPr>
          <a:lstStyle/>
          <a:p>
            <a:pPr>
              <a:spcBef>
                <a:spcPts val="0"/>
              </a:spcBef>
              <a:spcAft>
                <a:spcPts val="300"/>
              </a:spcAft>
            </a:pPr>
            <a:r>
              <a:rPr sz="1400" b="1">
                <a:solidFill>
                  <a:srgbClr val="FF005B"/>
                </a:solidFill>
                <a:latin typeface="Montserrat"/>
              </a:rPr>
              <a:t>A похож на многие</a:t>
            </a:r>
          </a:p>
          <a:p>
            <a:pPr>
              <a:spcBef>
                <a:spcPts val="0"/>
              </a:spcBef>
              <a:spcAft>
                <a:spcPts val="300"/>
              </a:spcAft>
            </a:pPr>
            <a:r>
              <a:rPr sz="1400" b="1">
                <a:solidFill>
                  <a:srgbClr val="FF005B"/>
                </a:solidFill>
                <a:latin typeface="Montserrat"/>
              </a:rPr>
              <a:t>машины в базе</a:t>
            </a:r>
          </a:p>
        </p:txBody>
      </p:sp>
      <p:sp>
        <p:nvSpPr>
          <p:cNvPr id="61" name="TextBox 60"/>
          <p:cNvSpPr txBox="1"/>
          <p:nvPr/>
        </p:nvSpPr>
        <p:spPr>
          <a:xfrm>
            <a:off x="4370832" y="4087368"/>
            <a:ext cx="2788920" cy="603504"/>
          </a:xfrm>
          <a:prstGeom prst="rect">
            <a:avLst/>
          </a:prstGeom>
          <a:noFill/>
        </p:spPr>
        <p:txBody>
          <a:bodyPr wrap="square" lIns="0" rIns="0" tIns="0" bIns="0">
            <a:spAutoFit/>
          </a:bodyPr>
          <a:lstStyle/>
          <a:p>
            <a:pPr>
              <a:spcBef>
                <a:spcPts val="0"/>
              </a:spcBef>
              <a:spcAft>
                <a:spcPts val="300"/>
              </a:spcAft>
            </a:pPr>
            <a:r>
              <a:rPr sz="1400" b="1">
                <a:solidFill>
                  <a:srgbClr val="5C6FC0"/>
                </a:solidFill>
                <a:latin typeface="Montserrat"/>
              </a:rPr>
              <a:t>B меньше похож</a:t>
            </a:r>
          </a:p>
          <a:p>
            <a:pPr>
              <a:spcBef>
                <a:spcPts val="0"/>
              </a:spcBef>
              <a:spcAft>
                <a:spcPts val="300"/>
              </a:spcAft>
            </a:pPr>
            <a:r>
              <a:rPr sz="1400" b="1">
                <a:solidFill>
                  <a:srgbClr val="5C6FC0"/>
                </a:solidFill>
                <a:latin typeface="Montserrat"/>
              </a:rPr>
              <a:t>на остальные машины</a:t>
            </a:r>
          </a:p>
        </p:txBody>
      </p:sp>
      <p:sp>
        <p:nvSpPr>
          <p:cNvPr id="62" name="Rectangle 61"/>
          <p:cNvSpPr/>
          <p:nvPr/>
        </p:nvSpPr>
        <p:spPr>
          <a:xfrm>
            <a:off x="731520" y="4718304"/>
            <a:ext cx="6473952"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2104" y="4745736"/>
            <a:ext cx="6272784" cy="201168"/>
          </a:xfrm>
          <a:prstGeom prst="rect">
            <a:avLst/>
          </a:prstGeom>
          <a:noFill/>
        </p:spPr>
        <p:txBody>
          <a:bodyPr wrap="square" lIns="0" rIns="0" tIns="0" bIns="0">
            <a:spAutoFit/>
          </a:bodyPr>
          <a:lstStyle/>
          <a:p>
            <a:pPr>
              <a:spcBef>
                <a:spcPts val="0"/>
              </a:spcBef>
              <a:spcAft>
                <a:spcPts val="300"/>
              </a:spcAft>
            </a:pPr>
            <a:r>
              <a:rPr sz="1200" b="1">
                <a:solidFill>
                  <a:srgbClr val="321044"/>
                </a:solidFill>
                <a:latin typeface="Montserrat"/>
              </a:rPr>
              <a:t>Для A поправка на типичность больше.</a:t>
            </a:r>
          </a:p>
        </p:txBody>
      </p:sp>
      <p:sp>
        <p:nvSpPr>
          <p:cNvPr id="64" name="Rectangle 63"/>
          <p:cNvSpPr/>
          <p:nvPr/>
        </p:nvSpPr>
        <p:spPr>
          <a:xfrm>
            <a:off x="7754112" y="2048256"/>
            <a:ext cx="3931920" cy="3044952"/>
          </a:xfrm>
          <a:prstGeom prst="rect">
            <a:avLst/>
          </a:prstGeom>
          <a:solidFill>
            <a:srgbClr val="3210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010144" y="2276856"/>
            <a:ext cx="3419856" cy="265176"/>
          </a:xfrm>
          <a:prstGeom prst="rect">
            <a:avLst/>
          </a:prstGeom>
          <a:noFill/>
        </p:spPr>
        <p:txBody>
          <a:bodyPr wrap="square" lIns="0" rIns="0" tIns="0" bIns="0">
            <a:spAutoFit/>
          </a:bodyPr>
          <a:lstStyle/>
          <a:p>
            <a:pPr>
              <a:spcBef>
                <a:spcPts val="0"/>
              </a:spcBef>
              <a:spcAft>
                <a:spcPts val="300"/>
              </a:spcAft>
            </a:pPr>
            <a:r>
              <a:rPr sz="1100" b="1">
                <a:solidFill>
                  <a:srgbClr val="BDAFC9"/>
                </a:solidFill>
                <a:latin typeface="Montserrat"/>
              </a:rPr>
              <a:t>ВКЛАД КОНТЕКСТА · RANK-1</a:t>
            </a:r>
          </a:p>
        </p:txBody>
      </p:sp>
      <p:sp>
        <p:nvSpPr>
          <p:cNvPr id="66" name="TextBox 65"/>
          <p:cNvSpPr txBox="1"/>
          <p:nvPr/>
        </p:nvSpPr>
        <p:spPr>
          <a:xfrm>
            <a:off x="8010144" y="2889504"/>
            <a:ext cx="1847088" cy="274320"/>
          </a:xfrm>
          <a:prstGeom prst="rect">
            <a:avLst/>
          </a:prstGeom>
          <a:noFill/>
        </p:spPr>
        <p:txBody>
          <a:bodyPr wrap="square" lIns="0" rIns="0" tIns="0" bIns="0">
            <a:spAutoFit/>
          </a:bodyPr>
          <a:lstStyle/>
          <a:p>
            <a:pPr>
              <a:spcBef>
                <a:spcPts val="0"/>
              </a:spcBef>
              <a:spcAft>
                <a:spcPts val="300"/>
              </a:spcAft>
            </a:pPr>
            <a:r>
              <a:rPr sz="1300" b="0">
                <a:solidFill>
                  <a:srgbClr val="BDAFC9"/>
                </a:solidFill>
                <a:latin typeface="Montserrat"/>
              </a:rPr>
              <a:t>Без поправки</a:t>
            </a:r>
          </a:p>
        </p:txBody>
      </p:sp>
      <p:sp>
        <p:nvSpPr>
          <p:cNvPr id="67" name="TextBox 66"/>
          <p:cNvSpPr txBox="1"/>
          <p:nvPr/>
        </p:nvSpPr>
        <p:spPr>
          <a:xfrm>
            <a:off x="9902952" y="2816352"/>
            <a:ext cx="1527048" cy="411480"/>
          </a:xfrm>
          <a:prstGeom prst="rect">
            <a:avLst/>
          </a:prstGeom>
          <a:noFill/>
        </p:spPr>
        <p:txBody>
          <a:bodyPr wrap="square" lIns="0" rIns="0" tIns="0" bIns="0">
            <a:spAutoFit/>
          </a:bodyPr>
          <a:lstStyle/>
          <a:p>
            <a:pPr algn="r">
              <a:spcBef>
                <a:spcPts val="0"/>
              </a:spcBef>
              <a:spcAft>
                <a:spcPts val="300"/>
              </a:spcAft>
            </a:pPr>
            <a:r>
              <a:rPr sz="2200" b="1">
                <a:solidFill>
                  <a:srgbClr val="FFFFFF"/>
                </a:solidFill>
                <a:latin typeface="Montserrat"/>
              </a:rPr>
              <a:t>76,08%</a:t>
            </a:r>
          </a:p>
        </p:txBody>
      </p:sp>
      <p:sp>
        <p:nvSpPr>
          <p:cNvPr id="68" name="TextBox 67"/>
          <p:cNvSpPr txBox="1"/>
          <p:nvPr/>
        </p:nvSpPr>
        <p:spPr>
          <a:xfrm>
            <a:off x="8010144" y="3419856"/>
            <a:ext cx="1847088" cy="274320"/>
          </a:xfrm>
          <a:prstGeom prst="rect">
            <a:avLst/>
          </a:prstGeom>
          <a:noFill/>
        </p:spPr>
        <p:txBody>
          <a:bodyPr wrap="square" lIns="0" rIns="0" tIns="0" bIns="0">
            <a:spAutoFit/>
          </a:bodyPr>
          <a:lstStyle/>
          <a:p>
            <a:pPr>
              <a:spcBef>
                <a:spcPts val="0"/>
              </a:spcBef>
              <a:spcAft>
                <a:spcPts val="300"/>
              </a:spcAft>
            </a:pPr>
            <a:r>
              <a:rPr sz="1300" b="0">
                <a:solidFill>
                  <a:srgbClr val="BDAFC9"/>
                </a:solidFill>
                <a:latin typeface="Montserrat"/>
              </a:rPr>
              <a:t>С поправкой</a:t>
            </a:r>
          </a:p>
        </p:txBody>
      </p:sp>
      <p:sp>
        <p:nvSpPr>
          <p:cNvPr id="69" name="TextBox 68"/>
          <p:cNvSpPr txBox="1"/>
          <p:nvPr/>
        </p:nvSpPr>
        <p:spPr>
          <a:xfrm>
            <a:off x="9902952" y="3346704"/>
            <a:ext cx="1527048" cy="411480"/>
          </a:xfrm>
          <a:prstGeom prst="rect">
            <a:avLst/>
          </a:prstGeom>
          <a:noFill/>
        </p:spPr>
        <p:txBody>
          <a:bodyPr wrap="square" lIns="0" rIns="0" tIns="0" bIns="0">
            <a:spAutoFit/>
          </a:bodyPr>
          <a:lstStyle/>
          <a:p>
            <a:pPr algn="r">
              <a:spcBef>
                <a:spcPts val="0"/>
              </a:spcBef>
              <a:spcAft>
                <a:spcPts val="300"/>
              </a:spcAft>
            </a:pPr>
            <a:r>
              <a:rPr sz="2200" b="1">
                <a:solidFill>
                  <a:srgbClr val="FFFFFF"/>
                </a:solidFill>
                <a:latin typeface="Montserrat"/>
              </a:rPr>
              <a:t>79,91%</a:t>
            </a:r>
          </a:p>
        </p:txBody>
      </p:sp>
      <p:sp>
        <p:nvSpPr>
          <p:cNvPr id="70" name="TextBox 69"/>
          <p:cNvSpPr txBox="1"/>
          <p:nvPr/>
        </p:nvSpPr>
        <p:spPr>
          <a:xfrm>
            <a:off x="8010144" y="3986784"/>
            <a:ext cx="3419856" cy="603504"/>
          </a:xfrm>
          <a:prstGeom prst="rect">
            <a:avLst/>
          </a:prstGeom>
          <a:noFill/>
        </p:spPr>
        <p:txBody>
          <a:bodyPr wrap="square" lIns="0" rIns="0" tIns="0" bIns="0">
            <a:spAutoFit/>
          </a:bodyPr>
          <a:lstStyle/>
          <a:p>
            <a:pPr>
              <a:spcBef>
                <a:spcPts val="0"/>
              </a:spcBef>
              <a:spcAft>
                <a:spcPts val="300"/>
              </a:spcAft>
            </a:pPr>
            <a:r>
              <a:rPr sz="3200" b="1">
                <a:solidFill>
                  <a:srgbClr val="FF005B"/>
                </a:solidFill>
                <a:latin typeface="Montserrat"/>
              </a:rPr>
              <a:t>+3,83 п.п.</a:t>
            </a:r>
          </a:p>
        </p:txBody>
      </p:sp>
      <p:sp>
        <p:nvSpPr>
          <p:cNvPr id="71" name="TextBox 70"/>
          <p:cNvSpPr txBox="1"/>
          <p:nvPr/>
        </p:nvSpPr>
        <p:spPr>
          <a:xfrm>
            <a:off x="8010144" y="4727448"/>
            <a:ext cx="3419856" cy="219456"/>
          </a:xfrm>
          <a:prstGeom prst="rect">
            <a:avLst/>
          </a:prstGeom>
          <a:noFill/>
        </p:spPr>
        <p:txBody>
          <a:bodyPr wrap="square" lIns="0" rIns="0" tIns="0" bIns="0">
            <a:spAutoFit/>
          </a:bodyPr>
          <a:lstStyle/>
          <a:p>
            <a:pPr>
              <a:spcBef>
                <a:spcPts val="0"/>
              </a:spcBef>
              <a:spcAft>
                <a:spcPts val="300"/>
              </a:spcAft>
            </a:pPr>
            <a:r>
              <a:rPr sz="1100" b="0">
                <a:solidFill>
                  <a:srgbClr val="BDAFC9"/>
                </a:solidFill>
                <a:latin typeface="Montserrat"/>
              </a:rPr>
              <a:t>Четыре проверочные галереи</a:t>
            </a:r>
          </a:p>
        </p:txBody>
      </p:sp>
      <p:sp>
        <p:nvSpPr>
          <p:cNvPr id="72" name="TextBox 71"/>
          <p:cNvSpPr txBox="1"/>
          <p:nvPr/>
        </p:nvSpPr>
        <p:spPr>
          <a:xfrm>
            <a:off x="502920" y="5376672"/>
            <a:ext cx="11183112" cy="320040"/>
          </a:xfrm>
          <a:prstGeom prst="rect">
            <a:avLst/>
          </a:prstGeom>
          <a:noFill/>
        </p:spPr>
        <p:txBody>
          <a:bodyPr wrap="square" lIns="0" rIns="0" tIns="0" bIns="0">
            <a:spAutoFit/>
          </a:bodyPr>
          <a:lstStyle/>
          <a:p>
            <a:pPr>
              <a:spcBef>
                <a:spcPts val="0"/>
              </a:spcBef>
              <a:spcAft>
                <a:spcPts val="300"/>
              </a:spcAft>
            </a:pPr>
            <a:r>
              <a:rPr sz="1700" b="1">
                <a:solidFill>
                  <a:srgbClr val="321044"/>
                </a:solidFill>
                <a:latin typeface="Montserrat"/>
              </a:rPr>
              <a:t>Контекст базы пересчитывается без переобучения моделей.</a:t>
            </a:r>
          </a:p>
        </p:txBody>
      </p:sp>
      <p:sp>
        <p:nvSpPr>
          <p:cNvPr id="73" name="Rectangle 72"/>
          <p:cNvSpPr/>
          <p:nvPr/>
        </p:nvSpPr>
        <p:spPr>
          <a:xfrm>
            <a:off x="502920" y="5797296"/>
            <a:ext cx="11183112" cy="493776"/>
          </a:xfrm>
          <a:prstGeom prst="rect">
            <a:avLst/>
          </a:prstGeom>
          <a:solidFill>
            <a:srgbClr val="EB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67512" y="5934456"/>
            <a:ext cx="1874519" cy="210312"/>
          </a:xfrm>
          <a:prstGeom prst="rect">
            <a:avLst/>
          </a:prstGeom>
          <a:noFill/>
        </p:spPr>
        <p:txBody>
          <a:bodyPr wrap="square" lIns="0" rIns="0" tIns="0" bIns="0">
            <a:spAutoFit/>
          </a:bodyPr>
          <a:lstStyle/>
          <a:p>
            <a:pPr>
              <a:spcBef>
                <a:spcPts val="0"/>
              </a:spcBef>
              <a:spcAft>
                <a:spcPts val="300"/>
              </a:spcAft>
            </a:pPr>
            <a:r>
              <a:rPr sz="1050" b="1">
                <a:solidFill>
                  <a:srgbClr val="5C6FC0"/>
                </a:solidFill>
                <a:latin typeface="Montserrat"/>
              </a:rPr>
              <a:t>ГИПОТЕЗА ПИЛОТА</a:t>
            </a:r>
          </a:p>
        </p:txBody>
      </p:sp>
      <p:sp>
        <p:nvSpPr>
          <p:cNvPr id="75" name="TextBox 74"/>
          <p:cNvSpPr txBox="1"/>
          <p:nvPr/>
        </p:nvSpPr>
        <p:spPr>
          <a:xfrm>
            <a:off x="2560320" y="5897880"/>
            <a:ext cx="8924544" cy="283464"/>
          </a:xfrm>
          <a:prstGeom prst="rect">
            <a:avLst/>
          </a:prstGeom>
          <a:noFill/>
        </p:spPr>
        <p:txBody>
          <a:bodyPr wrap="square" lIns="0" rIns="0" tIns="0" bIns="0">
            <a:spAutoFit/>
          </a:bodyPr>
          <a:lstStyle/>
          <a:p>
            <a:pPr>
              <a:spcBef>
                <a:spcPts val="0"/>
              </a:spcBef>
              <a:spcAft>
                <a:spcPts val="300"/>
              </a:spcAft>
            </a:pPr>
            <a:r>
              <a:rPr sz="1450" b="1">
                <a:solidFill>
                  <a:srgbClr val="321044"/>
                </a:solidFill>
                <a:latin typeface="Montserrat"/>
              </a:rPr>
              <a:t>Больше разнообразных обучающих примеров → </a:t>
            </a:r>
            <a:r>
              <a:rPr sz="1450" b="1">
                <a:solidFill>
                  <a:srgbClr val="FF005B"/>
                </a:solidFill>
                <a:latin typeface="Montserrat"/>
              </a:rPr>
              <a:t>ещё выше качество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ПРИЛОЖЕНИЕ / ПРОТОКОЛЫ</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2900" b="1">
                <a:solidFill>
                  <a:srgbClr val="321044"/>
                </a:solidFill>
                <a:latin typeface="Montserrat"/>
              </a:rPr>
              <a:t>Как проверяли качество и скорость</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ДЛЯ ВОПРОСОВ</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A1</a:t>
            </a:r>
          </a:p>
        </p:txBody>
      </p:sp>
      <p:sp>
        <p:nvSpPr>
          <p:cNvPr id="13" name="TextBox 12"/>
          <p:cNvSpPr txBox="1"/>
          <p:nvPr/>
        </p:nvSpPr>
        <p:spPr>
          <a:xfrm>
            <a:off x="502920" y="1965960"/>
            <a:ext cx="2880360" cy="429768"/>
          </a:xfrm>
          <a:prstGeom prst="rect">
            <a:avLst/>
          </a:prstGeom>
          <a:noFill/>
        </p:spPr>
        <p:txBody>
          <a:bodyPr wrap="square" lIns="0" rIns="0" tIns="0" bIns="0">
            <a:spAutoFit/>
          </a:bodyPr>
          <a:lstStyle/>
          <a:p>
            <a:pPr>
              <a:spcBef>
                <a:spcPts val="0"/>
              </a:spcBef>
              <a:spcAft>
                <a:spcPts val="300"/>
              </a:spcAft>
            </a:pPr>
            <a:r>
              <a:rPr sz="2000" b="1">
                <a:solidFill>
                  <a:srgbClr val="321044"/>
                </a:solidFill>
                <a:latin typeface="Montserrat"/>
              </a:rPr>
              <a:t>Качество</a:t>
            </a:r>
          </a:p>
        </p:txBody>
      </p:sp>
      <p:sp>
        <p:nvSpPr>
          <p:cNvPr id="14" name="TextBox 13"/>
          <p:cNvSpPr txBox="1"/>
          <p:nvPr/>
        </p:nvSpPr>
        <p:spPr>
          <a:xfrm>
            <a:off x="3557016" y="1965960"/>
            <a:ext cx="8119872" cy="649224"/>
          </a:xfrm>
          <a:prstGeom prst="rect">
            <a:avLst/>
          </a:prstGeom>
          <a:noFill/>
        </p:spPr>
        <p:txBody>
          <a:bodyPr wrap="square" lIns="0" rIns="0" tIns="0" bIns="0">
            <a:spAutoFit/>
          </a:bodyPr>
          <a:lstStyle/>
          <a:p>
            <a:pPr>
              <a:spcBef>
                <a:spcPts val="0"/>
              </a:spcBef>
              <a:spcAft>
                <a:spcPts val="300"/>
              </a:spcAft>
            </a:pPr>
            <a:r>
              <a:rPr sz="1550" b="0">
                <a:solidFill>
                  <a:srgbClr val="6C6176"/>
                </a:solidFill>
                <a:latin typeface="Montserrat"/>
              </a:rPr>
              <a:t>Пять фиксированных групп по автомобилям. Базовый рецепт и D082 —</a:t>
            </a:r>
          </a:p>
          <a:p>
            <a:pPr>
              <a:spcBef>
                <a:spcPts val="0"/>
              </a:spcBef>
              <a:spcAft>
                <a:spcPts val="300"/>
              </a:spcAft>
            </a:pPr>
            <a:r>
              <a:rPr sz="1550" b="0">
                <a:solidFill>
                  <a:srgbClr val="6C6176"/>
                </a:solidFill>
                <a:latin typeface="Montserrat"/>
              </a:rPr>
              <a:t>на одинаковых группах 0/1/3/4, с моделями без их автомобилей.</a:t>
            </a:r>
          </a:p>
        </p:txBody>
      </p:sp>
      <p:sp>
        <p:nvSpPr>
          <p:cNvPr id="15" name="TextBox 14"/>
          <p:cNvSpPr txBox="1"/>
          <p:nvPr/>
        </p:nvSpPr>
        <p:spPr>
          <a:xfrm>
            <a:off x="502920" y="2944368"/>
            <a:ext cx="2880360" cy="429768"/>
          </a:xfrm>
          <a:prstGeom prst="rect">
            <a:avLst/>
          </a:prstGeom>
          <a:noFill/>
        </p:spPr>
        <p:txBody>
          <a:bodyPr wrap="square" lIns="0" rIns="0" tIns="0" bIns="0">
            <a:spAutoFit/>
          </a:bodyPr>
          <a:lstStyle/>
          <a:p>
            <a:pPr>
              <a:spcBef>
                <a:spcPts val="0"/>
              </a:spcBef>
              <a:spcAft>
                <a:spcPts val="300"/>
              </a:spcAft>
            </a:pPr>
            <a:r>
              <a:rPr sz="2000" b="1">
                <a:solidFill>
                  <a:srgbClr val="321044"/>
                </a:solidFill>
                <a:latin typeface="Montserrat"/>
              </a:rPr>
              <a:t>Финальные веса</a:t>
            </a:r>
          </a:p>
        </p:txBody>
      </p:sp>
      <p:sp>
        <p:nvSpPr>
          <p:cNvPr id="16" name="TextBox 15"/>
          <p:cNvSpPr txBox="1"/>
          <p:nvPr/>
        </p:nvSpPr>
        <p:spPr>
          <a:xfrm>
            <a:off x="3557016" y="2944368"/>
            <a:ext cx="8119872" cy="649224"/>
          </a:xfrm>
          <a:prstGeom prst="rect">
            <a:avLst/>
          </a:prstGeom>
          <a:noFill/>
        </p:spPr>
        <p:txBody>
          <a:bodyPr wrap="square" lIns="0" rIns="0" tIns="0" bIns="0">
            <a:spAutoFit/>
          </a:bodyPr>
          <a:lstStyle/>
          <a:p>
            <a:pPr>
              <a:spcBef>
                <a:spcPts val="0"/>
              </a:spcBef>
              <a:spcAft>
                <a:spcPts val="300"/>
              </a:spcAft>
            </a:pPr>
            <a:r>
              <a:rPr sz="1550" b="0">
                <a:solidFill>
                  <a:srgbClr val="6C6176"/>
                </a:solidFill>
                <a:latin typeface="Montserrat"/>
              </a:rPr>
              <a:t>Обучены отдельно на всех данных train. Качество этих же весов</a:t>
            </a:r>
          </a:p>
          <a:p>
            <a:pPr>
              <a:spcBef>
                <a:spcPts val="0"/>
              </a:spcBef>
              <a:spcAft>
                <a:spcPts val="300"/>
              </a:spcAft>
            </a:pPr>
            <a:r>
              <a:rPr sz="1550" b="0">
                <a:solidFill>
                  <a:srgbClr val="6C6176"/>
                </a:solidFill>
                <a:latin typeface="Montserrat"/>
              </a:rPr>
              <a:t>на train не выдаём за независимую оценку. Тест не используем для настройки.</a:t>
            </a:r>
          </a:p>
        </p:txBody>
      </p:sp>
      <p:sp>
        <p:nvSpPr>
          <p:cNvPr id="17" name="TextBox 16"/>
          <p:cNvSpPr txBox="1"/>
          <p:nvPr/>
        </p:nvSpPr>
        <p:spPr>
          <a:xfrm>
            <a:off x="502920" y="3922776"/>
            <a:ext cx="2880360" cy="429768"/>
          </a:xfrm>
          <a:prstGeom prst="rect">
            <a:avLst/>
          </a:prstGeom>
          <a:noFill/>
        </p:spPr>
        <p:txBody>
          <a:bodyPr wrap="square" lIns="0" rIns="0" tIns="0" bIns="0">
            <a:spAutoFit/>
          </a:bodyPr>
          <a:lstStyle/>
          <a:p>
            <a:pPr>
              <a:spcBef>
                <a:spcPts val="0"/>
              </a:spcBef>
              <a:spcAft>
                <a:spcPts val="300"/>
              </a:spcAft>
            </a:pPr>
            <a:r>
              <a:rPr sz="2000" b="1">
                <a:solidFill>
                  <a:srgbClr val="321044"/>
                </a:solidFill>
                <a:latin typeface="Montserrat"/>
              </a:rPr>
              <a:t>Скорость C5</a:t>
            </a:r>
          </a:p>
        </p:txBody>
      </p:sp>
      <p:sp>
        <p:nvSpPr>
          <p:cNvPr id="18" name="TextBox 17"/>
          <p:cNvSpPr txBox="1"/>
          <p:nvPr/>
        </p:nvSpPr>
        <p:spPr>
          <a:xfrm>
            <a:off x="3557016" y="3922776"/>
            <a:ext cx="8119872" cy="649224"/>
          </a:xfrm>
          <a:prstGeom prst="rect">
            <a:avLst/>
          </a:prstGeom>
          <a:noFill/>
        </p:spPr>
        <p:txBody>
          <a:bodyPr wrap="square" lIns="0" rIns="0" tIns="0" bIns="0">
            <a:spAutoFit/>
          </a:bodyPr>
          <a:lstStyle/>
          <a:p>
            <a:pPr>
              <a:spcBef>
                <a:spcPts val="0"/>
              </a:spcBef>
              <a:spcAft>
                <a:spcPts val="300"/>
              </a:spcAft>
            </a:pPr>
            <a:r>
              <a:rPr sz="1550" b="0">
                <a:solidFill>
                  <a:srgbClr val="6C6176"/>
                </a:solidFill>
                <a:latin typeface="Montserrat"/>
              </a:rPr>
              <a:t>50 прогревов и 300 замеров одиночного запроса; медиана.</a:t>
            </a:r>
          </a:p>
          <a:p>
            <a:pPr>
              <a:spcBef>
                <a:spcPts val="0"/>
              </a:spcBef>
              <a:spcAft>
                <a:spcPts val="300"/>
              </a:spcAft>
            </a:pPr>
            <a:r>
              <a:rPr sz="1550" b="0">
                <a:solidFill>
                  <a:srgbClr val="6C6176"/>
                </a:solidFill>
                <a:latin typeface="Montserrat"/>
              </a:rPr>
              <a:t>Пакеты 1/8/16/32 — по ≥10 секунд. Чтение и decode JPEG внутри таймера.</a:t>
            </a:r>
          </a:p>
        </p:txBody>
      </p:sp>
      <p:sp>
        <p:nvSpPr>
          <p:cNvPr id="19" name="TextBox 18"/>
          <p:cNvSpPr txBox="1"/>
          <p:nvPr/>
        </p:nvSpPr>
        <p:spPr>
          <a:xfrm>
            <a:off x="502920" y="4901183"/>
            <a:ext cx="2880360" cy="429768"/>
          </a:xfrm>
          <a:prstGeom prst="rect">
            <a:avLst/>
          </a:prstGeom>
          <a:noFill/>
        </p:spPr>
        <p:txBody>
          <a:bodyPr wrap="square" lIns="0" rIns="0" tIns="0" bIns="0">
            <a:spAutoFit/>
          </a:bodyPr>
          <a:lstStyle/>
          <a:p>
            <a:pPr>
              <a:spcBef>
                <a:spcPts val="0"/>
              </a:spcBef>
              <a:spcAft>
                <a:spcPts val="300"/>
              </a:spcAft>
            </a:pPr>
            <a:r>
              <a:rPr sz="2000" b="1">
                <a:solidFill>
                  <a:srgbClr val="321044"/>
                </a:solidFill>
                <a:latin typeface="Montserrat"/>
              </a:rPr>
              <a:t>Границы таймера</a:t>
            </a:r>
          </a:p>
        </p:txBody>
      </p:sp>
      <p:sp>
        <p:nvSpPr>
          <p:cNvPr id="20" name="TextBox 19"/>
          <p:cNvSpPr txBox="1"/>
          <p:nvPr/>
        </p:nvSpPr>
        <p:spPr>
          <a:xfrm>
            <a:off x="3557016" y="4901183"/>
            <a:ext cx="8119872" cy="649224"/>
          </a:xfrm>
          <a:prstGeom prst="rect">
            <a:avLst/>
          </a:prstGeom>
          <a:noFill/>
        </p:spPr>
        <p:txBody>
          <a:bodyPr wrap="square" lIns="0" rIns="0" tIns="0" bIns="0">
            <a:spAutoFit/>
          </a:bodyPr>
          <a:lstStyle/>
          <a:p>
            <a:pPr>
              <a:spcBef>
                <a:spcPts val="0"/>
              </a:spcBef>
              <a:spcAft>
                <a:spcPts val="300"/>
              </a:spcAft>
            </a:pPr>
            <a:r>
              <a:rPr sz="1550" b="0">
                <a:solidFill>
                  <a:srgbClr val="6C6176"/>
                </a:solidFill>
                <a:latin typeface="Montserrat"/>
              </a:rPr>
              <a:t>Получение вектора и полный поиск — разные зоны измерения.</a:t>
            </a:r>
          </a:p>
          <a:p>
            <a:pPr>
              <a:spcBef>
                <a:spcPts val="0"/>
              </a:spcBef>
              <a:spcAft>
                <a:spcPts val="300"/>
              </a:spcAft>
            </a:pPr>
            <a:r>
              <a:rPr sz="1550" b="0">
                <a:solidFill>
                  <a:srgbClr val="6C6176"/>
                </a:solidFill>
                <a:latin typeface="Montserrat"/>
              </a:rPr>
              <a:t>Поиск, проверка пар и граф не включены в показанные FPS.</a:t>
            </a:r>
          </a:p>
        </p:txBody>
      </p:sp>
      <p:sp>
        <p:nvSpPr>
          <p:cNvPr id="21" name="TextBox 20"/>
          <p:cNvSpPr txBox="1"/>
          <p:nvPr/>
        </p:nvSpPr>
        <p:spPr>
          <a:xfrm>
            <a:off x="502920" y="6153912"/>
            <a:ext cx="11064240" cy="182880"/>
          </a:xfrm>
          <a:prstGeom prst="rect">
            <a:avLst/>
          </a:prstGeom>
          <a:noFill/>
        </p:spPr>
        <p:txBody>
          <a:bodyPr wrap="square" lIns="0" rIns="0" tIns="0" bIns="0">
            <a:spAutoFit/>
          </a:bodyPr>
          <a:lstStyle/>
          <a:p>
            <a:pPr>
              <a:spcBef>
                <a:spcPts val="0"/>
              </a:spcBef>
              <a:spcAft>
                <a:spcPts val="300"/>
              </a:spcAft>
            </a:pPr>
            <a:r>
              <a:rPr sz="980" b="0">
                <a:solidFill>
                  <a:srgbClr val="6C6176"/>
                </a:solidFill>
                <a:latin typeface="Montserrat"/>
              </a:rPr>
              <a:t>Источник: docs/d082_acceptance.md · docs/benchmarks/ · команды и исходные результаты замеров в репозитории.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 Placeholder 1"/>
          <p:cNvSpPr>
            <a:spLocks noGrp="1"/>
          </p:cNvSpPr>
          <p:nvPr>
            <p:ph type="body" idx="1"/>
          </p:nvPr>
        </p:nvSpPr>
        <p:spPr/>
        <p:txBody>
          <a:bodyPr/>
          <a:lstStyle/>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3" sz="quarter"/>
          </p:nvPr>
        </p:nvSpPr>
        <p:spPr/>
        <p:txBody>
          <a:bodyPr/>
          <a:lstStyle/>
          <a:p/>
        </p:txBody>
      </p:sp>
      <p:sp>
        <p:nvSpPr>
          <p:cNvPr id="5" name="Content Placeholder 4"/>
          <p:cNvSpPr>
            <a:spLocks noGrp="1"/>
          </p:cNvSpPr>
          <p:nvPr>
            <p:ph idx="4" sz="quarter"/>
          </p:nvPr>
        </p:nvSpPr>
        <p:spPr/>
        <p:txBody>
          <a:bodyPr/>
          <a:lstStyle/>
          <a:p/>
        </p:txBody>
      </p:sp>
      <p:sp>
        <p:nvSpPr>
          <p:cNvPr id="6" name="Title 5"/>
          <p:cNvSpPr>
            <a:spLocks noGrp="1"/>
          </p:cNvSpPr>
          <p:nvPr>
            <p:ph type="title"/>
          </p:nvPr>
        </p:nvSpPr>
        <p:spPr/>
        <p:txBody>
          <a:bodyPr/>
          <a:lstStyle/>
          <a:p/>
        </p:txBody>
      </p:sp>
      <p:sp>
        <p:nvSpPr>
          <p:cNvPr id="7" name="TextBox 6"/>
          <p:cNvSpPr txBox="1"/>
          <p:nvPr/>
        </p:nvSpPr>
        <p:spPr>
          <a:xfrm>
            <a:off x="484632" y="292608"/>
            <a:ext cx="11064240" cy="256032"/>
          </a:xfrm>
          <a:prstGeom prst="rect">
            <a:avLst/>
          </a:prstGeom>
          <a:noFill/>
        </p:spPr>
        <p:txBody>
          <a:bodyPr wrap="square" lIns="0" rIns="0" tIns="0" bIns="0">
            <a:spAutoFit/>
          </a:bodyPr>
          <a:lstStyle/>
          <a:p>
            <a:pPr>
              <a:spcBef>
                <a:spcPts val="0"/>
              </a:spcBef>
              <a:spcAft>
                <a:spcPts val="300"/>
              </a:spcAft>
            </a:pPr>
            <a:r>
              <a:rPr sz="1000" b="1">
                <a:solidFill>
                  <a:srgbClr val="FF005B"/>
                </a:solidFill>
                <a:latin typeface="Montserrat"/>
              </a:rPr>
              <a:t>ПРИЛОЖЕНИЕ / ОБЛАСТЬ ПРОВЕРОК</a:t>
            </a:r>
          </a:p>
        </p:txBody>
      </p:sp>
      <p:sp>
        <p:nvSpPr>
          <p:cNvPr id="8" name="TextBox 7"/>
          <p:cNvSpPr txBox="1"/>
          <p:nvPr/>
        </p:nvSpPr>
        <p:spPr>
          <a:xfrm>
            <a:off x="484632" y="786384"/>
            <a:ext cx="11109960" cy="960120"/>
          </a:xfrm>
          <a:prstGeom prst="rect">
            <a:avLst/>
          </a:prstGeom>
          <a:noFill/>
        </p:spPr>
        <p:txBody>
          <a:bodyPr wrap="square" lIns="0" rIns="0" tIns="0" bIns="0">
            <a:spAutoFit/>
          </a:bodyPr>
          <a:lstStyle/>
          <a:p>
            <a:pPr>
              <a:spcBef>
                <a:spcPts val="0"/>
              </a:spcBef>
              <a:spcAft>
                <a:spcPts val="300"/>
              </a:spcAft>
            </a:pPr>
            <a:r>
              <a:rPr sz="2700" b="1">
                <a:solidFill>
                  <a:srgbClr val="321044"/>
                </a:solidFill>
                <a:latin typeface="Montserrat"/>
              </a:rPr>
              <a:t>Что подтверждено и что требует новой проверки</a:t>
            </a:r>
          </a:p>
        </p:txBody>
      </p:sp>
      <p:cxnSp>
        <p:nvCxnSpPr>
          <p:cNvPr id="9" name="Connector 8"/>
          <p:cNvCxnSpPr/>
          <p:nvPr/>
        </p:nvCxnSpPr>
        <p:spPr>
          <a:xfrm>
            <a:off x="484632" y="6419088"/>
            <a:ext cx="11228832" cy="0"/>
          </a:xfrm>
          <a:prstGeom prst="line">
            <a:avLst/>
          </a:prstGeom>
          <a:ln w="8890">
            <a:solidFill>
              <a:srgbClr val="DED5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4632" y="6556248"/>
            <a:ext cx="5212080" cy="164592"/>
          </a:xfrm>
          <a:prstGeom prst="rect">
            <a:avLst/>
          </a:prstGeom>
          <a:noFill/>
        </p:spPr>
        <p:txBody>
          <a:bodyPr wrap="square" lIns="0" rIns="0" tIns="0" bIns="0">
            <a:spAutoFit/>
          </a:bodyPr>
          <a:lstStyle/>
          <a:p>
            <a:pPr>
              <a:spcBef>
                <a:spcPts val="0"/>
              </a:spcBef>
              <a:spcAft>
                <a:spcPts val="300"/>
              </a:spcAft>
            </a:pPr>
            <a:r>
              <a:rPr sz="830" b="0">
                <a:solidFill>
                  <a:srgbClr val="6C6176"/>
                </a:solidFill>
                <a:latin typeface="Montserrat"/>
              </a:rPr>
              <a:t>FALCON ReID · DeepTech AI</a:t>
            </a:r>
          </a:p>
        </p:txBody>
      </p:sp>
      <p:sp>
        <p:nvSpPr>
          <p:cNvPr id="11" name="TextBox 10"/>
          <p:cNvSpPr txBox="1"/>
          <p:nvPr/>
        </p:nvSpPr>
        <p:spPr>
          <a:xfrm>
            <a:off x="6537960" y="6556248"/>
            <a:ext cx="4297680" cy="164592"/>
          </a:xfrm>
          <a:prstGeom prst="rect">
            <a:avLst/>
          </a:prstGeom>
          <a:noFill/>
        </p:spPr>
        <p:txBody>
          <a:bodyPr wrap="square" lIns="0" rIns="0" tIns="0" bIns="0">
            <a:spAutoFit/>
          </a:bodyPr>
          <a:lstStyle/>
          <a:p>
            <a:pPr algn="r">
              <a:spcBef>
                <a:spcPts val="0"/>
              </a:spcBef>
              <a:spcAft>
                <a:spcPts val="300"/>
              </a:spcAft>
            </a:pPr>
            <a:r>
              <a:rPr sz="819" b="0">
                <a:solidFill>
                  <a:srgbClr val="6C6176"/>
                </a:solidFill>
                <a:latin typeface="Montserrat"/>
              </a:rPr>
              <a:t>ДЛЯ ВОПРОСОВ</a:t>
            </a:r>
          </a:p>
        </p:txBody>
      </p:sp>
      <p:sp>
        <p:nvSpPr>
          <p:cNvPr id="12" name="PAGE_V5"/>
          <p:cNvSpPr txBox="1"/>
          <p:nvPr/>
        </p:nvSpPr>
        <p:spPr>
          <a:xfrm>
            <a:off x="10972800" y="6501384"/>
            <a:ext cx="731520" cy="237744"/>
          </a:xfrm>
          <a:prstGeom prst="rect">
            <a:avLst/>
          </a:prstGeom>
          <a:noFill/>
        </p:spPr>
        <p:txBody>
          <a:bodyPr wrap="square" lIns="0" rIns="0" tIns="0" bIns="0">
            <a:spAutoFit/>
          </a:bodyPr>
          <a:lstStyle/>
          <a:p>
            <a:pPr algn="r">
              <a:spcBef>
                <a:spcPts val="0"/>
              </a:spcBef>
              <a:spcAft>
                <a:spcPts val="300"/>
              </a:spcAft>
            </a:pPr>
            <a:pPr algn="r">
              <a:spcBef>
                <a:spcPts val="0"/>
              </a:spcBef>
              <a:spcAft>
                <a:spcPts val="300"/>
              </a:spcAft>
            </a:pPr>
            <a:r>
              <a:rPr sz="1000" b="0">
                <a:solidFill>
                  <a:srgbClr val="6C6176"/>
                </a:solidFill>
                <a:latin typeface="Montserrat"/>
              </a:rPr>
              <a:t>A2</a:t>
            </a:r>
          </a:p>
        </p:txBody>
      </p:sp>
      <p:sp>
        <p:nvSpPr>
          <p:cNvPr id="13" name="Rounded Rectangle 12"/>
          <p:cNvSpPr/>
          <p:nvPr/>
        </p:nvSpPr>
        <p:spPr>
          <a:xfrm>
            <a:off x="502920" y="1947672"/>
            <a:ext cx="5440680" cy="1819656"/>
          </a:xfrm>
          <a:prstGeom prst="roundRect">
            <a:avLst>
              <a:gd name="adj" fmla="val 10000"/>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139696"/>
            <a:ext cx="5010912" cy="411480"/>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Скорость A5000</a:t>
            </a:r>
          </a:p>
        </p:txBody>
      </p:sp>
      <p:sp>
        <p:nvSpPr>
          <p:cNvPr id="15" name="TextBox 14"/>
          <p:cNvSpPr txBox="1"/>
          <p:nvPr/>
        </p:nvSpPr>
        <p:spPr>
          <a:xfrm>
            <a:off x="713232" y="2743200"/>
            <a:ext cx="5010912" cy="859536"/>
          </a:xfrm>
          <a:prstGeom prst="rect">
            <a:avLst/>
          </a:prstGeom>
          <a:noFill/>
        </p:spPr>
        <p:txBody>
          <a:bodyPr wrap="square" lIns="0" rIns="0" tIns="0" bIns="0">
            <a:spAutoFit/>
          </a:bodyPr>
          <a:lstStyle/>
          <a:p>
            <a:pPr>
              <a:spcBef>
                <a:spcPts val="0"/>
              </a:spcBef>
              <a:spcAft>
                <a:spcPts val="300"/>
              </a:spcAft>
            </a:pPr>
            <a:r>
              <a:rPr sz="1350" b="0">
                <a:solidFill>
                  <a:srgbClr val="6C6176"/>
                </a:solidFill>
                <a:latin typeface="Montserrat"/>
              </a:rPr>
              <a:t>C5: 38,740–39,950 мс.</a:t>
            </a:r>
          </a:p>
          <a:p>
            <a:pPr>
              <a:spcBef>
                <a:spcPts val="0"/>
              </a:spcBef>
              <a:spcAft>
                <a:spcPts val="300"/>
              </a:spcAft>
            </a:pPr>
            <a:r>
              <a:rPr sz="1350" b="0">
                <a:solidFill>
                  <a:srgbClr val="6C6176"/>
                </a:solidFill>
                <a:latin typeface="Montserrat"/>
              </a:rPr>
              <a:t>Другой сценарий: 41,006–41,321 мс.</a:t>
            </a:r>
          </a:p>
          <a:p>
            <a:pPr>
              <a:spcBef>
                <a:spcPts val="0"/>
              </a:spcBef>
              <a:spcAft>
                <a:spcPts val="300"/>
              </a:spcAft>
            </a:pPr>
            <a:r>
              <a:rPr sz="1350" b="0">
                <a:solidFill>
                  <a:srgbClr val="6C6176"/>
                </a:solidFill>
                <a:latin typeface="Montserrat"/>
              </a:rPr>
              <a:t>Причина расхождения не установлена.</a:t>
            </a:r>
          </a:p>
        </p:txBody>
      </p:sp>
      <p:sp>
        <p:nvSpPr>
          <p:cNvPr id="16" name="Rounded Rectangle 15"/>
          <p:cNvSpPr/>
          <p:nvPr/>
        </p:nvSpPr>
        <p:spPr>
          <a:xfrm>
            <a:off x="6245352" y="1947672"/>
            <a:ext cx="5440680" cy="1819656"/>
          </a:xfrm>
          <a:prstGeom prst="roundRect">
            <a:avLst>
              <a:gd name="adj" fmla="val 10000"/>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5664" y="2139696"/>
            <a:ext cx="5010912" cy="411480"/>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Перенос в текущий код</a:t>
            </a:r>
          </a:p>
        </p:txBody>
      </p:sp>
      <p:sp>
        <p:nvSpPr>
          <p:cNvPr id="18" name="TextBox 17"/>
          <p:cNvSpPr txBox="1"/>
          <p:nvPr/>
        </p:nvSpPr>
        <p:spPr>
          <a:xfrm>
            <a:off x="6455664" y="2743200"/>
            <a:ext cx="5010912" cy="859536"/>
          </a:xfrm>
          <a:prstGeom prst="rect">
            <a:avLst/>
          </a:prstGeom>
          <a:noFill/>
        </p:spPr>
        <p:txBody>
          <a:bodyPr wrap="square" lIns="0" rIns="0" tIns="0" bIns="0">
            <a:spAutoFit/>
          </a:bodyPr>
          <a:lstStyle/>
          <a:p>
            <a:pPr>
              <a:spcBef>
                <a:spcPts val="0"/>
              </a:spcBef>
              <a:spcAft>
                <a:spcPts val="300"/>
              </a:spcAft>
            </a:pPr>
            <a:r>
              <a:rPr sz="1350" b="0">
                <a:solidFill>
                  <a:srgbClr val="6C6176"/>
                </a:solidFill>
                <a:latin typeface="Montserrat"/>
              </a:rPr>
              <a:t>H100: 32 запроса / 625 снимков базы,</a:t>
            </a:r>
          </a:p>
          <a:p>
            <a:pPr>
              <a:spcBef>
                <a:spcPts val="0"/>
              </a:spcBef>
              <a:spcAft>
                <a:spcPts val="300"/>
              </a:spcAft>
            </a:pPr>
            <a:r>
              <a:rPr sz="1350" b="0">
                <a:solidFill>
                  <a:srgbClr val="6C6176"/>
                </a:solidFill>
                <a:latin typeface="Montserrat"/>
              </a:rPr>
              <a:t>точное совпадение трёх файлов.</a:t>
            </a:r>
          </a:p>
          <a:p>
            <a:pPr>
              <a:spcBef>
                <a:spcPts val="0"/>
              </a:spcBef>
              <a:spcAft>
                <a:spcPts val="300"/>
              </a:spcAft>
            </a:pPr>
            <a:r>
              <a:rPr sz="1350" b="0">
                <a:solidFill>
                  <a:srgbClr val="6C6176"/>
                </a:solidFill>
                <a:latin typeface="Montserrat"/>
              </a:rPr>
              <a:t>Новый код не перемерен на A5000.</a:t>
            </a:r>
          </a:p>
        </p:txBody>
      </p:sp>
      <p:sp>
        <p:nvSpPr>
          <p:cNvPr id="19" name="Rounded Rectangle 18"/>
          <p:cNvSpPr/>
          <p:nvPr/>
        </p:nvSpPr>
        <p:spPr>
          <a:xfrm>
            <a:off x="502920" y="4050791"/>
            <a:ext cx="5440680" cy="1819656"/>
          </a:xfrm>
          <a:prstGeom prst="roundRect">
            <a:avLst>
              <a:gd name="adj" fmla="val 10000"/>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242816"/>
            <a:ext cx="5010912" cy="411480"/>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Контроль номерных зон</a:t>
            </a:r>
          </a:p>
        </p:txBody>
      </p:sp>
      <p:sp>
        <p:nvSpPr>
          <p:cNvPr id="21" name="TextBox 20"/>
          <p:cNvSpPr txBox="1"/>
          <p:nvPr/>
        </p:nvSpPr>
        <p:spPr>
          <a:xfrm>
            <a:off x="713232" y="4846320"/>
            <a:ext cx="5010912" cy="859536"/>
          </a:xfrm>
          <a:prstGeom prst="rect">
            <a:avLst/>
          </a:prstGeom>
          <a:noFill/>
        </p:spPr>
        <p:txBody>
          <a:bodyPr wrap="square" lIns="0" rIns="0" tIns="0" bIns="0">
            <a:spAutoFit/>
          </a:bodyPr>
          <a:lstStyle/>
          <a:p>
            <a:pPr>
              <a:spcBef>
                <a:spcPts val="0"/>
              </a:spcBef>
              <a:spcAft>
                <a:spcPts val="300"/>
              </a:spcAft>
            </a:pPr>
            <a:r>
              <a:rPr sz="1350" b="0">
                <a:solidFill>
                  <a:srgbClr val="6C6176"/>
                </a:solidFill>
                <a:latin typeface="Montserrat"/>
              </a:rPr>
              <a:t>40 аннотаций, 18 сравнений с маской.</a:t>
            </a:r>
          </a:p>
          <a:p>
            <a:pPr>
              <a:spcBef>
                <a:spcPts val="0"/>
              </a:spcBef>
              <a:spcAft>
                <a:spcPts val="300"/>
              </a:spcAft>
            </a:pPr>
            <a:r>
              <a:rPr sz="1350" b="0">
                <a:solidFill>
                  <a:srgbClr val="6C6176"/>
                </a:solidFill>
                <a:latin typeface="Montserrat"/>
              </a:rPr>
              <a:t>Выбор кандидата и отказы не изменились,</a:t>
            </a:r>
          </a:p>
          <a:p>
            <a:pPr>
              <a:spcBef>
                <a:spcPts val="0"/>
              </a:spcBef>
              <a:spcAft>
                <a:spcPts val="300"/>
              </a:spcAft>
            </a:pPr>
            <a:r>
              <a:rPr sz="1350" b="0">
                <a:solidFill>
                  <a:srgbClr val="6C6176"/>
                </a:solidFill>
                <a:latin typeface="Montserrat"/>
              </a:rPr>
              <a:t>но порядок и уверенность менялись.</a:t>
            </a:r>
          </a:p>
        </p:txBody>
      </p:sp>
      <p:sp>
        <p:nvSpPr>
          <p:cNvPr id="22" name="Rounded Rectangle 21"/>
          <p:cNvSpPr/>
          <p:nvPr/>
        </p:nvSpPr>
        <p:spPr>
          <a:xfrm>
            <a:off x="6245352" y="4050791"/>
            <a:ext cx="5440680" cy="1819656"/>
          </a:xfrm>
          <a:prstGeom prst="roundRect">
            <a:avLst>
              <a:gd name="adj" fmla="val 10000"/>
            </a:avLst>
          </a:prstGeom>
          <a:solidFill>
            <a:srgbClr val="F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55664" y="4242816"/>
            <a:ext cx="5010912" cy="411480"/>
          </a:xfrm>
          <a:prstGeom prst="rect">
            <a:avLst/>
          </a:prstGeom>
          <a:noFill/>
        </p:spPr>
        <p:txBody>
          <a:bodyPr wrap="square" lIns="0" rIns="0" tIns="0" bIns="0">
            <a:spAutoFit/>
          </a:bodyPr>
          <a:lstStyle/>
          <a:p>
            <a:pPr>
              <a:spcBef>
                <a:spcPts val="0"/>
              </a:spcBef>
              <a:spcAft>
                <a:spcPts val="300"/>
              </a:spcAft>
            </a:pPr>
            <a:r>
              <a:rPr sz="1800" b="1">
                <a:solidFill>
                  <a:srgbClr val="321044"/>
                </a:solidFill>
                <a:latin typeface="Montserrat"/>
              </a:rPr>
              <a:t>Упаковка и тесты</a:t>
            </a:r>
          </a:p>
        </p:txBody>
      </p:sp>
      <p:sp>
        <p:nvSpPr>
          <p:cNvPr id="24" name="TextBox 23"/>
          <p:cNvSpPr txBox="1"/>
          <p:nvPr/>
        </p:nvSpPr>
        <p:spPr>
          <a:xfrm>
            <a:off x="6455664" y="4846320"/>
            <a:ext cx="5010912" cy="859536"/>
          </a:xfrm>
          <a:prstGeom prst="rect">
            <a:avLst/>
          </a:prstGeom>
          <a:noFill/>
        </p:spPr>
        <p:txBody>
          <a:bodyPr wrap="square" lIns="0" rIns="0" tIns="0" bIns="0">
            <a:spAutoFit/>
          </a:bodyPr>
          <a:lstStyle/>
          <a:p>
            <a:pPr>
              <a:spcBef>
                <a:spcPts val="0"/>
              </a:spcBef>
              <a:spcAft>
                <a:spcPts val="300"/>
              </a:spcAft>
            </a:pPr>
            <a:r>
              <a:rPr sz="1350" b="0">
                <a:solidFill>
                  <a:srgbClr val="6C6176"/>
                </a:solidFill>
                <a:latin typeface="Montserrat"/>
              </a:rPr>
              <a:t>715 тестов локально; 76 целевых на H100.</a:t>
            </a:r>
          </a:p>
          <a:p>
            <a:pPr>
              <a:spcBef>
                <a:spcPts val="0"/>
              </a:spcBef>
              <a:spcAft>
                <a:spcPts val="300"/>
              </a:spcAft>
            </a:pPr>
            <a:r>
              <a:rPr sz="1350" b="0">
                <a:solidFill>
                  <a:srgbClr val="6C6176"/>
                </a:solidFill>
                <a:latin typeface="Montserrat"/>
              </a:rPr>
              <a:t>Новый Docker не пересобирался.</a:t>
            </a:r>
          </a:p>
          <a:p>
            <a:pPr>
              <a:spcBef>
                <a:spcPts val="0"/>
              </a:spcBef>
              <a:spcAft>
                <a:spcPts val="300"/>
              </a:spcAft>
            </a:pPr>
            <a:r>
              <a:rPr sz="1350" b="0">
                <a:solidFill>
                  <a:srgbClr val="6C6176"/>
                </a:solidFill>
                <a:latin typeface="Montserrat"/>
              </a:rPr>
              <a:t>Серверная FS ограничила полный pytest.</a:t>
            </a:r>
          </a:p>
        </p:txBody>
      </p:sp>
      <p:sp>
        <p:nvSpPr>
          <p:cNvPr id="25" name="TextBox 24"/>
          <p:cNvSpPr txBox="1"/>
          <p:nvPr/>
        </p:nvSpPr>
        <p:spPr>
          <a:xfrm>
            <a:off x="502920" y="6153912"/>
            <a:ext cx="11064240" cy="182880"/>
          </a:xfrm>
          <a:prstGeom prst="rect">
            <a:avLst/>
          </a:prstGeom>
          <a:noFill/>
        </p:spPr>
        <p:txBody>
          <a:bodyPr wrap="square" lIns="0" rIns="0" tIns="0" bIns="0">
            <a:spAutoFit/>
          </a:bodyPr>
          <a:lstStyle/>
          <a:p>
            <a:pPr>
              <a:spcBef>
                <a:spcPts val="0"/>
              </a:spcBef>
              <a:spcAft>
                <a:spcPts val="300"/>
              </a:spcAft>
            </a:pPr>
            <a:r>
              <a:rPr sz="1000" b="0">
                <a:solidFill>
                  <a:srgbClr val="6C6176"/>
                </a:solidFill>
                <a:latin typeface="Montserrat"/>
              </a:rPr>
              <a:t>Подробности, SHA исходников и артефактов, результаты замеров и ограничения: docs/d082_acceptance.md.</a:t>
            </a:r>
          </a:p>
        </p:txBody>
      </p:sp>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Arial"/>
        <a:cs typeface="Arial"/>
      </a:majorFont>
      <a:minorFont>
        <a:latin typeface="Montserrat"/>
        <a:ea typeface="Arial"/>
        <a:cs typeface="Arial"/>
      </a:minorFont>
    </a:fontScheme>
    <a:fmtScheme name="Стандартная">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prstGeom prst="rect">
          <a:avLst/>
        </a:prstGeom>
        <a:solidFill>
          <a:schemeClr val="bg1">
            <a:alpha val="0"/>
          </a:schemeClr>
        </a:solidFill>
        <a:ln w="19050">
          <a:solidFill>
            <a:schemeClr val="bg1">
              <a:alpha val="47000"/>
            </a:schemeClr>
          </a:solidFill>
        </a:ln>
      </a:spPr>
      <a:bodyPr/>
      <a:lstStyle/>
      <a:style>
        <a:lnRef idx="2">
          <a:schemeClr val="accent1">
            <a:shade val="15000"/>
          </a:schemeClr>
        </a:lnRef>
        <a:fillRef idx="1">
          <a:schemeClr val="accent1"/>
        </a:fillRef>
        <a:effectRef idx="0">
          <a:schemeClr val="accent1"/>
        </a:effectRef>
        <a:fontRef idx="minor">
          <a:schemeClr val="lt1"/>
        </a:fontRef>
      </a:style>
    </a:spDef>
  </a:objectDefaults>
</a:theme>
</file>

<file path=ppt/theme/theme2.xml><?xml version="1.0" encoding="utf-8"?>
<a:theme xmlns:a="http://schemas.openxmlformats.org/drawingml/2006/main" xmlns:r="http://schemas.openxmlformats.org/officeDocument/2006/relationships" xmlns:p="http://schemas.openxmlformats.org/presentation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a:ea typeface="Arial"/>
        <a:cs typeface="Arial"/>
      </a:majorFont>
      <a:minorFont>
        <a:latin typeface="Calibri"/>
        <a:ea typeface="Arial"/>
        <a:cs typeface="Arial"/>
      </a:minorFont>
    </a:fontScheme>
    <a:fmtScheme name="Стандартная">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onlyoffice/9.2.1.1</Application>
  <PresentationFormat>On-screen Show (4:3)</PresentationFormat>
  <Paragraphs>0</Paragraphs>
  <Slides>37</Slides>
  <Notes>37</Notes>
  <HiddenSlides>0</HiddenSlides>
  <MMClips>2</MMClips>
  <ScaleCrop>0</ScaleCrop>
  <HeadingPairs>
    <vt:vector size="4" baseType="variant">
      <vt:variant>
        <vt:lpstr>Theme</vt:lpstr>
      </vt:variant>
      <vt:variant>
        <vt:i4>1</vt:i4>
      </vt:variant>
      <vt:variant>
        <vt:lpstr>Slide Titles</vt:lpstr>
      </vt:variant>
      <vt:variant>
        <vt:i4>37</vt:i4>
      </vt:variant>
    </vt:vector>
  </HeadingPairs>
  <TitlesOfParts>
    <vt:vector size="3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Falcon ReID — защита v14</dc:title>
  <dc:creator>DeepTech AI</dc:creator>
  <cp:lastModifiedBy>Аноним</cp:lastModifiedBy>
  <cp:revision>96</cp:revision>
  <dcterms:created xsi:type="dcterms:W3CDTF">2023-05-15T07:36:23Z</dcterms:created>
  <dcterms:modified xsi:type="dcterms:W3CDTF">2026-09-16T13:19:25Z</dcterms:modified>
  <dc:subject>Обязательный блок без изменений; диаграммы, технический рецепт и измерения</dc:subject>
  <cp:keywords>Falcon ReID,D082,LCT2026,defense,v14</cp:keywords>
</cp:coreProperties>
</file>